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7" r:id="rId2"/>
    <p:sldId id="291" r:id="rId3"/>
    <p:sldId id="292" r:id="rId4"/>
    <p:sldId id="290" r:id="rId5"/>
    <p:sldId id="263" r:id="rId6"/>
    <p:sldId id="264" r:id="rId7"/>
    <p:sldId id="265" r:id="rId8"/>
    <p:sldId id="267" r:id="rId9"/>
    <p:sldId id="268" r:id="rId10"/>
    <p:sldId id="266" r:id="rId11"/>
    <p:sldId id="282" r:id="rId12"/>
    <p:sldId id="281" r:id="rId13"/>
    <p:sldId id="269" r:id="rId14"/>
    <p:sldId id="270" r:id="rId15"/>
    <p:sldId id="271" r:id="rId16"/>
    <p:sldId id="294" r:id="rId17"/>
    <p:sldId id="284" r:id="rId18"/>
    <p:sldId id="275" r:id="rId19"/>
    <p:sldId id="293" r:id="rId20"/>
    <p:sldId id="276" r:id="rId21"/>
    <p:sldId id="278" r:id="rId22"/>
    <p:sldId id="279" r:id="rId23"/>
    <p:sldId id="280" r:id="rId24"/>
    <p:sldId id="283" r:id="rId25"/>
    <p:sldId id="285" r:id="rId26"/>
    <p:sldId id="295" r:id="rId27"/>
    <p:sldId id="277" r:id="rId28"/>
    <p:sldId id="272" r:id="rId29"/>
    <p:sldId id="273" r:id="rId30"/>
    <p:sldId id="288" r:id="rId31"/>
    <p:sldId id="286" r:id="rId32"/>
    <p:sldId id="287" r:id="rId33"/>
    <p:sldId id="289"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61" autoAdjust="0"/>
    <p:restoredTop sz="69588" autoAdjust="0"/>
  </p:normalViewPr>
  <p:slideViewPr>
    <p:cSldViewPr snapToGrid="0" snapToObjects="1">
      <p:cViewPr varScale="1">
        <p:scale>
          <a:sx n="58" d="100"/>
          <a:sy n="58" d="100"/>
        </p:scale>
        <p:origin x="196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73FE1-7EF2-47F2-AF03-51B457185031}" type="datetimeFigureOut">
              <a:rPr lang="en-GB" smtClean="0"/>
              <a:t>18/05/2023</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38117-35D1-4B80-9521-AEF7CBF29EB0}" type="slidenum">
              <a:rPr lang="en-GB" smtClean="0"/>
              <a:t>‹#›</a:t>
            </a:fld>
            <a:endParaRPr lang="en-GB"/>
          </a:p>
        </p:txBody>
      </p:sp>
    </p:spTree>
    <p:extLst>
      <p:ext uri="{BB962C8B-B14F-4D97-AF65-F5344CB8AC3E}">
        <p14:creationId xmlns:p14="http://schemas.microsoft.com/office/powerpoint/2010/main" val="702252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am going to introduce a very interesting topic in the field of software testing. Testing over the years has been considered to be a manual and tiresome job but like any activity done manually software testing performed manually can also be time consuming and error prone. Therefore, automatic test case generation has been the holy grail of software testing. One interesting progress in this direction has been to generate tests automatically by making use of tools implementing algorithms. For a layman, a model checker simply put is an algorithm that takes as input a model most often a formal model and a specification formula describing some requirement of the system. The model checking algorithm then analyzes whether this formula holds on the model or not? There are two broad categories of model checkers one just provides the answer in the form of yes or no whether the formula holds o not. Another interesting category of model checkers which is going to be the subject of this course involves model checkers which give counterexample examples when a specification formula does not hold on a model. The counterexample is sometimes also called a trace or a witness or a simulation sequence. Since the model checker constructs a proof of correctness therefore, the formal verification community is often not interested in these counterexamples they are rather happy when there are no counterexamples as that establishes the proof for a specification formula. Testing community on the other hand feels that these counterexamples can be used as interesting testing as they are hinting at something bad in the system so this has been a relatively recent use of model checkers to extract test cases by using them.</a:t>
            </a:r>
            <a:endParaRPr lang="en-GB" dirty="0"/>
          </a:p>
        </p:txBody>
      </p:sp>
      <p:sp>
        <p:nvSpPr>
          <p:cNvPr id="4" name="Slide Number Placeholder 3"/>
          <p:cNvSpPr>
            <a:spLocks noGrp="1"/>
          </p:cNvSpPr>
          <p:nvPr>
            <p:ph type="sldNum" sz="quarter" idx="5"/>
          </p:nvPr>
        </p:nvSpPr>
        <p:spPr/>
        <p:txBody>
          <a:bodyPr/>
          <a:lstStyle/>
          <a:p>
            <a:fld id="{8F538117-35D1-4B80-9521-AEF7CBF29EB0}" type="slidenum">
              <a:rPr lang="en-GB" smtClean="0"/>
              <a:t>1</a:t>
            </a:fld>
            <a:endParaRPr lang="en-GB"/>
          </a:p>
        </p:txBody>
      </p:sp>
    </p:spTree>
    <p:extLst>
      <p:ext uri="{BB962C8B-B14F-4D97-AF65-F5344CB8AC3E}">
        <p14:creationId xmlns:p14="http://schemas.microsoft.com/office/powerpoint/2010/main" val="764246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F538117-35D1-4B80-9521-AEF7CBF29EB0}" type="slidenum">
              <a:rPr lang="en-GB" smtClean="0"/>
              <a:t>2</a:t>
            </a:fld>
            <a:endParaRPr lang="en-GB"/>
          </a:p>
        </p:txBody>
      </p:sp>
    </p:spTree>
    <p:extLst>
      <p:ext uri="{BB962C8B-B14F-4D97-AF65-F5344CB8AC3E}">
        <p14:creationId xmlns:p14="http://schemas.microsoft.com/office/powerpoint/2010/main" val="1279252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sv-S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Click to edit Master subtitle style</a:t>
            </a:r>
            <a:endParaRPr lang="en-US"/>
          </a:p>
        </p:txBody>
      </p:sp>
      <p:sp>
        <p:nvSpPr>
          <p:cNvPr id="4" name="Date Placeholder 3"/>
          <p:cNvSpPr>
            <a:spLocks noGrp="1"/>
          </p:cNvSpPr>
          <p:nvPr>
            <p:ph type="dt" sz="half" idx="10"/>
          </p:nvPr>
        </p:nvSpPr>
        <p:spPr/>
        <p:txBody>
          <a:bodyPr/>
          <a:lstStyle/>
          <a:p>
            <a:fld id="{24B0A5DE-AF8B-A344-8B4B-562CC5D99C2F}"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3156348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Click to edit Master title style</a:t>
            </a:r>
            <a:endParaRPr lang="en-US"/>
          </a:p>
        </p:txBody>
      </p:sp>
      <p:sp>
        <p:nvSpPr>
          <p:cNvPr id="3" name="Content Placeholder 2"/>
          <p:cNvSpPr>
            <a:spLocks noGrp="1"/>
          </p:cNvSpPr>
          <p:nvPr>
            <p:ph idx="1"/>
          </p:nvPr>
        </p:nvSpPr>
        <p:spPr/>
        <p:txBody>
          <a:body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4" name="Date Placeholder 3"/>
          <p:cNvSpPr>
            <a:spLocks noGrp="1"/>
          </p:cNvSpPr>
          <p:nvPr>
            <p:ph type="dt" sz="half" idx="10"/>
          </p:nvPr>
        </p:nvSpPr>
        <p:spPr/>
        <p:txBody>
          <a:bodyPr/>
          <a:lstStyle/>
          <a:p>
            <a:fld id="{24B0A5DE-AF8B-A344-8B4B-562CC5D99C2F}"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1306151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sv-S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Click to edit Master text styles</a:t>
            </a:r>
          </a:p>
        </p:txBody>
      </p:sp>
      <p:sp>
        <p:nvSpPr>
          <p:cNvPr id="4" name="Date Placeholder 3"/>
          <p:cNvSpPr>
            <a:spLocks noGrp="1"/>
          </p:cNvSpPr>
          <p:nvPr>
            <p:ph type="dt" sz="half" idx="10"/>
          </p:nvPr>
        </p:nvSpPr>
        <p:spPr/>
        <p:txBody>
          <a:bodyPr/>
          <a:lstStyle/>
          <a:p>
            <a:fld id="{24B0A5DE-AF8B-A344-8B4B-562CC5D99C2F}"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3841210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5" name="Date Placeholder 4"/>
          <p:cNvSpPr>
            <a:spLocks noGrp="1"/>
          </p:cNvSpPr>
          <p:nvPr>
            <p:ph type="dt" sz="half" idx="10"/>
          </p:nvPr>
        </p:nvSpPr>
        <p:spPr/>
        <p:txBody>
          <a:bodyPr/>
          <a:lstStyle/>
          <a:p>
            <a:fld id="{24B0A5DE-AF8B-A344-8B4B-562CC5D99C2F}" type="datetimeFigureOut">
              <a:rPr lang="en-US" smtClean="0"/>
              <a:t>5/18/2023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534328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sv-S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7" name="Date Placeholder 6"/>
          <p:cNvSpPr>
            <a:spLocks noGrp="1"/>
          </p:cNvSpPr>
          <p:nvPr>
            <p:ph type="dt" sz="half" idx="10"/>
          </p:nvPr>
        </p:nvSpPr>
        <p:spPr/>
        <p:txBody>
          <a:bodyPr/>
          <a:lstStyle/>
          <a:p>
            <a:fld id="{24B0A5DE-AF8B-A344-8B4B-562CC5D99C2F}" type="datetimeFigureOut">
              <a:rPr lang="en-US" smtClean="0"/>
              <a:t>5/18/2023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3490409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Click to edit Master title style</a:t>
            </a:r>
            <a:endParaRPr lang="en-US"/>
          </a:p>
        </p:txBody>
      </p:sp>
      <p:sp>
        <p:nvSpPr>
          <p:cNvPr id="3" name="Date Placeholder 2"/>
          <p:cNvSpPr>
            <a:spLocks noGrp="1"/>
          </p:cNvSpPr>
          <p:nvPr>
            <p:ph type="dt" sz="half" idx="10"/>
          </p:nvPr>
        </p:nvSpPr>
        <p:spPr/>
        <p:txBody>
          <a:bodyPr/>
          <a:lstStyle/>
          <a:p>
            <a:fld id="{24B0A5DE-AF8B-A344-8B4B-562CC5D99C2F}" type="datetimeFigureOut">
              <a:rPr lang="en-US" smtClean="0"/>
              <a:t>5/18/2023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1628885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B0A5DE-AF8B-A344-8B4B-562CC5D99C2F}" type="datetimeFigureOut">
              <a:rPr lang="en-US" smtClean="0"/>
              <a:t>5/18/2023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418192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sv-S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Click to edit Master text styles</a:t>
            </a:r>
          </a:p>
        </p:txBody>
      </p:sp>
      <p:sp>
        <p:nvSpPr>
          <p:cNvPr id="5" name="Date Placeholder 4"/>
          <p:cNvSpPr>
            <a:spLocks noGrp="1"/>
          </p:cNvSpPr>
          <p:nvPr>
            <p:ph type="dt" sz="half" idx="10"/>
          </p:nvPr>
        </p:nvSpPr>
        <p:spPr/>
        <p:txBody>
          <a:bodyPr/>
          <a:lstStyle/>
          <a:p>
            <a:fld id="{24B0A5DE-AF8B-A344-8B4B-562CC5D99C2F}" type="datetimeFigureOut">
              <a:rPr lang="en-US" smtClean="0"/>
              <a:t>5/18/2023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1797084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sv-S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Click to edit Master text styles</a:t>
            </a:r>
          </a:p>
        </p:txBody>
      </p:sp>
      <p:sp>
        <p:nvSpPr>
          <p:cNvPr id="5" name="Date Placeholder 4"/>
          <p:cNvSpPr>
            <a:spLocks noGrp="1"/>
          </p:cNvSpPr>
          <p:nvPr>
            <p:ph type="dt" sz="half" idx="10"/>
          </p:nvPr>
        </p:nvSpPr>
        <p:spPr/>
        <p:txBody>
          <a:bodyPr/>
          <a:lstStyle/>
          <a:p>
            <a:fld id="{24B0A5DE-AF8B-A344-8B4B-562CC5D99C2F}" type="datetimeFigureOut">
              <a:rPr lang="en-US" smtClean="0"/>
              <a:t>5/18/2023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3419482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4" name="Date Placeholder 3"/>
          <p:cNvSpPr>
            <a:spLocks noGrp="1"/>
          </p:cNvSpPr>
          <p:nvPr>
            <p:ph type="dt" sz="half" idx="10"/>
          </p:nvPr>
        </p:nvSpPr>
        <p:spPr/>
        <p:txBody>
          <a:bodyPr/>
          <a:lstStyle/>
          <a:p>
            <a:fld id="{24B0A5DE-AF8B-A344-8B4B-562CC5D99C2F}"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3396994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sv-S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4" name="Date Placeholder 3"/>
          <p:cNvSpPr>
            <a:spLocks noGrp="1"/>
          </p:cNvSpPr>
          <p:nvPr>
            <p:ph type="dt" sz="half" idx="10"/>
          </p:nvPr>
        </p:nvSpPr>
        <p:spPr/>
        <p:txBody>
          <a:bodyPr/>
          <a:lstStyle/>
          <a:p>
            <a:fld id="{24B0A5DE-AF8B-A344-8B4B-562CC5D99C2F}" type="datetimeFigureOut">
              <a:rPr lang="en-US" smtClean="0"/>
              <a:t>5/18/2023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902186-8F11-524B-9F16-8330928A2CBC}" type="slidenum">
              <a:rPr lang="en-US" smtClean="0"/>
              <a:t>‹#›</a:t>
            </a:fld>
            <a:endParaRPr lang="en-US"/>
          </a:p>
        </p:txBody>
      </p:sp>
    </p:spTree>
    <p:extLst>
      <p:ext uri="{BB962C8B-B14F-4D97-AF65-F5344CB8AC3E}">
        <p14:creationId xmlns:p14="http://schemas.microsoft.com/office/powerpoint/2010/main" val="72256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sv-SE"/>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sv-SE"/>
              <a:t>Click to edit Master text styles</a:t>
            </a:r>
          </a:p>
          <a:p>
            <a:pPr lvl="1"/>
            <a:r>
              <a:rPr lang="sv-SE"/>
              <a:t>Second level</a:t>
            </a:r>
          </a:p>
          <a:p>
            <a:pPr lvl="2"/>
            <a:r>
              <a:rPr lang="sv-SE"/>
              <a:t>Third level</a:t>
            </a:r>
          </a:p>
          <a:p>
            <a:pPr lvl="3"/>
            <a:r>
              <a:rPr lang="sv-SE"/>
              <a:t>Fourth level</a:t>
            </a:r>
          </a:p>
          <a:p>
            <a:pPr lvl="4"/>
            <a:r>
              <a:rPr lang="sv-SE"/>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0A5DE-AF8B-A344-8B4B-562CC5D99C2F}" type="datetimeFigureOut">
              <a:rPr lang="en-US" smtClean="0"/>
              <a:t>5/18/2023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902186-8F11-524B-9F16-8330928A2CBC}" type="slidenum">
              <a:rPr lang="en-US" smtClean="0"/>
              <a:t>‹#›</a:t>
            </a:fld>
            <a:endParaRPr lang="en-US"/>
          </a:p>
        </p:txBody>
      </p:sp>
    </p:spTree>
    <p:extLst>
      <p:ext uri="{BB962C8B-B14F-4D97-AF65-F5344CB8AC3E}">
        <p14:creationId xmlns:p14="http://schemas.microsoft.com/office/powerpoint/2010/main" val="2258919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asindhu@qa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059971" y="1783959"/>
            <a:ext cx="3483937" cy="2889114"/>
          </a:xfrm>
        </p:spPr>
        <p:txBody>
          <a:bodyPr anchor="b">
            <a:normAutofit/>
          </a:bodyPr>
          <a:lstStyle/>
          <a:p>
            <a:pPr algn="l">
              <a:lnSpc>
                <a:spcPct val="90000"/>
              </a:lnSpc>
            </a:pPr>
            <a:r>
              <a:rPr lang="en-US" sz="3700">
                <a:solidFill>
                  <a:schemeClr val="bg1"/>
                </a:solidFill>
              </a:rPr>
              <a:t>Model Checking &amp; ATCG with Model Checkers</a:t>
            </a:r>
          </a:p>
        </p:txBody>
      </p:sp>
      <p:sp>
        <p:nvSpPr>
          <p:cNvPr id="3" name="Subtitle 2"/>
          <p:cNvSpPr>
            <a:spLocks noGrp="1"/>
          </p:cNvSpPr>
          <p:nvPr>
            <p:ph type="subTitle" idx="1"/>
          </p:nvPr>
        </p:nvSpPr>
        <p:spPr>
          <a:xfrm>
            <a:off x="5059970" y="4750893"/>
            <a:ext cx="3483937" cy="1147863"/>
          </a:xfrm>
        </p:spPr>
        <p:txBody>
          <a:bodyPr anchor="t">
            <a:normAutofit/>
          </a:bodyPr>
          <a:lstStyle/>
          <a:p>
            <a:pPr algn="l"/>
            <a:r>
              <a:rPr lang="en-US" sz="1700">
                <a:solidFill>
                  <a:schemeClr val="bg1"/>
                </a:solidFill>
              </a:rPr>
              <a:t>Muddassar Azam Sindhu (PhD)</a:t>
            </a:r>
          </a:p>
          <a:p>
            <a:pPr algn="l"/>
            <a:r>
              <a:rPr lang="en-US" sz="1700">
                <a:solidFill>
                  <a:schemeClr val="bg1"/>
                </a:solidFill>
                <a:hlinkClick r:id="rId3"/>
              </a:rPr>
              <a:t>masindhu@qau.edu.pk</a:t>
            </a:r>
            <a:r>
              <a:rPr lang="en-US" sz="1700">
                <a:solidFill>
                  <a:schemeClr val="bg1"/>
                </a:solidFill>
              </a:rPr>
              <a:t>  </a:t>
            </a:r>
          </a:p>
        </p:txBody>
      </p:sp>
      <p:sp>
        <p:nvSpPr>
          <p:cNvPr id="12" name="Freeform: Shape 11">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629586"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18115"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4185275"/>
      </p:ext>
    </p:extLst>
  </p:cSld>
  <p:clrMapOvr>
    <a:masterClrMapping/>
  </p:clrMapOvr>
  <mc:AlternateContent xmlns:mc="http://schemas.openxmlformats.org/markup-compatibility/2006" xmlns:p14="http://schemas.microsoft.com/office/powerpoint/2010/main">
    <mc:Choice Requires="p14">
      <p:transition spd="slow" p14:dur="2000" advTm="160979"/>
    </mc:Choice>
    <mc:Fallback xmlns="">
      <p:transition spd="slow" advTm="16097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Checking</a:t>
            </a:r>
          </a:p>
        </p:txBody>
      </p:sp>
      <p:sp>
        <p:nvSpPr>
          <p:cNvPr id="3" name="Content Placeholder 2"/>
          <p:cNvSpPr>
            <a:spLocks noGrp="1"/>
          </p:cNvSpPr>
          <p:nvPr>
            <p:ph idx="1"/>
          </p:nvPr>
        </p:nvSpPr>
        <p:spPr/>
        <p:txBody>
          <a:bodyPr>
            <a:normAutofit lnSpcReduction="10000"/>
          </a:bodyPr>
          <a:lstStyle/>
          <a:p>
            <a:r>
              <a:rPr lang="en-US" dirty="0"/>
              <a:t>A model checker is an algorithm for analyzing the satisfiability of a logical formula ø against a model M.</a:t>
            </a:r>
          </a:p>
          <a:p>
            <a:r>
              <a:rPr lang="en-US" dirty="0"/>
              <a:t>If the formula holds on the model then we write ø |= M. Otherwise, a trace(path) in the model along which ø does not hold.</a:t>
            </a:r>
          </a:p>
          <a:p>
            <a:r>
              <a:rPr lang="en-US" dirty="0"/>
              <a:t>This trace is also called the counterexample to correctness of the model or a witness to where the property is violated.</a:t>
            </a:r>
          </a:p>
        </p:txBody>
      </p:sp>
    </p:spTree>
    <p:extLst>
      <p:ext uri="{BB962C8B-B14F-4D97-AF65-F5344CB8AC3E}">
        <p14:creationId xmlns:p14="http://schemas.microsoft.com/office/powerpoint/2010/main" val="2604019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Checking Cont’d</a:t>
            </a:r>
          </a:p>
        </p:txBody>
      </p:sp>
      <p:sp>
        <p:nvSpPr>
          <p:cNvPr id="3" name="Content Placeholder 2"/>
          <p:cNvSpPr>
            <a:spLocks noGrp="1"/>
          </p:cNvSpPr>
          <p:nvPr>
            <p:ph idx="1"/>
          </p:nvPr>
        </p:nvSpPr>
        <p:spPr/>
        <p:txBody>
          <a:bodyPr>
            <a:normAutofit fontScale="92500" lnSpcReduction="10000"/>
          </a:bodyPr>
          <a:lstStyle/>
          <a:p>
            <a:r>
              <a:rPr lang="en-US" dirty="0"/>
              <a:t>Possibility to write/encode models in different model formalisms.</a:t>
            </a:r>
          </a:p>
          <a:p>
            <a:pPr lvl="1"/>
            <a:r>
              <a:rPr lang="en-US" dirty="0"/>
              <a:t>FSMs, Timed Automata, Kripke structures etc.</a:t>
            </a:r>
          </a:p>
          <a:p>
            <a:r>
              <a:rPr lang="en-US" dirty="0"/>
              <a:t>Possibility to write requirements formulas in different specification formalisms.</a:t>
            </a:r>
          </a:p>
          <a:p>
            <a:pPr lvl="1"/>
            <a:r>
              <a:rPr lang="en-US" dirty="0"/>
              <a:t>Linear Temporal Logic(LTL), Computational Tree Logic(CTL) etc.</a:t>
            </a:r>
          </a:p>
          <a:p>
            <a:r>
              <a:rPr lang="en-US" dirty="0"/>
              <a:t>This enables to verify the behavior of different types of systems.</a:t>
            </a:r>
          </a:p>
          <a:p>
            <a:pPr lvl="1"/>
            <a:r>
              <a:rPr lang="en-US" dirty="0"/>
              <a:t>Reactive, real time etc.</a:t>
            </a:r>
          </a:p>
        </p:txBody>
      </p:sp>
    </p:spTree>
    <p:extLst>
      <p:ext uri="{BB962C8B-B14F-4D97-AF65-F5344CB8AC3E}">
        <p14:creationId xmlns:p14="http://schemas.microsoft.com/office/powerpoint/2010/main" val="1588692937"/>
      </p:ext>
    </p:extLst>
  </p:cSld>
  <p:clrMapOvr>
    <a:masterClrMapping/>
  </p:clrMapOvr>
  <mc:AlternateContent xmlns:mc="http://schemas.openxmlformats.org/markup-compatibility/2006" xmlns:p14="http://schemas.microsoft.com/office/powerpoint/2010/main">
    <mc:Choice Requires="p14">
      <p:transition spd="slow" p14:dur="2000" advTm="603"/>
    </mc:Choice>
    <mc:Fallback xmlns="">
      <p:transition spd="slow" advTm="60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Automated Test-Case Generation (TCG)</a:t>
            </a:r>
          </a:p>
        </p:txBody>
      </p:sp>
      <p:sp>
        <p:nvSpPr>
          <p:cNvPr id="3" name="Content Placeholder 2"/>
          <p:cNvSpPr>
            <a:spLocks noGrp="1"/>
          </p:cNvSpPr>
          <p:nvPr>
            <p:ph idx="1"/>
          </p:nvPr>
        </p:nvSpPr>
        <p:spPr/>
        <p:txBody>
          <a:bodyPr>
            <a:normAutofit fontScale="92500" lnSpcReduction="10000"/>
          </a:bodyPr>
          <a:lstStyle/>
          <a:p>
            <a:r>
              <a:rPr lang="en-US" dirty="0"/>
              <a:t>By now we have seen that </a:t>
            </a:r>
            <a:r>
              <a:rPr lang="en-US" dirty="0">
                <a:solidFill>
                  <a:srgbClr val="FF0000"/>
                </a:solidFill>
              </a:rPr>
              <a:t>manual construction</a:t>
            </a:r>
            <a:r>
              <a:rPr lang="en-US" dirty="0"/>
              <a:t> of test cases is a </a:t>
            </a:r>
            <a:r>
              <a:rPr lang="en-US" dirty="0">
                <a:solidFill>
                  <a:srgbClr val="FF0000"/>
                </a:solidFill>
              </a:rPr>
              <a:t>difficult, time-consuming</a:t>
            </a:r>
            <a:r>
              <a:rPr lang="en-US" dirty="0"/>
              <a:t> and </a:t>
            </a:r>
            <a:r>
              <a:rPr lang="en-US" dirty="0">
                <a:solidFill>
                  <a:srgbClr val="FF0000"/>
                </a:solidFill>
              </a:rPr>
              <a:t>error-prone </a:t>
            </a:r>
            <a:r>
              <a:rPr lang="en-US" dirty="0"/>
              <a:t>activity that requires </a:t>
            </a:r>
            <a:r>
              <a:rPr lang="en-US" dirty="0">
                <a:solidFill>
                  <a:srgbClr val="FF0000"/>
                </a:solidFill>
              </a:rPr>
              <a:t>expertise</a:t>
            </a:r>
            <a:r>
              <a:rPr lang="en-US" dirty="0"/>
              <a:t>.</a:t>
            </a:r>
          </a:p>
          <a:p>
            <a:r>
              <a:rPr lang="en-US" dirty="0">
                <a:solidFill>
                  <a:srgbClr val="FF0000"/>
                </a:solidFill>
              </a:rPr>
              <a:t>Automated Test-Case Generation </a:t>
            </a:r>
            <a:r>
              <a:rPr lang="en-US" dirty="0"/>
              <a:t>(TCG) has been the “</a:t>
            </a:r>
            <a:r>
              <a:rPr lang="en-US" dirty="0">
                <a:solidFill>
                  <a:srgbClr val="FF0000"/>
                </a:solidFill>
              </a:rPr>
              <a:t>holy grail</a:t>
            </a:r>
            <a:r>
              <a:rPr lang="en-US" dirty="0"/>
              <a:t>” of testing for some time.</a:t>
            </a:r>
          </a:p>
          <a:p>
            <a:r>
              <a:rPr lang="en-US" dirty="0"/>
              <a:t>Is this even possible? If so, how?</a:t>
            </a:r>
          </a:p>
          <a:p>
            <a:r>
              <a:rPr lang="en-US" dirty="0">
                <a:solidFill>
                  <a:srgbClr val="0000FF"/>
                </a:solidFill>
              </a:rPr>
              <a:t>Black/white-box testing</a:t>
            </a:r>
          </a:p>
          <a:p>
            <a:r>
              <a:rPr lang="en-US" dirty="0"/>
              <a:t>Want algorithms which generate test cases (preferably with a known level of coverage)</a:t>
            </a:r>
          </a:p>
        </p:txBody>
      </p:sp>
    </p:spTree>
    <p:extLst>
      <p:ext uri="{BB962C8B-B14F-4D97-AF65-F5344CB8AC3E}">
        <p14:creationId xmlns:p14="http://schemas.microsoft.com/office/powerpoint/2010/main" val="2635889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TCG for MBT of Embedded Systems</a:t>
            </a:r>
          </a:p>
        </p:txBody>
      </p:sp>
      <p:sp>
        <p:nvSpPr>
          <p:cNvPr id="3" name="Content Placeholder 2"/>
          <p:cNvSpPr>
            <a:spLocks noGrp="1"/>
          </p:cNvSpPr>
          <p:nvPr>
            <p:ph idx="1"/>
          </p:nvPr>
        </p:nvSpPr>
        <p:spPr/>
        <p:txBody>
          <a:bodyPr/>
          <a:lstStyle/>
          <a:p>
            <a:r>
              <a:rPr lang="en-US" dirty="0"/>
              <a:t>We can make a simple model of an embedded system as a deterministic </a:t>
            </a:r>
            <a:r>
              <a:rPr lang="en-US" dirty="0" err="1"/>
              <a:t>Kripke</a:t>
            </a:r>
            <a:r>
              <a:rPr lang="en-US" dirty="0"/>
              <a:t> structure (or Moore machine)</a:t>
            </a:r>
          </a:p>
          <a:p>
            <a:r>
              <a:rPr lang="en-US" dirty="0">
                <a:solidFill>
                  <a:srgbClr val="0000FF"/>
                </a:solidFill>
              </a:rPr>
              <a:t>M = ( Q, </a:t>
            </a:r>
            <a:r>
              <a:rPr lang="en-US" dirty="0" err="1">
                <a:solidFill>
                  <a:srgbClr val="0000FF"/>
                </a:solidFill>
              </a:rPr>
              <a:t>Σ</a:t>
            </a:r>
            <a:r>
              <a:rPr lang="en-US" dirty="0">
                <a:solidFill>
                  <a:srgbClr val="0000FF"/>
                </a:solidFill>
              </a:rPr>
              <a:t>, q</a:t>
            </a:r>
            <a:r>
              <a:rPr lang="en-US" baseline="-25000" dirty="0">
                <a:solidFill>
                  <a:srgbClr val="0000FF"/>
                </a:solidFill>
              </a:rPr>
              <a:t>0</a:t>
            </a:r>
            <a:r>
              <a:rPr lang="en-US" dirty="0">
                <a:solidFill>
                  <a:srgbClr val="0000FF"/>
                </a:solidFill>
              </a:rPr>
              <a:t>, </a:t>
            </a:r>
            <a:r>
              <a:rPr lang="en-US" dirty="0" err="1">
                <a:solidFill>
                  <a:srgbClr val="0000FF"/>
                </a:solidFill>
              </a:rPr>
              <a:t>δ</a:t>
            </a:r>
            <a:r>
              <a:rPr lang="en-US" dirty="0">
                <a:solidFill>
                  <a:srgbClr val="0000FF"/>
                </a:solidFill>
              </a:rPr>
              <a:t>, </a:t>
            </a:r>
            <a:r>
              <a:rPr lang="en-US" dirty="0" err="1">
                <a:solidFill>
                  <a:srgbClr val="0000FF"/>
                </a:solidFill>
              </a:rPr>
              <a:t>λ</a:t>
            </a:r>
            <a:r>
              <a:rPr lang="en-US" dirty="0">
                <a:solidFill>
                  <a:srgbClr val="0000FF"/>
                </a:solidFill>
              </a:rPr>
              <a:t> )</a:t>
            </a:r>
          </a:p>
          <a:p>
            <a:r>
              <a:rPr lang="en-US" dirty="0"/>
              <a:t>Where </a:t>
            </a:r>
          </a:p>
          <a:p>
            <a:pPr lvl="1"/>
            <a:r>
              <a:rPr lang="en-US" dirty="0">
                <a:solidFill>
                  <a:srgbClr val="0000FF"/>
                </a:solidFill>
              </a:rPr>
              <a:t>q</a:t>
            </a:r>
            <a:r>
              <a:rPr lang="en-US" baseline="-25000" dirty="0">
                <a:solidFill>
                  <a:srgbClr val="0000FF"/>
                </a:solidFill>
              </a:rPr>
              <a:t>0</a:t>
            </a:r>
            <a:r>
              <a:rPr lang="en-US" dirty="0">
                <a:solidFill>
                  <a:srgbClr val="0000FF"/>
                </a:solidFill>
                <a:sym typeface="Symbol"/>
              </a:rPr>
              <a:t> Q,  </a:t>
            </a:r>
            <a:r>
              <a:rPr lang="en-US" dirty="0">
                <a:solidFill>
                  <a:srgbClr val="FF0000"/>
                </a:solidFill>
                <a:sym typeface="Symbol"/>
              </a:rPr>
              <a:t>- initial state</a:t>
            </a:r>
          </a:p>
          <a:p>
            <a:pPr lvl="1"/>
            <a:r>
              <a:rPr lang="en-US" dirty="0" err="1">
                <a:solidFill>
                  <a:srgbClr val="0000FF"/>
                </a:solidFill>
              </a:rPr>
              <a:t>δ</a:t>
            </a:r>
            <a:r>
              <a:rPr lang="en-US" dirty="0">
                <a:solidFill>
                  <a:srgbClr val="0000FF"/>
                </a:solidFill>
              </a:rPr>
              <a:t> : Q x </a:t>
            </a:r>
            <a:r>
              <a:rPr lang="en-US" dirty="0" err="1">
                <a:solidFill>
                  <a:srgbClr val="0000FF"/>
                </a:solidFill>
              </a:rPr>
              <a:t>Σ</a:t>
            </a:r>
            <a:r>
              <a:rPr lang="en-US" dirty="0">
                <a:solidFill>
                  <a:srgbClr val="0000FF"/>
                </a:solidFill>
              </a:rPr>
              <a:t> </a:t>
            </a:r>
            <a:r>
              <a:rPr lang="en-US" dirty="0">
                <a:solidFill>
                  <a:srgbClr val="0000FF"/>
                </a:solidFill>
                <a:sym typeface="Symbol"/>
              </a:rPr>
              <a:t> Q   </a:t>
            </a:r>
            <a:r>
              <a:rPr lang="en-US" dirty="0">
                <a:solidFill>
                  <a:srgbClr val="FF0000"/>
                </a:solidFill>
                <a:sym typeface="Symbol"/>
              </a:rPr>
              <a:t>- state transition function</a:t>
            </a:r>
          </a:p>
          <a:p>
            <a:pPr lvl="1"/>
            <a:r>
              <a:rPr lang="en-US" dirty="0" err="1">
                <a:solidFill>
                  <a:srgbClr val="0000FF"/>
                </a:solidFill>
              </a:rPr>
              <a:t>λ</a:t>
            </a:r>
            <a:r>
              <a:rPr lang="en-US" dirty="0">
                <a:solidFill>
                  <a:srgbClr val="0000FF"/>
                </a:solidFill>
              </a:rPr>
              <a:t>: Q </a:t>
            </a:r>
            <a:r>
              <a:rPr lang="en-US" dirty="0">
                <a:solidFill>
                  <a:srgbClr val="0000FF"/>
                </a:solidFill>
                <a:sym typeface="Symbol"/>
              </a:rPr>
              <a:t> </a:t>
            </a:r>
            <a:r>
              <a:rPr lang="en-US" dirty="0" err="1">
                <a:solidFill>
                  <a:srgbClr val="0000FF"/>
                </a:solidFill>
                <a:sym typeface="Symbol"/>
              </a:rPr>
              <a:t>B</a:t>
            </a:r>
            <a:r>
              <a:rPr lang="en-US" baseline="30000" dirty="0" err="1">
                <a:solidFill>
                  <a:srgbClr val="0000FF"/>
                </a:solidFill>
                <a:sym typeface="Symbol"/>
              </a:rPr>
              <a:t>n</a:t>
            </a:r>
            <a:r>
              <a:rPr lang="en-US" baseline="30000" dirty="0">
                <a:solidFill>
                  <a:srgbClr val="0000FF"/>
                </a:solidFill>
                <a:sym typeface="Symbol"/>
              </a:rPr>
              <a:t>  </a:t>
            </a:r>
            <a:r>
              <a:rPr lang="en-US" dirty="0">
                <a:sym typeface="Symbol"/>
              </a:rPr>
              <a:t>- </a:t>
            </a:r>
            <a:r>
              <a:rPr lang="en-US" dirty="0">
                <a:solidFill>
                  <a:srgbClr val="FF0000"/>
                </a:solidFill>
                <a:sym typeface="Symbol"/>
              </a:rPr>
              <a:t>n-bit output function</a:t>
            </a:r>
            <a:endParaRPr lang="en-US" baseline="30000" dirty="0">
              <a:solidFill>
                <a:srgbClr val="FF0000"/>
              </a:solidFill>
            </a:endParaRPr>
          </a:p>
          <a:p>
            <a:pPr lvl="1"/>
            <a:endParaRPr lang="en-US" dirty="0">
              <a:sym typeface="Symbol"/>
            </a:endParaRPr>
          </a:p>
          <a:p>
            <a:pPr lvl="1"/>
            <a:endParaRPr lang="en-US" dirty="0"/>
          </a:p>
          <a:p>
            <a:endParaRPr lang="en-US" dirty="0"/>
          </a:p>
        </p:txBody>
      </p:sp>
    </p:spTree>
    <p:extLst>
      <p:ext uri="{BB962C8B-B14F-4D97-AF65-F5344CB8AC3E}">
        <p14:creationId xmlns:p14="http://schemas.microsoft.com/office/powerpoint/2010/main" val="2870344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2-bit shift register</a:t>
            </a:r>
          </a:p>
        </p:txBody>
      </p:sp>
      <p:sp>
        <p:nvSpPr>
          <p:cNvPr id="3" name="Content Placeholder 2"/>
          <p:cNvSpPr>
            <a:spLocks noGrp="1"/>
          </p:cNvSpPr>
          <p:nvPr>
            <p:ph idx="1"/>
          </p:nvPr>
        </p:nvSpPr>
        <p:spPr>
          <a:xfrm>
            <a:off x="457200" y="1616763"/>
            <a:ext cx="8229600" cy="4525963"/>
          </a:xfrm>
        </p:spPr>
        <p:txBody>
          <a:bodyPr/>
          <a:lstStyle/>
          <a:p>
            <a:r>
              <a:rPr lang="en-US" dirty="0">
                <a:solidFill>
                  <a:srgbClr val="800000"/>
                </a:solidFill>
              </a:rPr>
              <a:t>Q = </a:t>
            </a:r>
            <a:r>
              <a:rPr lang="en-US" dirty="0">
                <a:solidFill>
                  <a:srgbClr val="800000"/>
                </a:solidFill>
                <a:sym typeface="Symbol"/>
              </a:rPr>
              <a:t>A, B, C, D, </a:t>
            </a:r>
            <a:r>
              <a:rPr lang="en-US" dirty="0" err="1">
                <a:solidFill>
                  <a:srgbClr val="800000"/>
                </a:solidFill>
                <a:sym typeface="Symbol"/>
              </a:rPr>
              <a:t>Σ</a:t>
            </a:r>
            <a:r>
              <a:rPr lang="en-US" dirty="0">
                <a:solidFill>
                  <a:srgbClr val="800000"/>
                </a:solidFill>
              </a:rPr>
              <a:t> = </a:t>
            </a:r>
            <a:r>
              <a:rPr lang="en-US" dirty="0">
                <a:solidFill>
                  <a:srgbClr val="800000"/>
                </a:solidFill>
                <a:sym typeface="Symbol"/>
              </a:rPr>
              <a:t>0,1, q</a:t>
            </a:r>
            <a:r>
              <a:rPr lang="en-US" baseline="-25000" dirty="0">
                <a:solidFill>
                  <a:srgbClr val="800000"/>
                </a:solidFill>
                <a:sym typeface="Symbol"/>
              </a:rPr>
              <a:t>0</a:t>
            </a:r>
            <a:r>
              <a:rPr lang="en-US" dirty="0">
                <a:solidFill>
                  <a:srgbClr val="800000"/>
                </a:solidFill>
                <a:sym typeface="Symbol"/>
              </a:rPr>
              <a:t>=A</a:t>
            </a:r>
            <a:endParaRPr lang="en-US" dirty="0">
              <a:solidFill>
                <a:srgbClr val="800000"/>
              </a:solidFill>
            </a:endParaRPr>
          </a:p>
          <a:p>
            <a:endParaRPr lang="en-US" dirty="0"/>
          </a:p>
        </p:txBody>
      </p:sp>
      <p:sp>
        <p:nvSpPr>
          <p:cNvPr id="4" name="Oval 3"/>
          <p:cNvSpPr/>
          <p:nvPr/>
        </p:nvSpPr>
        <p:spPr>
          <a:xfrm>
            <a:off x="743857" y="3086781"/>
            <a:ext cx="1886857" cy="181179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800000"/>
                </a:solidFill>
              </a:rPr>
              <a:t>A,</a:t>
            </a:r>
          </a:p>
          <a:p>
            <a:pPr algn="ctr"/>
            <a:r>
              <a:rPr lang="en-US" sz="2400" dirty="0" err="1">
                <a:solidFill>
                  <a:srgbClr val="800000"/>
                </a:solidFill>
              </a:rPr>
              <a:t>λ</a:t>
            </a:r>
            <a:r>
              <a:rPr lang="en-US" sz="2400" dirty="0">
                <a:solidFill>
                  <a:srgbClr val="800000"/>
                </a:solidFill>
              </a:rPr>
              <a:t>(A) =00</a:t>
            </a:r>
          </a:p>
        </p:txBody>
      </p:sp>
      <p:sp>
        <p:nvSpPr>
          <p:cNvPr id="5" name="Oval 4"/>
          <p:cNvSpPr/>
          <p:nvPr/>
        </p:nvSpPr>
        <p:spPr>
          <a:xfrm>
            <a:off x="3581400" y="2333286"/>
            <a:ext cx="1886857" cy="181179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800000"/>
                </a:solidFill>
              </a:rPr>
              <a:t>B,</a:t>
            </a:r>
          </a:p>
          <a:p>
            <a:pPr algn="ctr"/>
            <a:r>
              <a:rPr lang="en-US" sz="2400" dirty="0" err="1">
                <a:solidFill>
                  <a:srgbClr val="800000"/>
                </a:solidFill>
              </a:rPr>
              <a:t>λ</a:t>
            </a:r>
            <a:r>
              <a:rPr lang="en-US" sz="2400" dirty="0">
                <a:solidFill>
                  <a:srgbClr val="800000"/>
                </a:solidFill>
              </a:rPr>
              <a:t>(B) =10</a:t>
            </a:r>
          </a:p>
        </p:txBody>
      </p:sp>
      <p:sp>
        <p:nvSpPr>
          <p:cNvPr id="6" name="Oval 5"/>
          <p:cNvSpPr/>
          <p:nvPr/>
        </p:nvSpPr>
        <p:spPr>
          <a:xfrm>
            <a:off x="3581400" y="4563610"/>
            <a:ext cx="1886857" cy="181179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800000"/>
                </a:solidFill>
              </a:rPr>
              <a:t>C,</a:t>
            </a:r>
          </a:p>
          <a:p>
            <a:pPr algn="ctr"/>
            <a:r>
              <a:rPr lang="en-US" sz="2400" dirty="0" err="1">
                <a:solidFill>
                  <a:srgbClr val="800000"/>
                </a:solidFill>
              </a:rPr>
              <a:t>λ</a:t>
            </a:r>
            <a:r>
              <a:rPr lang="en-US" sz="2400" dirty="0">
                <a:solidFill>
                  <a:srgbClr val="800000"/>
                </a:solidFill>
              </a:rPr>
              <a:t>(C) =01</a:t>
            </a:r>
          </a:p>
        </p:txBody>
      </p:sp>
      <p:sp>
        <p:nvSpPr>
          <p:cNvPr id="7" name="Oval 6"/>
          <p:cNvSpPr/>
          <p:nvPr/>
        </p:nvSpPr>
        <p:spPr>
          <a:xfrm>
            <a:off x="6799943" y="3086781"/>
            <a:ext cx="1886857" cy="181179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800000"/>
                </a:solidFill>
              </a:rPr>
              <a:t>D,</a:t>
            </a:r>
          </a:p>
          <a:p>
            <a:pPr algn="ctr"/>
            <a:r>
              <a:rPr lang="en-US" sz="2400" dirty="0" err="1">
                <a:solidFill>
                  <a:srgbClr val="800000"/>
                </a:solidFill>
              </a:rPr>
              <a:t>λ</a:t>
            </a:r>
            <a:r>
              <a:rPr lang="en-US" sz="2400" dirty="0">
                <a:solidFill>
                  <a:srgbClr val="800000"/>
                </a:solidFill>
              </a:rPr>
              <a:t>(D) =11</a:t>
            </a:r>
          </a:p>
        </p:txBody>
      </p:sp>
      <p:cxnSp>
        <p:nvCxnSpPr>
          <p:cNvPr id="9" name="Straight Arrow Connector 8"/>
          <p:cNvCxnSpPr>
            <a:stCxn id="4" idx="7"/>
          </p:cNvCxnSpPr>
          <p:nvPr/>
        </p:nvCxnSpPr>
        <p:spPr>
          <a:xfrm flipV="1">
            <a:off x="2354390" y="3086781"/>
            <a:ext cx="1227010" cy="26533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endCxn id="7" idx="1"/>
          </p:cNvCxnSpPr>
          <p:nvPr/>
        </p:nvCxnSpPr>
        <p:spPr>
          <a:xfrm>
            <a:off x="5468257" y="3219447"/>
            <a:ext cx="1608010" cy="13266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7" idx="3"/>
            <a:endCxn id="6" idx="7"/>
          </p:cNvCxnSpPr>
          <p:nvPr/>
        </p:nvCxnSpPr>
        <p:spPr>
          <a:xfrm flipH="1">
            <a:off x="5191933" y="4633240"/>
            <a:ext cx="1884334" cy="19570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6" idx="1"/>
            <a:endCxn id="4" idx="5"/>
          </p:cNvCxnSpPr>
          <p:nvPr/>
        </p:nvCxnSpPr>
        <p:spPr>
          <a:xfrm flipH="1" flipV="1">
            <a:off x="2354390" y="4633240"/>
            <a:ext cx="1503334" cy="19570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5" idx="3"/>
          </p:cNvCxnSpPr>
          <p:nvPr/>
        </p:nvCxnSpPr>
        <p:spPr>
          <a:xfrm>
            <a:off x="3857724" y="3879745"/>
            <a:ext cx="188133" cy="75349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endCxn id="5" idx="5"/>
          </p:cNvCxnSpPr>
          <p:nvPr/>
        </p:nvCxnSpPr>
        <p:spPr>
          <a:xfrm flipV="1">
            <a:off x="5025571" y="3879745"/>
            <a:ext cx="166362" cy="75349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801043" y="2757782"/>
            <a:ext cx="340658" cy="461665"/>
          </a:xfrm>
          <a:prstGeom prst="rect">
            <a:avLst/>
          </a:prstGeom>
          <a:noFill/>
        </p:spPr>
        <p:txBody>
          <a:bodyPr wrap="none" rtlCol="0">
            <a:spAutoFit/>
          </a:bodyPr>
          <a:lstStyle/>
          <a:p>
            <a:r>
              <a:rPr lang="en-US" sz="2400" dirty="0">
                <a:solidFill>
                  <a:srgbClr val="800000"/>
                </a:solidFill>
              </a:rPr>
              <a:t>1</a:t>
            </a:r>
          </a:p>
        </p:txBody>
      </p:sp>
      <p:sp>
        <p:nvSpPr>
          <p:cNvPr id="24" name="TextBox 23"/>
          <p:cNvSpPr txBox="1"/>
          <p:nvPr/>
        </p:nvSpPr>
        <p:spPr>
          <a:xfrm>
            <a:off x="6074014" y="2801393"/>
            <a:ext cx="340658" cy="461665"/>
          </a:xfrm>
          <a:prstGeom prst="rect">
            <a:avLst/>
          </a:prstGeom>
          <a:noFill/>
        </p:spPr>
        <p:txBody>
          <a:bodyPr wrap="none" rtlCol="0">
            <a:spAutoFit/>
          </a:bodyPr>
          <a:lstStyle/>
          <a:p>
            <a:r>
              <a:rPr lang="en-US" sz="2400" dirty="0">
                <a:solidFill>
                  <a:srgbClr val="800000"/>
                </a:solidFill>
              </a:rPr>
              <a:t>1</a:t>
            </a:r>
          </a:p>
        </p:txBody>
      </p:sp>
      <p:sp>
        <p:nvSpPr>
          <p:cNvPr id="25" name="TextBox 24"/>
          <p:cNvSpPr txBox="1"/>
          <p:nvPr/>
        </p:nvSpPr>
        <p:spPr>
          <a:xfrm>
            <a:off x="2971372" y="4332777"/>
            <a:ext cx="340658" cy="461665"/>
          </a:xfrm>
          <a:prstGeom prst="rect">
            <a:avLst/>
          </a:prstGeom>
          <a:noFill/>
        </p:spPr>
        <p:txBody>
          <a:bodyPr wrap="none" rtlCol="0">
            <a:spAutoFit/>
          </a:bodyPr>
          <a:lstStyle/>
          <a:p>
            <a:r>
              <a:rPr lang="en-US" sz="2400" dirty="0">
                <a:solidFill>
                  <a:srgbClr val="800000"/>
                </a:solidFill>
              </a:rPr>
              <a:t>0</a:t>
            </a:r>
          </a:p>
        </p:txBody>
      </p:sp>
      <p:sp>
        <p:nvSpPr>
          <p:cNvPr id="26" name="TextBox 25"/>
          <p:cNvSpPr txBox="1"/>
          <p:nvPr/>
        </p:nvSpPr>
        <p:spPr>
          <a:xfrm>
            <a:off x="6074014" y="4229895"/>
            <a:ext cx="340658" cy="461665"/>
          </a:xfrm>
          <a:prstGeom prst="rect">
            <a:avLst/>
          </a:prstGeom>
          <a:noFill/>
        </p:spPr>
        <p:txBody>
          <a:bodyPr wrap="none" rtlCol="0">
            <a:spAutoFit/>
          </a:bodyPr>
          <a:lstStyle/>
          <a:p>
            <a:r>
              <a:rPr lang="en-US" sz="2400" dirty="0">
                <a:solidFill>
                  <a:srgbClr val="800000"/>
                </a:solidFill>
              </a:rPr>
              <a:t>0</a:t>
            </a:r>
          </a:p>
        </p:txBody>
      </p:sp>
      <p:sp>
        <p:nvSpPr>
          <p:cNvPr id="27" name="TextBox 26"/>
          <p:cNvSpPr txBox="1"/>
          <p:nvPr/>
        </p:nvSpPr>
        <p:spPr>
          <a:xfrm>
            <a:off x="3411071" y="4023512"/>
            <a:ext cx="340658" cy="461665"/>
          </a:xfrm>
          <a:prstGeom prst="rect">
            <a:avLst/>
          </a:prstGeom>
          <a:noFill/>
        </p:spPr>
        <p:txBody>
          <a:bodyPr wrap="none" rtlCol="0">
            <a:spAutoFit/>
          </a:bodyPr>
          <a:lstStyle/>
          <a:p>
            <a:r>
              <a:rPr lang="en-US" sz="2400" dirty="0">
                <a:solidFill>
                  <a:srgbClr val="800000"/>
                </a:solidFill>
              </a:rPr>
              <a:t>0</a:t>
            </a:r>
          </a:p>
        </p:txBody>
      </p:sp>
      <p:sp>
        <p:nvSpPr>
          <p:cNvPr id="28" name="TextBox 27"/>
          <p:cNvSpPr txBox="1"/>
          <p:nvPr/>
        </p:nvSpPr>
        <p:spPr>
          <a:xfrm>
            <a:off x="5184034" y="4023512"/>
            <a:ext cx="340658" cy="461665"/>
          </a:xfrm>
          <a:prstGeom prst="rect">
            <a:avLst/>
          </a:prstGeom>
          <a:noFill/>
        </p:spPr>
        <p:txBody>
          <a:bodyPr wrap="none" rtlCol="0">
            <a:spAutoFit/>
          </a:bodyPr>
          <a:lstStyle/>
          <a:p>
            <a:r>
              <a:rPr lang="en-US" sz="2400" dirty="0">
                <a:solidFill>
                  <a:srgbClr val="800000"/>
                </a:solidFill>
              </a:rPr>
              <a:t>1</a:t>
            </a:r>
          </a:p>
        </p:txBody>
      </p:sp>
      <p:cxnSp>
        <p:nvCxnSpPr>
          <p:cNvPr id="31" name="Curved Connector 30"/>
          <p:cNvCxnSpPr>
            <a:stCxn id="4" idx="3"/>
          </p:cNvCxnSpPr>
          <p:nvPr/>
        </p:nvCxnSpPr>
        <p:spPr>
          <a:xfrm rot="16200000" flipH="1">
            <a:off x="1315411" y="4338010"/>
            <a:ext cx="265331" cy="855790"/>
          </a:xfrm>
          <a:prstGeom prst="curvedConnector4">
            <a:avLst>
              <a:gd name="adj1" fmla="val 425481"/>
              <a:gd name="adj2" fmla="val 110599"/>
            </a:avLst>
          </a:prstGeom>
          <a:ln>
            <a:tailEnd type="arrow"/>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382058" y="5247177"/>
            <a:ext cx="340658" cy="461665"/>
          </a:xfrm>
          <a:prstGeom prst="rect">
            <a:avLst/>
          </a:prstGeom>
          <a:noFill/>
        </p:spPr>
        <p:txBody>
          <a:bodyPr wrap="none" rtlCol="0">
            <a:spAutoFit/>
          </a:bodyPr>
          <a:lstStyle/>
          <a:p>
            <a:r>
              <a:rPr lang="en-US" sz="2400" dirty="0">
                <a:solidFill>
                  <a:srgbClr val="800000"/>
                </a:solidFill>
              </a:rPr>
              <a:t>0</a:t>
            </a:r>
          </a:p>
        </p:txBody>
      </p:sp>
      <p:cxnSp>
        <p:nvCxnSpPr>
          <p:cNvPr id="49" name="Curved Connector 48"/>
          <p:cNvCxnSpPr>
            <a:endCxn id="7" idx="5"/>
          </p:cNvCxnSpPr>
          <p:nvPr/>
        </p:nvCxnSpPr>
        <p:spPr>
          <a:xfrm flipV="1">
            <a:off x="7359298" y="4633240"/>
            <a:ext cx="1051178" cy="152398"/>
          </a:xfrm>
          <a:prstGeom prst="curvedConnector4">
            <a:avLst>
              <a:gd name="adj1" fmla="val -12479"/>
              <a:gd name="adj2" fmla="val -712208"/>
            </a:avLst>
          </a:prstGeom>
          <a:ln>
            <a:tailEnd type="arrow"/>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641557" y="5261827"/>
            <a:ext cx="340658" cy="461665"/>
          </a:xfrm>
          <a:prstGeom prst="rect">
            <a:avLst/>
          </a:prstGeom>
          <a:noFill/>
        </p:spPr>
        <p:txBody>
          <a:bodyPr wrap="none" rtlCol="0">
            <a:spAutoFit/>
          </a:bodyPr>
          <a:lstStyle/>
          <a:p>
            <a:r>
              <a:rPr lang="en-US" sz="2400" dirty="0">
                <a:solidFill>
                  <a:srgbClr val="800000"/>
                </a:solidFill>
              </a:rPr>
              <a:t>1</a:t>
            </a:r>
          </a:p>
        </p:txBody>
      </p:sp>
      <p:cxnSp>
        <p:nvCxnSpPr>
          <p:cNvPr id="65" name="Straight Arrow Connector 64"/>
          <p:cNvCxnSpPr>
            <a:endCxn id="4" idx="1"/>
          </p:cNvCxnSpPr>
          <p:nvPr/>
        </p:nvCxnSpPr>
        <p:spPr>
          <a:xfrm>
            <a:off x="457200" y="2801393"/>
            <a:ext cx="562981" cy="5507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2283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Representation</a:t>
            </a:r>
          </a:p>
        </p:txBody>
      </p:sp>
      <p:sp>
        <p:nvSpPr>
          <p:cNvPr id="3" name="Content Placeholder 2"/>
          <p:cNvSpPr>
            <a:spLocks noGrp="1"/>
          </p:cNvSpPr>
          <p:nvPr>
            <p:ph idx="1"/>
          </p:nvPr>
        </p:nvSpPr>
        <p:spPr/>
        <p:txBody>
          <a:bodyPr/>
          <a:lstStyle/>
          <a:p>
            <a:pPr marL="0" indent="0">
              <a:buNone/>
            </a:pPr>
            <a:r>
              <a:rPr lang="en-US" dirty="0"/>
              <a:t> </a:t>
            </a:r>
          </a:p>
        </p:txBody>
      </p:sp>
      <p:sp>
        <p:nvSpPr>
          <p:cNvPr id="4" name="Content Placeholder 2"/>
          <p:cNvSpPr txBox="1">
            <a:spLocks/>
          </p:cNvSpPr>
          <p:nvPr/>
        </p:nvSpPr>
        <p:spPr>
          <a:xfrm>
            <a:off x="457200" y="1600200"/>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rgbClr val="800000"/>
                </a:solidFill>
              </a:rPr>
              <a:t>Q = </a:t>
            </a:r>
            <a:r>
              <a:rPr lang="en-US" dirty="0">
                <a:solidFill>
                  <a:srgbClr val="800000"/>
                </a:solidFill>
                <a:sym typeface="Symbol"/>
              </a:rPr>
              <a:t>A, B, C, D, </a:t>
            </a:r>
            <a:r>
              <a:rPr lang="en-US" dirty="0" err="1">
                <a:solidFill>
                  <a:srgbClr val="800000"/>
                </a:solidFill>
                <a:sym typeface="Symbol"/>
              </a:rPr>
              <a:t>Σ</a:t>
            </a:r>
            <a:r>
              <a:rPr lang="en-US" dirty="0">
                <a:solidFill>
                  <a:srgbClr val="800000"/>
                </a:solidFill>
              </a:rPr>
              <a:t> = </a:t>
            </a:r>
            <a:r>
              <a:rPr lang="en-US" dirty="0">
                <a:solidFill>
                  <a:srgbClr val="800000"/>
                </a:solidFill>
                <a:sym typeface="Symbol"/>
              </a:rPr>
              <a:t>0,1, q</a:t>
            </a:r>
            <a:r>
              <a:rPr lang="en-US" baseline="-25000" dirty="0">
                <a:solidFill>
                  <a:srgbClr val="800000"/>
                </a:solidFill>
                <a:sym typeface="Symbol"/>
              </a:rPr>
              <a:t>0</a:t>
            </a:r>
            <a:r>
              <a:rPr lang="en-US" dirty="0">
                <a:solidFill>
                  <a:srgbClr val="800000"/>
                </a:solidFill>
                <a:sym typeface="Symbol"/>
              </a:rPr>
              <a:t>=A</a:t>
            </a:r>
            <a:endParaRPr lang="en-US" dirty="0">
              <a:solidFill>
                <a:srgbClr val="800000"/>
              </a:solidFill>
            </a:endParaRPr>
          </a:p>
          <a:p>
            <a:endParaRPr lang="en-US" dirty="0"/>
          </a:p>
        </p:txBody>
      </p:sp>
      <p:sp>
        <p:nvSpPr>
          <p:cNvPr id="5" name="Oval 4"/>
          <p:cNvSpPr/>
          <p:nvPr/>
        </p:nvSpPr>
        <p:spPr>
          <a:xfrm>
            <a:off x="486015" y="3071133"/>
            <a:ext cx="1886857" cy="181179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800000"/>
                </a:solidFill>
              </a:rPr>
              <a:t>!Bit1  &amp; </a:t>
            </a:r>
          </a:p>
          <a:p>
            <a:pPr algn="ctr"/>
            <a:r>
              <a:rPr lang="en-US" sz="2400" dirty="0">
                <a:solidFill>
                  <a:srgbClr val="800000"/>
                </a:solidFill>
              </a:rPr>
              <a:t>!Bit2</a:t>
            </a:r>
          </a:p>
        </p:txBody>
      </p:sp>
      <p:sp>
        <p:nvSpPr>
          <p:cNvPr id="6" name="Oval 5"/>
          <p:cNvSpPr/>
          <p:nvPr/>
        </p:nvSpPr>
        <p:spPr>
          <a:xfrm>
            <a:off x="3581400" y="2333286"/>
            <a:ext cx="1886857" cy="181179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800000"/>
                </a:solidFill>
              </a:rPr>
              <a:t>Bit1 &amp;</a:t>
            </a:r>
          </a:p>
          <a:p>
            <a:pPr algn="ctr"/>
            <a:r>
              <a:rPr lang="en-US" sz="2400" dirty="0">
                <a:solidFill>
                  <a:srgbClr val="800000"/>
                </a:solidFill>
              </a:rPr>
              <a:t>!Bit2</a:t>
            </a:r>
          </a:p>
        </p:txBody>
      </p:sp>
      <p:sp>
        <p:nvSpPr>
          <p:cNvPr id="7" name="Oval 6"/>
          <p:cNvSpPr/>
          <p:nvPr/>
        </p:nvSpPr>
        <p:spPr>
          <a:xfrm>
            <a:off x="3581400" y="4563610"/>
            <a:ext cx="1886857" cy="181179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800000"/>
                </a:solidFill>
              </a:rPr>
              <a:t>!Bit1 &amp;</a:t>
            </a:r>
          </a:p>
          <a:p>
            <a:pPr algn="ctr"/>
            <a:r>
              <a:rPr lang="en-US" sz="2400" dirty="0">
                <a:solidFill>
                  <a:srgbClr val="800000"/>
                </a:solidFill>
              </a:rPr>
              <a:t>Bit2</a:t>
            </a:r>
          </a:p>
        </p:txBody>
      </p:sp>
      <p:sp>
        <p:nvSpPr>
          <p:cNvPr id="8" name="Oval 7"/>
          <p:cNvSpPr/>
          <p:nvPr/>
        </p:nvSpPr>
        <p:spPr>
          <a:xfrm>
            <a:off x="6799943" y="3086781"/>
            <a:ext cx="1886857" cy="181179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rgbClr val="800000"/>
                </a:solidFill>
              </a:rPr>
              <a:t>Bit1 &amp;</a:t>
            </a:r>
          </a:p>
          <a:p>
            <a:pPr algn="ctr"/>
            <a:r>
              <a:rPr lang="en-US" sz="2400" dirty="0">
                <a:solidFill>
                  <a:srgbClr val="800000"/>
                </a:solidFill>
              </a:rPr>
              <a:t>Bit2</a:t>
            </a:r>
          </a:p>
        </p:txBody>
      </p:sp>
      <p:cxnSp>
        <p:nvCxnSpPr>
          <p:cNvPr id="9" name="Straight Arrow Connector 8"/>
          <p:cNvCxnSpPr>
            <a:stCxn id="5" idx="7"/>
          </p:cNvCxnSpPr>
          <p:nvPr/>
        </p:nvCxnSpPr>
        <p:spPr>
          <a:xfrm flipV="1">
            <a:off x="2096548" y="3071133"/>
            <a:ext cx="1484852" cy="26533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endCxn id="8" idx="1"/>
          </p:cNvCxnSpPr>
          <p:nvPr/>
        </p:nvCxnSpPr>
        <p:spPr>
          <a:xfrm>
            <a:off x="5468257" y="3219447"/>
            <a:ext cx="1608010" cy="13266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stCxn id="8" idx="3"/>
            <a:endCxn id="7" idx="7"/>
          </p:cNvCxnSpPr>
          <p:nvPr/>
        </p:nvCxnSpPr>
        <p:spPr>
          <a:xfrm flipH="1">
            <a:off x="5191933" y="4633240"/>
            <a:ext cx="1884334" cy="19570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7" idx="1"/>
            <a:endCxn id="5" idx="5"/>
          </p:cNvCxnSpPr>
          <p:nvPr/>
        </p:nvCxnSpPr>
        <p:spPr>
          <a:xfrm flipH="1" flipV="1">
            <a:off x="2096548" y="4617592"/>
            <a:ext cx="1761176" cy="21134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6" idx="3"/>
          </p:cNvCxnSpPr>
          <p:nvPr/>
        </p:nvCxnSpPr>
        <p:spPr>
          <a:xfrm>
            <a:off x="3857724" y="3879745"/>
            <a:ext cx="188133" cy="75349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endCxn id="6" idx="5"/>
          </p:cNvCxnSpPr>
          <p:nvPr/>
        </p:nvCxnSpPr>
        <p:spPr>
          <a:xfrm flipV="1">
            <a:off x="5025571" y="3879745"/>
            <a:ext cx="166362" cy="75349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801043" y="2757782"/>
            <a:ext cx="340658" cy="461665"/>
          </a:xfrm>
          <a:prstGeom prst="rect">
            <a:avLst/>
          </a:prstGeom>
          <a:noFill/>
        </p:spPr>
        <p:txBody>
          <a:bodyPr wrap="none" rtlCol="0">
            <a:spAutoFit/>
          </a:bodyPr>
          <a:lstStyle/>
          <a:p>
            <a:r>
              <a:rPr lang="en-US" sz="2400" dirty="0">
                <a:solidFill>
                  <a:srgbClr val="800000"/>
                </a:solidFill>
              </a:rPr>
              <a:t>1</a:t>
            </a:r>
          </a:p>
        </p:txBody>
      </p:sp>
      <p:sp>
        <p:nvSpPr>
          <p:cNvPr id="16" name="TextBox 15"/>
          <p:cNvSpPr txBox="1"/>
          <p:nvPr/>
        </p:nvSpPr>
        <p:spPr>
          <a:xfrm>
            <a:off x="6074014" y="2801393"/>
            <a:ext cx="340658" cy="461665"/>
          </a:xfrm>
          <a:prstGeom prst="rect">
            <a:avLst/>
          </a:prstGeom>
          <a:noFill/>
        </p:spPr>
        <p:txBody>
          <a:bodyPr wrap="none" rtlCol="0">
            <a:spAutoFit/>
          </a:bodyPr>
          <a:lstStyle/>
          <a:p>
            <a:r>
              <a:rPr lang="en-US" sz="2400" dirty="0">
                <a:solidFill>
                  <a:srgbClr val="800000"/>
                </a:solidFill>
              </a:rPr>
              <a:t>1</a:t>
            </a:r>
          </a:p>
        </p:txBody>
      </p:sp>
      <p:sp>
        <p:nvSpPr>
          <p:cNvPr id="17" name="TextBox 16"/>
          <p:cNvSpPr txBox="1"/>
          <p:nvPr/>
        </p:nvSpPr>
        <p:spPr>
          <a:xfrm>
            <a:off x="2971372" y="4332777"/>
            <a:ext cx="340658" cy="461665"/>
          </a:xfrm>
          <a:prstGeom prst="rect">
            <a:avLst/>
          </a:prstGeom>
          <a:noFill/>
        </p:spPr>
        <p:txBody>
          <a:bodyPr wrap="none" rtlCol="0">
            <a:spAutoFit/>
          </a:bodyPr>
          <a:lstStyle/>
          <a:p>
            <a:r>
              <a:rPr lang="en-US" sz="2400" dirty="0">
                <a:solidFill>
                  <a:srgbClr val="800000"/>
                </a:solidFill>
              </a:rPr>
              <a:t>0</a:t>
            </a:r>
          </a:p>
        </p:txBody>
      </p:sp>
      <p:sp>
        <p:nvSpPr>
          <p:cNvPr id="18" name="TextBox 17"/>
          <p:cNvSpPr txBox="1"/>
          <p:nvPr/>
        </p:nvSpPr>
        <p:spPr>
          <a:xfrm>
            <a:off x="6074014" y="4229895"/>
            <a:ext cx="340658" cy="461665"/>
          </a:xfrm>
          <a:prstGeom prst="rect">
            <a:avLst/>
          </a:prstGeom>
          <a:noFill/>
        </p:spPr>
        <p:txBody>
          <a:bodyPr wrap="none" rtlCol="0">
            <a:spAutoFit/>
          </a:bodyPr>
          <a:lstStyle/>
          <a:p>
            <a:r>
              <a:rPr lang="en-US" sz="2400" dirty="0">
                <a:solidFill>
                  <a:srgbClr val="800000"/>
                </a:solidFill>
              </a:rPr>
              <a:t>0</a:t>
            </a:r>
          </a:p>
        </p:txBody>
      </p:sp>
      <p:sp>
        <p:nvSpPr>
          <p:cNvPr id="19" name="TextBox 18"/>
          <p:cNvSpPr txBox="1"/>
          <p:nvPr/>
        </p:nvSpPr>
        <p:spPr>
          <a:xfrm>
            <a:off x="3411071" y="4023512"/>
            <a:ext cx="340658" cy="461665"/>
          </a:xfrm>
          <a:prstGeom prst="rect">
            <a:avLst/>
          </a:prstGeom>
          <a:noFill/>
        </p:spPr>
        <p:txBody>
          <a:bodyPr wrap="none" rtlCol="0">
            <a:spAutoFit/>
          </a:bodyPr>
          <a:lstStyle/>
          <a:p>
            <a:r>
              <a:rPr lang="en-US" sz="2400" dirty="0">
                <a:solidFill>
                  <a:srgbClr val="800000"/>
                </a:solidFill>
              </a:rPr>
              <a:t>0</a:t>
            </a:r>
          </a:p>
        </p:txBody>
      </p:sp>
      <p:sp>
        <p:nvSpPr>
          <p:cNvPr id="20" name="TextBox 19"/>
          <p:cNvSpPr txBox="1"/>
          <p:nvPr/>
        </p:nvSpPr>
        <p:spPr>
          <a:xfrm>
            <a:off x="5184034" y="4023512"/>
            <a:ext cx="340658" cy="461665"/>
          </a:xfrm>
          <a:prstGeom prst="rect">
            <a:avLst/>
          </a:prstGeom>
          <a:noFill/>
        </p:spPr>
        <p:txBody>
          <a:bodyPr wrap="none" rtlCol="0">
            <a:spAutoFit/>
          </a:bodyPr>
          <a:lstStyle/>
          <a:p>
            <a:r>
              <a:rPr lang="en-US" sz="2400" dirty="0">
                <a:solidFill>
                  <a:srgbClr val="800000"/>
                </a:solidFill>
              </a:rPr>
              <a:t>1</a:t>
            </a:r>
          </a:p>
        </p:txBody>
      </p:sp>
      <p:cxnSp>
        <p:nvCxnSpPr>
          <p:cNvPr id="21" name="Curved Connector 20"/>
          <p:cNvCxnSpPr>
            <a:stCxn id="5" idx="3"/>
          </p:cNvCxnSpPr>
          <p:nvPr/>
        </p:nvCxnSpPr>
        <p:spPr>
          <a:xfrm rot="16200000" flipH="1">
            <a:off x="1057569" y="4322362"/>
            <a:ext cx="265331" cy="855790"/>
          </a:xfrm>
          <a:prstGeom prst="curvedConnector4">
            <a:avLst>
              <a:gd name="adj1" fmla="val 425481"/>
              <a:gd name="adj2" fmla="val 110599"/>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07143" y="5247177"/>
            <a:ext cx="340658" cy="461665"/>
          </a:xfrm>
          <a:prstGeom prst="rect">
            <a:avLst/>
          </a:prstGeom>
          <a:noFill/>
        </p:spPr>
        <p:txBody>
          <a:bodyPr wrap="none" rtlCol="0">
            <a:spAutoFit/>
          </a:bodyPr>
          <a:lstStyle/>
          <a:p>
            <a:r>
              <a:rPr lang="en-US" sz="2400" dirty="0">
                <a:solidFill>
                  <a:srgbClr val="800000"/>
                </a:solidFill>
              </a:rPr>
              <a:t>0</a:t>
            </a:r>
          </a:p>
        </p:txBody>
      </p:sp>
      <p:cxnSp>
        <p:nvCxnSpPr>
          <p:cNvPr id="23" name="Curved Connector 22"/>
          <p:cNvCxnSpPr>
            <a:endCxn id="8" idx="5"/>
          </p:cNvCxnSpPr>
          <p:nvPr/>
        </p:nvCxnSpPr>
        <p:spPr>
          <a:xfrm flipV="1">
            <a:off x="7359298" y="4633240"/>
            <a:ext cx="1051178" cy="152398"/>
          </a:xfrm>
          <a:prstGeom prst="curvedConnector4">
            <a:avLst>
              <a:gd name="adj1" fmla="val -12479"/>
              <a:gd name="adj2" fmla="val -712208"/>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641557" y="5261827"/>
            <a:ext cx="340658" cy="461665"/>
          </a:xfrm>
          <a:prstGeom prst="rect">
            <a:avLst/>
          </a:prstGeom>
          <a:noFill/>
        </p:spPr>
        <p:txBody>
          <a:bodyPr wrap="none" rtlCol="0">
            <a:spAutoFit/>
          </a:bodyPr>
          <a:lstStyle/>
          <a:p>
            <a:r>
              <a:rPr lang="en-US" sz="2400" dirty="0">
                <a:solidFill>
                  <a:srgbClr val="800000"/>
                </a:solidFill>
              </a:rPr>
              <a:t>1</a:t>
            </a:r>
          </a:p>
        </p:txBody>
      </p:sp>
      <p:cxnSp>
        <p:nvCxnSpPr>
          <p:cNvPr id="30" name="Straight Arrow Connector 29"/>
          <p:cNvCxnSpPr>
            <a:endCxn id="5" idx="1"/>
          </p:cNvCxnSpPr>
          <p:nvPr/>
        </p:nvCxnSpPr>
        <p:spPr>
          <a:xfrm>
            <a:off x="308429" y="2801393"/>
            <a:ext cx="453910" cy="5350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4944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2-Bit Shift Register in NuSMV format</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solidFill>
                  <a:srgbClr val="0000FF"/>
                </a:solidFill>
                <a:latin typeface="Courier New"/>
                <a:cs typeface="Courier New"/>
              </a:rPr>
              <a:t>MODULE main </a:t>
            </a:r>
          </a:p>
          <a:p>
            <a:pPr marL="0" indent="0">
              <a:buNone/>
            </a:pPr>
            <a:r>
              <a:rPr lang="en-US" dirty="0">
                <a:solidFill>
                  <a:srgbClr val="0000FF"/>
                </a:solidFill>
                <a:latin typeface="Courier New"/>
                <a:cs typeface="Courier New"/>
              </a:rPr>
              <a:t>VAR</a:t>
            </a:r>
          </a:p>
          <a:p>
            <a:pPr marL="0" indent="0">
              <a:buNone/>
            </a:pPr>
            <a:r>
              <a:rPr lang="en-US" dirty="0">
                <a:solidFill>
                  <a:srgbClr val="0000FF"/>
                </a:solidFill>
                <a:latin typeface="Courier New"/>
                <a:cs typeface="Courier New"/>
              </a:rPr>
              <a:t>	Bit1 : </a:t>
            </a:r>
            <a:r>
              <a:rPr lang="en-US" dirty="0" err="1">
                <a:solidFill>
                  <a:srgbClr val="0000FF"/>
                </a:solidFill>
                <a:latin typeface="Courier New"/>
                <a:cs typeface="Courier New"/>
              </a:rPr>
              <a:t>boolean</a:t>
            </a:r>
            <a:r>
              <a:rPr lang="en-US" dirty="0">
                <a:solidFill>
                  <a:srgbClr val="0000FF"/>
                </a:solidFill>
                <a:latin typeface="Courier New"/>
                <a:cs typeface="Courier New"/>
              </a:rPr>
              <a:t>; -- Boolean </a:t>
            </a:r>
            <a:r>
              <a:rPr lang="en-US" dirty="0" err="1">
                <a:solidFill>
                  <a:srgbClr val="0000FF"/>
                </a:solidFill>
                <a:latin typeface="Courier New"/>
                <a:cs typeface="Courier New"/>
              </a:rPr>
              <a:t>var</a:t>
            </a:r>
            <a:r>
              <a:rPr lang="en-US" dirty="0">
                <a:solidFill>
                  <a:srgbClr val="0000FF"/>
                </a:solidFill>
                <a:latin typeface="Courier New"/>
                <a:cs typeface="Courier New"/>
              </a:rPr>
              <a:t> </a:t>
            </a:r>
          </a:p>
          <a:p>
            <a:pPr marL="0" indent="0">
              <a:buNone/>
            </a:pPr>
            <a:r>
              <a:rPr lang="en-US" dirty="0">
                <a:solidFill>
                  <a:srgbClr val="0000FF"/>
                </a:solidFill>
                <a:latin typeface="Courier New"/>
                <a:cs typeface="Courier New"/>
              </a:rPr>
              <a:t>	Bit2 : </a:t>
            </a:r>
            <a:r>
              <a:rPr lang="en-US" dirty="0" err="1">
                <a:solidFill>
                  <a:srgbClr val="0000FF"/>
                </a:solidFill>
                <a:latin typeface="Courier New"/>
                <a:cs typeface="Courier New"/>
              </a:rPr>
              <a:t>boolean</a:t>
            </a:r>
            <a:r>
              <a:rPr lang="en-US" dirty="0">
                <a:solidFill>
                  <a:srgbClr val="0000FF"/>
                </a:solidFill>
                <a:latin typeface="Courier New"/>
                <a:cs typeface="Courier New"/>
              </a:rPr>
              <a:t>; </a:t>
            </a:r>
          </a:p>
          <a:p>
            <a:pPr marL="0" indent="0">
              <a:buNone/>
            </a:pPr>
            <a:r>
              <a:rPr lang="en-US" dirty="0">
                <a:solidFill>
                  <a:srgbClr val="0000FF"/>
                </a:solidFill>
                <a:latin typeface="Courier New"/>
                <a:cs typeface="Courier New"/>
              </a:rPr>
              <a:t>	input : </a:t>
            </a:r>
            <a:r>
              <a:rPr lang="en-US" dirty="0" err="1">
                <a:solidFill>
                  <a:srgbClr val="0000FF"/>
                </a:solidFill>
                <a:latin typeface="Courier New"/>
                <a:cs typeface="Courier New"/>
              </a:rPr>
              <a:t>boolean</a:t>
            </a:r>
            <a:r>
              <a:rPr lang="en-US" dirty="0">
                <a:solidFill>
                  <a:srgbClr val="0000FF"/>
                </a:solidFill>
                <a:latin typeface="Courier New"/>
                <a:cs typeface="Courier New"/>
              </a:rPr>
              <a:t>; </a:t>
            </a:r>
          </a:p>
          <a:p>
            <a:pPr marL="0" indent="0">
              <a:buNone/>
            </a:pPr>
            <a:r>
              <a:rPr lang="en-US" dirty="0">
                <a:solidFill>
                  <a:srgbClr val="0000FF"/>
                </a:solidFill>
                <a:latin typeface="Courier New"/>
                <a:cs typeface="Courier New"/>
              </a:rPr>
              <a:t>	state	: {A, B, C, D}; -- scalar </a:t>
            </a:r>
            <a:r>
              <a:rPr lang="en-US" dirty="0" err="1">
                <a:solidFill>
                  <a:srgbClr val="0000FF"/>
                </a:solidFill>
                <a:latin typeface="Courier New"/>
                <a:cs typeface="Courier New"/>
              </a:rPr>
              <a:t>var</a:t>
            </a:r>
            <a:r>
              <a:rPr lang="en-US" dirty="0">
                <a:solidFill>
                  <a:srgbClr val="0000FF"/>
                </a:solidFill>
                <a:latin typeface="Courier New"/>
                <a:cs typeface="Courier New"/>
              </a:rPr>
              <a:t> variable</a:t>
            </a:r>
          </a:p>
          <a:p>
            <a:pPr marL="0" indent="0">
              <a:buNone/>
            </a:pPr>
            <a:r>
              <a:rPr lang="en-US" dirty="0">
                <a:solidFill>
                  <a:srgbClr val="0000FF"/>
                </a:solidFill>
                <a:latin typeface="Courier New"/>
                <a:cs typeface="Courier New"/>
              </a:rPr>
              <a:t>ASSIGN </a:t>
            </a:r>
          </a:p>
          <a:p>
            <a:pPr marL="0" indent="0">
              <a:buNone/>
            </a:pPr>
            <a:r>
              <a:rPr lang="en-US" dirty="0">
                <a:solidFill>
                  <a:srgbClr val="0000FF"/>
                </a:solidFill>
                <a:latin typeface="Courier New"/>
                <a:cs typeface="Courier New"/>
              </a:rPr>
              <a:t>	</a:t>
            </a:r>
            <a:r>
              <a:rPr lang="en-US" dirty="0" err="1">
                <a:solidFill>
                  <a:srgbClr val="0000FF"/>
                </a:solidFill>
                <a:latin typeface="Courier New"/>
                <a:cs typeface="Courier New"/>
              </a:rPr>
              <a:t>init</a:t>
            </a:r>
            <a:r>
              <a:rPr lang="en-US" dirty="0">
                <a:solidFill>
                  <a:srgbClr val="0000FF"/>
                </a:solidFill>
                <a:latin typeface="Courier New"/>
                <a:cs typeface="Courier New"/>
              </a:rPr>
              <a:t>(state) := A; </a:t>
            </a:r>
          </a:p>
          <a:p>
            <a:pPr marL="0" indent="0">
              <a:buNone/>
            </a:pPr>
            <a:r>
              <a:rPr lang="en-US" dirty="0">
                <a:solidFill>
                  <a:srgbClr val="0000FF"/>
                </a:solidFill>
                <a:latin typeface="Courier New"/>
                <a:cs typeface="Courier New"/>
              </a:rPr>
              <a:t>	</a:t>
            </a:r>
            <a:r>
              <a:rPr lang="en-US" dirty="0" err="1">
                <a:solidFill>
                  <a:srgbClr val="0000FF"/>
                </a:solidFill>
                <a:latin typeface="Courier New"/>
                <a:cs typeface="Courier New"/>
              </a:rPr>
              <a:t>init</a:t>
            </a:r>
            <a:r>
              <a:rPr lang="en-US" dirty="0">
                <a:solidFill>
                  <a:srgbClr val="0000FF"/>
                </a:solidFill>
                <a:latin typeface="Courier New"/>
                <a:cs typeface="Courier New"/>
              </a:rPr>
              <a:t>(Bit1) := FALSE; </a:t>
            </a:r>
          </a:p>
          <a:p>
            <a:pPr marL="0" indent="0">
              <a:buNone/>
            </a:pPr>
            <a:r>
              <a:rPr lang="en-US" dirty="0">
                <a:solidFill>
                  <a:srgbClr val="0000FF"/>
                </a:solidFill>
                <a:latin typeface="Courier New"/>
                <a:cs typeface="Courier New"/>
              </a:rPr>
              <a:t>	</a:t>
            </a:r>
            <a:r>
              <a:rPr lang="en-US" dirty="0" err="1">
                <a:solidFill>
                  <a:srgbClr val="0000FF"/>
                </a:solidFill>
                <a:latin typeface="Courier New"/>
                <a:cs typeface="Courier New"/>
              </a:rPr>
              <a:t>init</a:t>
            </a:r>
            <a:r>
              <a:rPr lang="en-US" dirty="0">
                <a:solidFill>
                  <a:srgbClr val="0000FF"/>
                </a:solidFill>
                <a:latin typeface="Courier New"/>
                <a:cs typeface="Courier New"/>
              </a:rPr>
              <a:t>(Bit2) := FALSE;  </a:t>
            </a:r>
          </a:p>
          <a:p>
            <a:pPr marL="0" indent="0">
              <a:buNone/>
            </a:pPr>
            <a:r>
              <a:rPr lang="en-US" dirty="0">
                <a:solidFill>
                  <a:srgbClr val="0000FF"/>
                </a:solidFill>
                <a:latin typeface="Courier New"/>
                <a:cs typeface="Courier New"/>
              </a:rPr>
              <a:t>	-- </a:t>
            </a:r>
            <a:r>
              <a:rPr lang="en-US" dirty="0" err="1">
                <a:solidFill>
                  <a:srgbClr val="0000FF"/>
                </a:solidFill>
                <a:latin typeface="Courier New"/>
                <a:cs typeface="Courier New"/>
              </a:rPr>
              <a:t>var</a:t>
            </a:r>
            <a:r>
              <a:rPr lang="en-US" dirty="0">
                <a:solidFill>
                  <a:srgbClr val="0000FF"/>
                </a:solidFill>
                <a:latin typeface="Courier New"/>
                <a:cs typeface="Courier New"/>
              </a:rPr>
              <a:t> “input” is </a:t>
            </a:r>
            <a:r>
              <a:rPr lang="en-US" dirty="0" err="1">
                <a:solidFill>
                  <a:srgbClr val="0000FF"/>
                </a:solidFill>
                <a:latin typeface="Courier New"/>
                <a:cs typeface="Courier New"/>
              </a:rPr>
              <a:t>uninitialised</a:t>
            </a:r>
            <a:r>
              <a:rPr lang="en-US" dirty="0">
                <a:solidFill>
                  <a:srgbClr val="0000FF"/>
                </a:solidFill>
                <a:latin typeface="Courier New"/>
                <a:cs typeface="Courier New"/>
              </a:rPr>
              <a:t>!</a:t>
            </a:r>
          </a:p>
        </p:txBody>
      </p:sp>
    </p:spTree>
    <p:extLst>
      <p:ext uri="{BB962C8B-B14F-4D97-AF65-F5344CB8AC3E}">
        <p14:creationId xmlns:p14="http://schemas.microsoft.com/office/powerpoint/2010/main" val="1759403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26144"/>
            <a:ext cx="8229600" cy="5600020"/>
          </a:xfrm>
        </p:spPr>
        <p:txBody>
          <a:bodyPr>
            <a:normAutofit fontScale="92500" lnSpcReduction="10000"/>
          </a:bodyPr>
          <a:lstStyle/>
          <a:p>
            <a:pPr marL="0" indent="0">
              <a:buNone/>
            </a:pPr>
            <a:r>
              <a:rPr lang="en-US" dirty="0">
                <a:solidFill>
                  <a:srgbClr val="0000FF"/>
                </a:solidFill>
                <a:latin typeface="Courier New"/>
                <a:cs typeface="Courier New"/>
              </a:rPr>
              <a:t>next(state) := case</a:t>
            </a:r>
          </a:p>
          <a:p>
            <a:pPr marL="0" indent="0">
              <a:buNone/>
            </a:pPr>
            <a:r>
              <a:rPr lang="en-US" dirty="0">
                <a:solidFill>
                  <a:srgbClr val="0000FF"/>
                </a:solidFill>
                <a:latin typeface="Courier New"/>
                <a:cs typeface="Courier New"/>
              </a:rPr>
              <a:t>	state = A &amp; input = TRUE : B;</a:t>
            </a:r>
          </a:p>
          <a:p>
            <a:pPr marL="0" indent="0">
              <a:buNone/>
            </a:pPr>
            <a:r>
              <a:rPr lang="en-US" dirty="0">
                <a:solidFill>
                  <a:srgbClr val="0000FF"/>
                </a:solidFill>
                <a:latin typeface="Courier New"/>
                <a:cs typeface="Courier New"/>
              </a:rPr>
              <a:t>	state = B &amp; input = FALSE : C;</a:t>
            </a:r>
          </a:p>
          <a:p>
            <a:pPr marL="0" indent="0">
              <a:buNone/>
            </a:pPr>
            <a:r>
              <a:rPr lang="en-US" dirty="0">
                <a:solidFill>
                  <a:srgbClr val="0000FF"/>
                </a:solidFill>
                <a:latin typeface="Courier New"/>
                <a:cs typeface="Courier New"/>
              </a:rPr>
              <a:t>	state = B &amp; input = TRUE : D;</a:t>
            </a:r>
          </a:p>
          <a:p>
            <a:pPr marL="0" indent="0">
              <a:buNone/>
            </a:pPr>
            <a:r>
              <a:rPr lang="en-US" dirty="0">
                <a:solidFill>
                  <a:srgbClr val="0000FF"/>
                </a:solidFill>
                <a:latin typeface="Courier New"/>
                <a:cs typeface="Courier New"/>
              </a:rPr>
              <a:t>	state = C &amp; input = FALSE : A;</a:t>
            </a:r>
          </a:p>
          <a:p>
            <a:pPr marL="0" indent="0">
              <a:buNone/>
            </a:pPr>
            <a:r>
              <a:rPr lang="en-US" dirty="0">
                <a:solidFill>
                  <a:srgbClr val="0000FF"/>
                </a:solidFill>
                <a:latin typeface="Courier New"/>
                <a:cs typeface="Courier New"/>
              </a:rPr>
              <a:t>	state = C &amp; input = TRUE : B;</a:t>
            </a:r>
          </a:p>
          <a:p>
            <a:pPr marL="0" indent="0">
              <a:buNone/>
            </a:pPr>
            <a:r>
              <a:rPr lang="en-US" dirty="0">
                <a:solidFill>
                  <a:srgbClr val="0000FF"/>
                </a:solidFill>
                <a:latin typeface="Courier New"/>
                <a:cs typeface="Courier New"/>
              </a:rPr>
              <a:t>	state = D &amp; input </a:t>
            </a:r>
            <a:r>
              <a:rPr lang="en-US">
                <a:solidFill>
                  <a:srgbClr val="0000FF"/>
                </a:solidFill>
                <a:latin typeface="Courier New"/>
                <a:cs typeface="Courier New"/>
              </a:rPr>
              <a:t>= FALSE </a:t>
            </a:r>
            <a:r>
              <a:rPr lang="en-US" dirty="0">
                <a:solidFill>
                  <a:srgbClr val="0000FF"/>
                </a:solidFill>
                <a:latin typeface="Courier New"/>
                <a:cs typeface="Courier New"/>
              </a:rPr>
              <a:t>: C;</a:t>
            </a:r>
          </a:p>
          <a:p>
            <a:pPr marL="0" indent="0">
              <a:buNone/>
            </a:pPr>
            <a:r>
              <a:rPr lang="en-US" dirty="0">
                <a:solidFill>
                  <a:srgbClr val="0000FF"/>
                </a:solidFill>
                <a:latin typeface="Courier New"/>
                <a:cs typeface="Courier New"/>
              </a:rPr>
              <a:t>	TRUE : state; -- why?</a:t>
            </a:r>
          </a:p>
          <a:p>
            <a:pPr marL="0" indent="0">
              <a:buNone/>
            </a:pPr>
            <a:r>
              <a:rPr lang="en-US" dirty="0" err="1">
                <a:solidFill>
                  <a:srgbClr val="0000FF"/>
                </a:solidFill>
                <a:latin typeface="Courier New"/>
                <a:cs typeface="Courier New"/>
              </a:rPr>
              <a:t>esac</a:t>
            </a:r>
            <a:r>
              <a:rPr lang="en-US" dirty="0">
                <a:solidFill>
                  <a:srgbClr val="0000FF"/>
                </a:solidFill>
                <a:latin typeface="Courier New"/>
                <a:cs typeface="Courier New"/>
              </a:rPr>
              <a:t>;</a:t>
            </a:r>
          </a:p>
          <a:p>
            <a:pPr marL="0" indent="0">
              <a:buNone/>
            </a:pPr>
            <a:r>
              <a:rPr lang="en-US" dirty="0">
                <a:latin typeface="Courier New"/>
                <a:cs typeface="Courier New"/>
              </a:rPr>
              <a:t>	</a:t>
            </a:r>
            <a:r>
              <a:rPr lang="en-US" dirty="0">
                <a:solidFill>
                  <a:srgbClr val="0000FF"/>
                </a:solidFill>
                <a:latin typeface="Courier New"/>
                <a:cs typeface="Courier New"/>
              </a:rPr>
              <a:t>next(Bit1) := case </a:t>
            </a:r>
            <a:r>
              <a:rPr lang="en-US" dirty="0">
                <a:solidFill>
                  <a:srgbClr val="FF0000"/>
                </a:solidFill>
                <a:latin typeface="Courier New"/>
                <a:cs typeface="Courier New"/>
              </a:rPr>
              <a:t>?? </a:t>
            </a:r>
            <a:r>
              <a:rPr lang="en-US" dirty="0" err="1">
                <a:solidFill>
                  <a:srgbClr val="0000FF"/>
                </a:solidFill>
                <a:latin typeface="Courier New"/>
                <a:cs typeface="Courier New"/>
              </a:rPr>
              <a:t>esac</a:t>
            </a:r>
            <a:r>
              <a:rPr lang="en-US" dirty="0">
                <a:solidFill>
                  <a:srgbClr val="0000FF"/>
                </a:solidFill>
                <a:latin typeface="Courier New"/>
                <a:cs typeface="Courier New"/>
              </a:rPr>
              <a:t>;</a:t>
            </a:r>
          </a:p>
          <a:p>
            <a:pPr marL="0" indent="0">
              <a:buNone/>
            </a:pPr>
            <a:r>
              <a:rPr lang="en-US" dirty="0">
                <a:latin typeface="Courier New"/>
                <a:cs typeface="Courier New"/>
              </a:rPr>
              <a:t>	</a:t>
            </a:r>
            <a:r>
              <a:rPr lang="en-US" dirty="0">
                <a:solidFill>
                  <a:srgbClr val="0000FF"/>
                </a:solidFill>
                <a:latin typeface="Courier New"/>
                <a:cs typeface="Courier New"/>
              </a:rPr>
              <a:t>next(Bit2) := case </a:t>
            </a:r>
            <a:r>
              <a:rPr lang="en-US" dirty="0">
                <a:solidFill>
                  <a:srgbClr val="FF0000"/>
                </a:solidFill>
                <a:latin typeface="Courier New"/>
                <a:cs typeface="Courier New"/>
              </a:rPr>
              <a:t>?? </a:t>
            </a:r>
            <a:r>
              <a:rPr lang="en-US" dirty="0" err="1">
                <a:solidFill>
                  <a:srgbClr val="0000FF"/>
                </a:solidFill>
                <a:latin typeface="Courier New"/>
                <a:cs typeface="Courier New"/>
              </a:rPr>
              <a:t>esac</a:t>
            </a:r>
            <a:r>
              <a:rPr lang="en-US" dirty="0">
                <a:solidFill>
                  <a:srgbClr val="0000FF"/>
                </a:solidFill>
                <a:latin typeface="Courier New"/>
                <a:cs typeface="Courier New"/>
              </a:rPr>
              <a:t>;</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666104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Propositional Linear Temporal Logic PLTL in NuSMV syntax</a:t>
            </a:r>
          </a:p>
        </p:txBody>
      </p:sp>
      <p:sp>
        <p:nvSpPr>
          <p:cNvPr id="3" name="Content Placeholder 2"/>
          <p:cNvSpPr>
            <a:spLocks noGrp="1"/>
          </p:cNvSpPr>
          <p:nvPr>
            <p:ph idx="1"/>
          </p:nvPr>
        </p:nvSpPr>
        <p:spPr>
          <a:xfrm>
            <a:off x="457200" y="1600200"/>
            <a:ext cx="8432800" cy="4677229"/>
          </a:xfrm>
        </p:spPr>
        <p:txBody>
          <a:bodyPr>
            <a:normAutofit fontScale="77500" lnSpcReduction="20000"/>
          </a:bodyPr>
          <a:lstStyle/>
          <a:p>
            <a:r>
              <a:rPr lang="en-US" dirty="0"/>
              <a:t>Simple temporal logic to express automaton requirements</a:t>
            </a:r>
          </a:p>
          <a:p>
            <a:r>
              <a:rPr lang="en-US" dirty="0"/>
              <a:t>Requirements are statements about all possible simulations</a:t>
            </a:r>
          </a:p>
          <a:p>
            <a:r>
              <a:rPr lang="en-US" dirty="0"/>
              <a:t>Boolean variables </a:t>
            </a:r>
          </a:p>
          <a:p>
            <a:r>
              <a:rPr lang="en-US" dirty="0">
                <a:solidFill>
                  <a:srgbClr val="0000FF"/>
                </a:solidFill>
                <a:latin typeface="Courier New"/>
                <a:cs typeface="Courier New"/>
              </a:rPr>
              <a:t>A, B, …, X, Y, .. </a:t>
            </a:r>
            <a:r>
              <a:rPr lang="en-US" dirty="0" err="1">
                <a:solidFill>
                  <a:srgbClr val="0000FF"/>
                </a:solidFill>
                <a:latin typeface="Courier New"/>
                <a:cs typeface="Courier New"/>
              </a:rPr>
              <a:t>MyVar</a:t>
            </a:r>
            <a:r>
              <a:rPr lang="en-US" dirty="0"/>
              <a:t>, etc.</a:t>
            </a:r>
          </a:p>
          <a:p>
            <a:r>
              <a:rPr lang="en-US" dirty="0"/>
              <a:t>Boolean operators </a:t>
            </a:r>
          </a:p>
          <a:p>
            <a:r>
              <a:rPr lang="en-US" dirty="0">
                <a:solidFill>
                  <a:srgbClr val="0000FF"/>
                </a:solidFill>
                <a:latin typeface="Courier New"/>
                <a:cs typeface="Courier New"/>
              </a:rPr>
              <a:t>!</a:t>
            </a:r>
            <a:r>
              <a:rPr lang="en-US" dirty="0" err="1">
                <a:solidFill>
                  <a:srgbClr val="0000FF"/>
                </a:solidFill>
                <a:latin typeface="Courier New"/>
                <a:cs typeface="Courier New"/>
              </a:rPr>
              <a:t>ϕ</a:t>
            </a:r>
            <a:r>
              <a:rPr lang="en-US" dirty="0">
                <a:solidFill>
                  <a:srgbClr val="0000FF"/>
                </a:solidFill>
                <a:latin typeface="Courier New"/>
                <a:cs typeface="Courier New"/>
              </a:rPr>
              <a:t>, (</a:t>
            </a:r>
            <a:r>
              <a:rPr lang="en-US" dirty="0" err="1">
                <a:solidFill>
                  <a:srgbClr val="0000FF"/>
                </a:solidFill>
                <a:latin typeface="Courier New"/>
                <a:cs typeface="Courier New"/>
              </a:rPr>
              <a:t>ϕ</a:t>
            </a:r>
            <a:r>
              <a:rPr lang="en-US" dirty="0">
                <a:solidFill>
                  <a:srgbClr val="0000FF"/>
                </a:solidFill>
                <a:latin typeface="Courier New"/>
                <a:cs typeface="Courier New"/>
              </a:rPr>
              <a:t> &amp; </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err="1">
                <a:solidFill>
                  <a:srgbClr val="0000FF"/>
                </a:solidFill>
                <a:latin typeface="Courier New"/>
                <a:cs typeface="Courier New"/>
              </a:rPr>
              <a:t>ϕ</a:t>
            </a:r>
            <a:r>
              <a:rPr lang="en-US" dirty="0">
                <a:solidFill>
                  <a:srgbClr val="0000FF"/>
                </a:solidFill>
                <a:latin typeface="Courier New"/>
                <a:cs typeface="Courier New"/>
              </a:rPr>
              <a:t> </a:t>
            </a:r>
            <a:r>
              <a:rPr lang="en-US" dirty="0">
                <a:solidFill>
                  <a:srgbClr val="0000FF"/>
                </a:solidFill>
                <a:sym typeface="Symbol"/>
              </a:rPr>
              <a:t> </a:t>
            </a:r>
            <a:r>
              <a:rPr lang="en-US" dirty="0" err="1">
                <a:solidFill>
                  <a:srgbClr val="0000FF"/>
                </a:solidFill>
                <a:sym typeface="Symbol"/>
              </a:rPr>
              <a:t>ϕ</a:t>
            </a:r>
            <a:r>
              <a:rPr lang="en-US" dirty="0">
                <a:solidFill>
                  <a:srgbClr val="0000FF"/>
                </a:solidFill>
                <a:sym typeface="Symbol"/>
              </a:rPr>
              <a:t>) , </a:t>
            </a:r>
            <a:r>
              <a:rPr lang="en-US" dirty="0">
                <a:solidFill>
                  <a:srgbClr val="0000FF"/>
                </a:solidFill>
                <a:latin typeface="Courier New"/>
                <a:cs typeface="Courier New"/>
              </a:rPr>
              <a:t>(</a:t>
            </a:r>
            <a:r>
              <a:rPr lang="en-US" dirty="0" err="1">
                <a:solidFill>
                  <a:srgbClr val="0000FF"/>
                </a:solidFill>
                <a:latin typeface="Courier New"/>
                <a:cs typeface="Courier New"/>
              </a:rPr>
              <a:t>ϕ</a:t>
            </a:r>
            <a:r>
              <a:rPr lang="en-US" dirty="0">
                <a:solidFill>
                  <a:srgbClr val="0000FF"/>
                </a:solidFill>
                <a:latin typeface="Courier New"/>
                <a:cs typeface="Courier New"/>
              </a:rPr>
              <a:t> </a:t>
            </a:r>
            <a:r>
              <a:rPr lang="en-US" dirty="0">
                <a:solidFill>
                  <a:srgbClr val="0000FF"/>
                </a:solidFill>
                <a:sym typeface="Symbol"/>
              </a:rPr>
              <a:t>-&gt;  </a:t>
            </a:r>
            <a:r>
              <a:rPr lang="en-US" dirty="0" err="1">
                <a:solidFill>
                  <a:srgbClr val="0000FF"/>
                </a:solidFill>
                <a:sym typeface="Symbol"/>
              </a:rPr>
              <a:t>ϕ</a:t>
            </a:r>
            <a:r>
              <a:rPr lang="en-US" dirty="0">
                <a:solidFill>
                  <a:srgbClr val="0000FF"/>
                </a:solidFill>
                <a:sym typeface="Symbol"/>
              </a:rPr>
              <a:t>)  </a:t>
            </a:r>
            <a:r>
              <a:rPr lang="en-US" dirty="0">
                <a:sym typeface="Symbol"/>
              </a:rPr>
              <a:t>,…</a:t>
            </a:r>
            <a:endParaRPr lang="en-US" dirty="0"/>
          </a:p>
          <a:p>
            <a:r>
              <a:rPr lang="en-US" dirty="0">
                <a:latin typeface="+mj-lt"/>
                <a:cs typeface="Courier New"/>
              </a:rPr>
              <a:t>LTL operators</a:t>
            </a:r>
          </a:p>
          <a:p>
            <a:r>
              <a:rPr lang="en-US" dirty="0" err="1">
                <a:solidFill>
                  <a:srgbClr val="0000FF"/>
                </a:solidFill>
                <a:latin typeface="Courier New"/>
                <a:cs typeface="Courier New"/>
              </a:rPr>
              <a:t>Fϕ</a:t>
            </a:r>
            <a:r>
              <a:rPr lang="en-US" dirty="0">
                <a:latin typeface="+mj-lt"/>
                <a:cs typeface="Courier New"/>
              </a:rPr>
              <a:t> (sometime in the future </a:t>
            </a:r>
            <a:r>
              <a:rPr lang="en-US" dirty="0" err="1">
                <a:solidFill>
                  <a:srgbClr val="0000FF"/>
                </a:solidFill>
                <a:cs typeface="Courier New"/>
              </a:rPr>
              <a:t>ϕ</a:t>
            </a:r>
            <a:r>
              <a:rPr lang="en-US" dirty="0">
                <a:cs typeface="Courier New"/>
              </a:rPr>
              <a:t>)</a:t>
            </a:r>
          </a:p>
          <a:p>
            <a:r>
              <a:rPr lang="en-US" dirty="0" err="1">
                <a:solidFill>
                  <a:srgbClr val="0000FF"/>
                </a:solidFill>
                <a:latin typeface="Courier New"/>
                <a:cs typeface="Courier New"/>
              </a:rPr>
              <a:t>Gϕ</a:t>
            </a:r>
            <a:r>
              <a:rPr lang="en-US" dirty="0">
                <a:latin typeface="+mj-lt"/>
                <a:cs typeface="Courier New"/>
              </a:rPr>
              <a:t> (always in the future </a:t>
            </a:r>
            <a:r>
              <a:rPr lang="en-US" dirty="0" err="1">
                <a:solidFill>
                  <a:srgbClr val="0000FF"/>
                </a:solidFill>
                <a:latin typeface="+mj-lt"/>
                <a:cs typeface="Courier New"/>
              </a:rPr>
              <a:t>ϕ</a:t>
            </a:r>
            <a:r>
              <a:rPr lang="en-US" dirty="0">
                <a:latin typeface="+mj-lt"/>
                <a:cs typeface="Courier New"/>
              </a:rPr>
              <a:t>) </a:t>
            </a:r>
          </a:p>
          <a:p>
            <a:r>
              <a:rPr lang="en-US" dirty="0" err="1">
                <a:solidFill>
                  <a:srgbClr val="0000FF"/>
                </a:solidFill>
                <a:latin typeface="Courier New"/>
                <a:cs typeface="Courier New"/>
              </a:rPr>
              <a:t>ϕ</a:t>
            </a:r>
            <a:r>
              <a:rPr lang="en-US" dirty="0">
                <a:solidFill>
                  <a:srgbClr val="0000FF"/>
                </a:solidFill>
                <a:latin typeface="Courier New"/>
                <a:cs typeface="Courier New"/>
              </a:rPr>
              <a:t> U </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a:latin typeface="+mj-lt"/>
                <a:cs typeface="Courier New"/>
              </a:rPr>
              <a:t>(</a:t>
            </a:r>
            <a:r>
              <a:rPr lang="en-US" dirty="0" err="1">
                <a:solidFill>
                  <a:srgbClr val="0000FF"/>
                </a:solidFill>
                <a:cs typeface="Courier New"/>
              </a:rPr>
              <a:t>φ</a:t>
            </a:r>
            <a:r>
              <a:rPr lang="en-US" dirty="0">
                <a:latin typeface="+mj-lt"/>
                <a:cs typeface="Courier New"/>
              </a:rPr>
              <a:t> holds until </a:t>
            </a:r>
            <a:r>
              <a:rPr lang="en-US" dirty="0" err="1">
                <a:solidFill>
                  <a:srgbClr val="0000FF"/>
                </a:solidFill>
                <a:cs typeface="Courier New"/>
              </a:rPr>
              <a:t>ϕ</a:t>
            </a:r>
            <a:r>
              <a:rPr lang="en-US" dirty="0">
                <a:solidFill>
                  <a:srgbClr val="0000FF"/>
                </a:solidFill>
                <a:cs typeface="Courier New"/>
              </a:rPr>
              <a:t> </a:t>
            </a:r>
            <a:r>
              <a:rPr lang="en-US" dirty="0">
                <a:latin typeface="+mj-lt"/>
                <a:cs typeface="Courier New"/>
              </a:rPr>
              <a:t>holds) </a:t>
            </a:r>
          </a:p>
          <a:p>
            <a:r>
              <a:rPr lang="en-US" dirty="0" err="1">
                <a:solidFill>
                  <a:srgbClr val="0000FF"/>
                </a:solidFill>
                <a:latin typeface="Courier New"/>
                <a:cs typeface="Courier New"/>
              </a:rPr>
              <a:t>Xϕ</a:t>
            </a:r>
            <a:r>
              <a:rPr lang="en-US" dirty="0">
                <a:latin typeface="+mj-lt"/>
                <a:cs typeface="Courier New"/>
              </a:rPr>
              <a:t> (next step </a:t>
            </a:r>
            <a:r>
              <a:rPr lang="en-US" dirty="0" err="1">
                <a:solidFill>
                  <a:srgbClr val="0000FF"/>
                </a:solidFill>
                <a:latin typeface="+mj-lt"/>
                <a:cs typeface="Courier New"/>
              </a:rPr>
              <a:t>ϕ</a:t>
            </a:r>
            <a:r>
              <a:rPr lang="en-US" dirty="0">
                <a:latin typeface="+mj-lt"/>
                <a:cs typeface="Courier New"/>
              </a:rPr>
              <a:t> holds)</a:t>
            </a:r>
          </a:p>
          <a:p>
            <a:r>
              <a:rPr lang="en-US" dirty="0">
                <a:latin typeface="+mj-lt"/>
                <a:cs typeface="Courier New"/>
              </a:rPr>
              <a:t>Write </a:t>
            </a:r>
            <a:r>
              <a:rPr lang="en-US" dirty="0" err="1">
                <a:solidFill>
                  <a:srgbClr val="0000FF"/>
                </a:solidFill>
                <a:latin typeface="+mj-lt"/>
                <a:cs typeface="Courier New"/>
              </a:rPr>
              <a:t>X</a:t>
            </a:r>
            <a:r>
              <a:rPr lang="en-US" baseline="30000" dirty="0" err="1">
                <a:solidFill>
                  <a:srgbClr val="0000FF"/>
                </a:solidFill>
                <a:latin typeface="+mj-lt"/>
                <a:cs typeface="Courier New"/>
              </a:rPr>
              <a:t>n</a:t>
            </a:r>
            <a:r>
              <a:rPr lang="en-US" dirty="0" err="1">
                <a:solidFill>
                  <a:srgbClr val="0000FF"/>
                </a:solidFill>
                <a:latin typeface="Courier New"/>
                <a:cs typeface="Courier New"/>
              </a:rPr>
              <a:t>ϕ</a:t>
            </a:r>
            <a:r>
              <a:rPr lang="en-US" dirty="0">
                <a:latin typeface="+mj-lt"/>
                <a:cs typeface="Courier New"/>
              </a:rPr>
              <a:t> for </a:t>
            </a:r>
            <a:r>
              <a:rPr lang="en-US" dirty="0">
                <a:solidFill>
                  <a:srgbClr val="0000FF"/>
                </a:solidFill>
                <a:latin typeface="+mj-lt"/>
                <a:cs typeface="Courier New"/>
              </a:rPr>
              <a:t>X X … </a:t>
            </a:r>
            <a:r>
              <a:rPr lang="en-US" dirty="0" err="1">
                <a:solidFill>
                  <a:srgbClr val="0000FF"/>
                </a:solidFill>
                <a:latin typeface="+mj-lt"/>
                <a:cs typeface="Courier New"/>
              </a:rPr>
              <a:t>X</a:t>
            </a:r>
            <a:r>
              <a:rPr lang="en-US" dirty="0" err="1">
                <a:solidFill>
                  <a:srgbClr val="0000FF"/>
                </a:solidFill>
                <a:latin typeface="Courier New"/>
                <a:cs typeface="Courier New"/>
              </a:rPr>
              <a:t>ϕ</a:t>
            </a:r>
            <a:r>
              <a:rPr lang="en-US" dirty="0">
                <a:solidFill>
                  <a:srgbClr val="0000FF"/>
                </a:solidFill>
                <a:latin typeface="Courier New"/>
                <a:cs typeface="Courier New"/>
              </a:rPr>
              <a:t> </a:t>
            </a:r>
            <a:r>
              <a:rPr lang="en-US" dirty="0">
                <a:solidFill>
                  <a:srgbClr val="0000FF"/>
                </a:solidFill>
                <a:cs typeface="Courier New"/>
              </a:rPr>
              <a:t>(n times)</a:t>
            </a:r>
            <a:r>
              <a:rPr lang="en-US" dirty="0">
                <a:cs typeface="Courier New"/>
              </a:rPr>
              <a:t> </a:t>
            </a:r>
          </a:p>
        </p:txBody>
      </p:sp>
    </p:spTree>
    <p:extLst>
      <p:ext uri="{BB962C8B-B14F-4D97-AF65-F5344CB8AC3E}">
        <p14:creationId xmlns:p14="http://schemas.microsoft.com/office/powerpoint/2010/main" val="1252313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a:xfrm>
            <a:off x="457200" y="1600200"/>
            <a:ext cx="8229600" cy="4839447"/>
          </a:xfrm>
        </p:spPr>
        <p:txBody>
          <a:bodyPr>
            <a:normAutofit fontScale="85000" lnSpcReduction="10000"/>
          </a:bodyPr>
          <a:lstStyle/>
          <a:p>
            <a:pPr marL="0" indent="0">
              <a:buNone/>
            </a:pPr>
            <a:r>
              <a:rPr lang="en-US" dirty="0"/>
              <a:t>Today is Wednesday</a:t>
            </a:r>
          </a:p>
          <a:p>
            <a:pPr marL="0" indent="0">
              <a:buNone/>
            </a:pPr>
            <a:r>
              <a:rPr lang="en-US" dirty="0"/>
              <a:t>	</a:t>
            </a:r>
            <a:r>
              <a:rPr lang="en-US" dirty="0">
                <a:solidFill>
                  <a:srgbClr val="0000FF"/>
                </a:solidFill>
              </a:rPr>
              <a:t>Wednesday</a:t>
            </a:r>
          </a:p>
          <a:p>
            <a:pPr marL="0" indent="0">
              <a:buNone/>
            </a:pPr>
            <a:r>
              <a:rPr lang="en-US" dirty="0"/>
              <a:t>Tomorrow is Wednesday</a:t>
            </a:r>
          </a:p>
          <a:p>
            <a:pPr marL="0" indent="0">
              <a:buNone/>
            </a:pPr>
            <a:r>
              <a:rPr lang="en-US" dirty="0"/>
              <a:t>	</a:t>
            </a:r>
            <a:r>
              <a:rPr lang="en-US" dirty="0">
                <a:solidFill>
                  <a:srgbClr val="0000FF"/>
                </a:solidFill>
              </a:rPr>
              <a:t>X Wednesday</a:t>
            </a:r>
          </a:p>
          <a:p>
            <a:pPr marL="0" indent="0">
              <a:buNone/>
            </a:pPr>
            <a:r>
              <a:rPr lang="en-US" dirty="0"/>
              <a:t>(A) Thursday (always) </a:t>
            </a:r>
            <a:r>
              <a:rPr lang="en-US" u="sng" dirty="0"/>
              <a:t>immediately</a:t>
            </a:r>
            <a:r>
              <a:rPr lang="en-US" dirty="0"/>
              <a:t> follows (a) Wednesday</a:t>
            </a:r>
          </a:p>
          <a:p>
            <a:pPr marL="0" indent="0">
              <a:buNone/>
            </a:pPr>
            <a:r>
              <a:rPr lang="en-US" dirty="0"/>
              <a:t>	</a:t>
            </a:r>
            <a:r>
              <a:rPr lang="en-US" dirty="0">
                <a:solidFill>
                  <a:srgbClr val="0000FF"/>
                </a:solidFill>
              </a:rPr>
              <a:t>G( Wednesday -&gt; X Thursday )</a:t>
            </a:r>
          </a:p>
          <a:p>
            <a:pPr marL="0" indent="0">
              <a:buNone/>
            </a:pPr>
            <a:r>
              <a:rPr lang="en-US" dirty="0"/>
              <a:t>(A) Saturday (always) follows (a) Wednesday</a:t>
            </a:r>
          </a:p>
          <a:p>
            <a:pPr marL="0" indent="0">
              <a:buNone/>
            </a:pPr>
            <a:r>
              <a:rPr lang="en-US" dirty="0"/>
              <a:t>	</a:t>
            </a:r>
            <a:r>
              <a:rPr lang="en-US" dirty="0">
                <a:solidFill>
                  <a:srgbClr val="0000FF"/>
                </a:solidFill>
              </a:rPr>
              <a:t>G( Wednesday -&gt; F( Saturday ) )</a:t>
            </a:r>
          </a:p>
          <a:p>
            <a:pPr marL="0" indent="0">
              <a:buNone/>
            </a:pPr>
            <a:r>
              <a:rPr lang="en-US" dirty="0"/>
              <a:t>Yesterday was (a) Wednesday</a:t>
            </a:r>
          </a:p>
          <a:p>
            <a:pPr marL="0" indent="0">
              <a:buNone/>
            </a:pPr>
            <a:r>
              <a:rPr lang="en-US" dirty="0"/>
              <a:t>	</a:t>
            </a:r>
            <a:r>
              <a:rPr lang="en-US" dirty="0">
                <a:solidFill>
                  <a:srgbClr val="0000FF"/>
                </a:solidFill>
              </a:rPr>
              <a:t>G( Wednesday -&gt; X Thursday) &amp; Thursday</a:t>
            </a:r>
          </a:p>
        </p:txBody>
      </p:sp>
    </p:spTree>
    <p:extLst>
      <p:ext uri="{BB962C8B-B14F-4D97-AF65-F5344CB8AC3E}">
        <p14:creationId xmlns:p14="http://schemas.microsoft.com/office/powerpoint/2010/main" val="47404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Useful Logical Identities for LTL</a:t>
            </a:r>
          </a:p>
        </p:txBody>
      </p:sp>
      <p:sp>
        <p:nvSpPr>
          <p:cNvPr id="3" name="Content Placeholder 2"/>
          <p:cNvSpPr>
            <a:spLocks noGrp="1"/>
          </p:cNvSpPr>
          <p:nvPr>
            <p:ph idx="1"/>
          </p:nvPr>
        </p:nvSpPr>
        <p:spPr/>
        <p:txBody>
          <a:bodyPr>
            <a:normAutofit fontScale="62500" lnSpcReduction="20000"/>
          </a:bodyPr>
          <a:lstStyle/>
          <a:p>
            <a:r>
              <a:rPr lang="en-US" dirty="0"/>
              <a:t>Boolean identities</a:t>
            </a:r>
          </a:p>
          <a:p>
            <a:pPr marL="0" indent="0">
              <a:buNone/>
            </a:pPr>
            <a:r>
              <a:rPr lang="en-US" dirty="0"/>
              <a:t>	</a:t>
            </a:r>
            <a:r>
              <a:rPr lang="en-US" dirty="0">
                <a:solidFill>
                  <a:srgbClr val="0000FF"/>
                </a:solidFill>
                <a:latin typeface="Courier New"/>
                <a:cs typeface="Courier New"/>
              </a:rPr>
              <a:t>!!</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a:solidFill>
                  <a:srgbClr val="0000FF"/>
                </a:solidFill>
                <a:latin typeface="Courier New"/>
                <a:cs typeface="Courier New"/>
                <a:sym typeface="Symbol"/>
              </a:rPr>
              <a:t> </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err="1">
                <a:solidFill>
                  <a:srgbClr val="0000FF"/>
                </a:solidFill>
                <a:latin typeface="Courier New"/>
                <a:cs typeface="Courier New"/>
              </a:rPr>
              <a:t>ϕ</a:t>
            </a:r>
            <a:r>
              <a:rPr lang="en-US" dirty="0">
                <a:solidFill>
                  <a:srgbClr val="0000FF"/>
                </a:solidFill>
                <a:latin typeface="Courier New"/>
                <a:cs typeface="Courier New"/>
              </a:rPr>
              <a:t> </a:t>
            </a:r>
            <a:r>
              <a:rPr lang="en-US" dirty="0">
                <a:solidFill>
                  <a:srgbClr val="0000FF"/>
                </a:solidFill>
                <a:latin typeface="Courier New"/>
                <a:cs typeface="Courier New"/>
                <a:sym typeface="Symbol"/>
              </a:rPr>
              <a:t> </a:t>
            </a:r>
            <a:r>
              <a:rPr lang="en-US" dirty="0" err="1">
                <a:solidFill>
                  <a:srgbClr val="0000FF"/>
                </a:solidFill>
                <a:latin typeface="Courier New"/>
                <a:cs typeface="Courier New"/>
                <a:sym typeface="Symbol"/>
              </a:rPr>
              <a:t>φ</a:t>
            </a:r>
            <a:r>
              <a:rPr lang="en-US" dirty="0">
                <a:solidFill>
                  <a:srgbClr val="0000FF"/>
                </a:solidFill>
                <a:latin typeface="Courier New"/>
                <a:cs typeface="Courier New"/>
              </a:rPr>
              <a:t>)</a:t>
            </a:r>
            <a:r>
              <a:rPr lang="en-US" dirty="0">
                <a:solidFill>
                  <a:srgbClr val="0000FF"/>
                </a:solidFill>
                <a:latin typeface="Courier New"/>
                <a:cs typeface="Courier New"/>
                <a:sym typeface="Symbol"/>
              </a:rPr>
              <a:t> </a:t>
            </a:r>
            <a:r>
              <a:rPr lang="en-US" dirty="0">
                <a:solidFill>
                  <a:srgbClr val="0000FF"/>
                </a:solidFill>
                <a:latin typeface="Courier New"/>
                <a:cs typeface="Courier New"/>
              </a:rPr>
              <a:t>(!</a:t>
            </a:r>
            <a:r>
              <a:rPr lang="en-US" dirty="0" err="1">
                <a:solidFill>
                  <a:srgbClr val="0000FF"/>
                </a:solidFill>
                <a:latin typeface="Courier New"/>
                <a:cs typeface="Courier New"/>
              </a:rPr>
              <a:t>ϕ</a:t>
            </a:r>
            <a:r>
              <a:rPr lang="en-US" dirty="0">
                <a:solidFill>
                  <a:srgbClr val="0000FF"/>
                </a:solidFill>
                <a:latin typeface="Courier New"/>
                <a:cs typeface="Courier New"/>
              </a:rPr>
              <a:t> </a:t>
            </a:r>
            <a:r>
              <a:rPr lang="en-US" dirty="0">
                <a:solidFill>
                  <a:srgbClr val="0000FF"/>
                </a:solidFill>
                <a:latin typeface="Courier New"/>
                <a:cs typeface="Courier New"/>
                <a:sym typeface="Symbol"/>
              </a:rPr>
              <a:t>&amp; !</a:t>
            </a:r>
            <a:r>
              <a:rPr lang="en-US" dirty="0" err="1">
                <a:solidFill>
                  <a:srgbClr val="0000FF"/>
                </a:solidFill>
                <a:latin typeface="Courier New"/>
                <a:cs typeface="Courier New"/>
                <a:sym typeface="Symbol"/>
              </a:rPr>
              <a:t>φ</a:t>
            </a:r>
            <a:r>
              <a:rPr lang="en-US" dirty="0">
                <a:solidFill>
                  <a:srgbClr val="0000FF"/>
                </a:solidFill>
                <a:latin typeface="Courier New"/>
                <a:cs typeface="Courier New"/>
              </a:rPr>
              <a:t>)</a:t>
            </a:r>
            <a:r>
              <a:rPr lang="en-US" dirty="0">
                <a:solidFill>
                  <a:srgbClr val="0000FF"/>
                </a:solidFill>
                <a:latin typeface="Courier New"/>
                <a:cs typeface="Courier New"/>
                <a:sym typeface="Symbol"/>
              </a:rPr>
              <a:t> </a:t>
            </a:r>
            <a:r>
              <a:rPr lang="en-US" dirty="0">
                <a:sym typeface="Symbol"/>
              </a:rPr>
              <a:t>, </a:t>
            </a:r>
          </a:p>
          <a:p>
            <a:pPr marL="0" indent="0">
              <a:buNone/>
            </a:pPr>
            <a:r>
              <a:rPr lang="en-US" dirty="0">
                <a:solidFill>
                  <a:srgbClr val="0000FF"/>
                </a:solidFill>
                <a:latin typeface="Courier New"/>
                <a:cs typeface="Courier New"/>
              </a:rPr>
              <a:t>	(</a:t>
            </a:r>
            <a:r>
              <a:rPr lang="en-US" dirty="0" err="1">
                <a:solidFill>
                  <a:srgbClr val="0000FF"/>
                </a:solidFill>
                <a:latin typeface="Courier New"/>
                <a:cs typeface="Courier New"/>
              </a:rPr>
              <a:t>ϕ</a:t>
            </a:r>
            <a:r>
              <a:rPr lang="en-US" dirty="0">
                <a:solidFill>
                  <a:srgbClr val="0000FF"/>
                </a:solidFill>
                <a:latin typeface="Courier New"/>
                <a:cs typeface="Courier New"/>
              </a:rPr>
              <a:t> </a:t>
            </a:r>
            <a:r>
              <a:rPr lang="en-US" dirty="0">
                <a:solidFill>
                  <a:srgbClr val="0000FF"/>
                </a:solidFill>
                <a:latin typeface="Courier New"/>
                <a:cs typeface="Courier New"/>
                <a:sym typeface="Symbol"/>
              </a:rPr>
              <a:t>-&gt; </a:t>
            </a:r>
            <a:r>
              <a:rPr lang="en-US" dirty="0" err="1">
                <a:solidFill>
                  <a:srgbClr val="0000FF"/>
                </a:solidFill>
                <a:latin typeface="Courier New"/>
                <a:cs typeface="Courier New"/>
                <a:sym typeface="Symbol"/>
              </a:rPr>
              <a:t>φ</a:t>
            </a:r>
            <a:r>
              <a:rPr lang="en-US" dirty="0">
                <a:solidFill>
                  <a:srgbClr val="0000FF"/>
                </a:solidFill>
                <a:latin typeface="Courier New"/>
                <a:cs typeface="Courier New"/>
              </a:rPr>
              <a:t>)</a:t>
            </a:r>
            <a:r>
              <a:rPr lang="en-US" dirty="0">
                <a:solidFill>
                  <a:srgbClr val="0000FF"/>
                </a:solidFill>
                <a:latin typeface="Courier New"/>
                <a:cs typeface="Courier New"/>
                <a:sym typeface="Symbol"/>
              </a:rPr>
              <a:t> </a:t>
            </a:r>
            <a:r>
              <a:rPr lang="en-US" dirty="0">
                <a:solidFill>
                  <a:srgbClr val="0000FF"/>
                </a:solidFill>
                <a:latin typeface="Courier New"/>
                <a:cs typeface="Courier New"/>
              </a:rPr>
              <a:t>(!</a:t>
            </a:r>
            <a:r>
              <a:rPr lang="en-US" dirty="0" err="1">
                <a:solidFill>
                  <a:srgbClr val="0000FF"/>
                </a:solidFill>
                <a:latin typeface="Courier New"/>
                <a:cs typeface="Courier New"/>
              </a:rPr>
              <a:t>ϕ</a:t>
            </a:r>
            <a:r>
              <a:rPr lang="en-US" dirty="0">
                <a:solidFill>
                  <a:srgbClr val="0000FF"/>
                </a:solidFill>
                <a:latin typeface="Courier New"/>
                <a:cs typeface="Courier New"/>
              </a:rPr>
              <a:t> </a:t>
            </a:r>
            <a:r>
              <a:rPr lang="en-US" dirty="0">
                <a:solidFill>
                  <a:srgbClr val="0000FF"/>
                </a:solidFill>
                <a:latin typeface="Courier New"/>
                <a:cs typeface="Courier New"/>
                <a:sym typeface="Symbol"/>
              </a:rPr>
              <a:t> </a:t>
            </a:r>
            <a:r>
              <a:rPr lang="en-US" dirty="0" err="1">
                <a:solidFill>
                  <a:srgbClr val="0000FF"/>
                </a:solidFill>
                <a:latin typeface="Courier New"/>
                <a:cs typeface="Courier New"/>
                <a:sym typeface="Symbol"/>
              </a:rPr>
              <a:t>φ</a:t>
            </a:r>
            <a:r>
              <a:rPr lang="en-US" dirty="0">
                <a:solidFill>
                  <a:srgbClr val="0000FF"/>
                </a:solidFill>
                <a:latin typeface="Courier New"/>
                <a:cs typeface="Courier New"/>
              </a:rPr>
              <a:t>)</a:t>
            </a:r>
            <a:r>
              <a:rPr lang="en-US" dirty="0">
                <a:solidFill>
                  <a:srgbClr val="0000FF"/>
                </a:solidFill>
                <a:latin typeface="Courier New"/>
                <a:cs typeface="Courier New"/>
                <a:sym typeface="Symbol"/>
              </a:rPr>
              <a:t> </a:t>
            </a:r>
            <a:r>
              <a:rPr lang="en-US" dirty="0">
                <a:sym typeface="Symbol"/>
              </a:rPr>
              <a:t>etc.</a:t>
            </a:r>
          </a:p>
          <a:p>
            <a:r>
              <a:rPr lang="en-US" dirty="0">
                <a:sym typeface="Symbol"/>
              </a:rPr>
              <a:t>LTL identities</a:t>
            </a:r>
          </a:p>
          <a:p>
            <a:pPr marL="0" indent="0">
              <a:buNone/>
            </a:pPr>
            <a:r>
              <a:rPr lang="en-US" dirty="0">
                <a:sym typeface="Symbol"/>
              </a:rPr>
              <a:t>	</a:t>
            </a:r>
            <a:r>
              <a:rPr lang="en-US" dirty="0">
                <a:solidFill>
                  <a:srgbClr val="0000FF"/>
                </a:solidFill>
                <a:latin typeface="Courier New"/>
                <a:cs typeface="Courier New"/>
                <a:sym typeface="Symbol"/>
              </a:rPr>
              <a:t>!G(!</a:t>
            </a:r>
            <a:r>
              <a:rPr lang="en-US" dirty="0" err="1">
                <a:solidFill>
                  <a:srgbClr val="0000FF"/>
                </a:solidFill>
                <a:latin typeface="Courier New"/>
                <a:cs typeface="Courier New"/>
                <a:sym typeface="Symbol"/>
              </a:rPr>
              <a:t>ϕ</a:t>
            </a:r>
            <a:r>
              <a:rPr lang="en-US" dirty="0">
                <a:solidFill>
                  <a:srgbClr val="0000FF"/>
                </a:solidFill>
                <a:latin typeface="Courier New"/>
                <a:cs typeface="Courier New"/>
                <a:sym typeface="Symbol"/>
              </a:rPr>
              <a:t> )  F(</a:t>
            </a:r>
            <a:r>
              <a:rPr lang="en-US" dirty="0" err="1">
                <a:solidFill>
                  <a:srgbClr val="0000FF"/>
                </a:solidFill>
                <a:latin typeface="Courier New"/>
                <a:cs typeface="Courier New"/>
                <a:sym typeface="Symbol"/>
              </a:rPr>
              <a:t>ϕ</a:t>
            </a:r>
            <a:r>
              <a:rPr lang="en-US" dirty="0">
                <a:solidFill>
                  <a:srgbClr val="0000FF"/>
                </a:solidFill>
                <a:latin typeface="Courier New"/>
                <a:cs typeface="Courier New"/>
                <a:sym typeface="Symbol"/>
              </a:rPr>
              <a:t>)</a:t>
            </a:r>
          </a:p>
          <a:p>
            <a:pPr marL="0" indent="0">
              <a:buNone/>
            </a:pPr>
            <a:r>
              <a:rPr lang="en-US" dirty="0">
                <a:solidFill>
                  <a:srgbClr val="0000FF"/>
                </a:solidFill>
                <a:latin typeface="Courier New"/>
                <a:cs typeface="Courier New"/>
                <a:sym typeface="Symbol"/>
              </a:rPr>
              <a:t>	!X(</a:t>
            </a:r>
            <a:r>
              <a:rPr lang="en-US" dirty="0" err="1">
                <a:solidFill>
                  <a:srgbClr val="0000FF"/>
                </a:solidFill>
                <a:latin typeface="Courier New"/>
                <a:cs typeface="Courier New"/>
                <a:sym typeface="Symbol"/>
              </a:rPr>
              <a:t>ϕ</a:t>
            </a:r>
            <a:r>
              <a:rPr lang="en-US" dirty="0">
                <a:solidFill>
                  <a:srgbClr val="0000FF"/>
                </a:solidFill>
                <a:latin typeface="Courier New"/>
                <a:cs typeface="Courier New"/>
                <a:sym typeface="Symbol"/>
              </a:rPr>
              <a:t>)  X(!</a:t>
            </a:r>
            <a:r>
              <a:rPr lang="en-US" dirty="0" err="1">
                <a:solidFill>
                  <a:srgbClr val="0000FF"/>
                </a:solidFill>
                <a:latin typeface="Courier New"/>
                <a:cs typeface="Courier New"/>
                <a:sym typeface="Symbol"/>
              </a:rPr>
              <a:t>ϕ</a:t>
            </a:r>
            <a:r>
              <a:rPr lang="en-US" dirty="0">
                <a:solidFill>
                  <a:srgbClr val="0000FF"/>
                </a:solidFill>
                <a:latin typeface="Courier New"/>
                <a:cs typeface="Courier New"/>
                <a:sym typeface="Symbol"/>
              </a:rPr>
              <a:t>)</a:t>
            </a:r>
          </a:p>
          <a:p>
            <a:pPr marL="0" indent="0">
              <a:buNone/>
            </a:pPr>
            <a:r>
              <a:rPr lang="en-US" dirty="0">
                <a:solidFill>
                  <a:srgbClr val="0000FF"/>
                </a:solidFill>
                <a:latin typeface="Courier New"/>
                <a:cs typeface="Courier New"/>
                <a:sym typeface="Symbol"/>
              </a:rPr>
              <a:t>	G(</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a:solidFill>
                  <a:srgbClr val="0000FF"/>
                </a:solidFill>
                <a:latin typeface="Courier New"/>
                <a:cs typeface="Courier New"/>
                <a:sym typeface="Symbol"/>
              </a:rPr>
              <a:t>&amp; </a:t>
            </a:r>
            <a:r>
              <a:rPr lang="en-US" dirty="0" err="1">
                <a:solidFill>
                  <a:srgbClr val="0000FF"/>
                </a:solidFill>
                <a:latin typeface="Courier New"/>
                <a:cs typeface="Courier New"/>
              </a:rPr>
              <a:t>ϕ</a:t>
            </a:r>
            <a:r>
              <a:rPr lang="en-US" dirty="0">
                <a:solidFill>
                  <a:srgbClr val="0000FF"/>
                </a:solidFill>
                <a:latin typeface="Courier New"/>
                <a:cs typeface="Courier New"/>
                <a:sym typeface="Symbol"/>
              </a:rPr>
              <a:t>)  G(</a:t>
            </a:r>
            <a:r>
              <a:rPr lang="en-US" dirty="0" err="1">
                <a:solidFill>
                  <a:srgbClr val="0000FF"/>
                </a:solidFill>
                <a:latin typeface="Courier New"/>
                <a:cs typeface="Courier New"/>
              </a:rPr>
              <a:t>φ</a:t>
            </a:r>
            <a:r>
              <a:rPr lang="en-US" dirty="0">
                <a:solidFill>
                  <a:srgbClr val="0000FF"/>
                </a:solidFill>
                <a:latin typeface="Courier New"/>
                <a:cs typeface="Courier New"/>
              </a:rPr>
              <a:t>)&amp; G(</a:t>
            </a:r>
            <a:r>
              <a:rPr lang="en-US" dirty="0" err="1">
                <a:solidFill>
                  <a:srgbClr val="0000FF"/>
                </a:solidFill>
                <a:latin typeface="Courier New"/>
                <a:cs typeface="Courier New"/>
              </a:rPr>
              <a:t>ϕ</a:t>
            </a:r>
            <a:r>
              <a:rPr lang="en-US" dirty="0">
                <a:solidFill>
                  <a:srgbClr val="0000FF"/>
                </a:solidFill>
                <a:latin typeface="Courier New"/>
                <a:cs typeface="Courier New"/>
              </a:rPr>
              <a:t>)</a:t>
            </a:r>
          </a:p>
          <a:p>
            <a:pPr marL="0" indent="0">
              <a:buNone/>
            </a:pPr>
            <a:r>
              <a:rPr lang="en-US" dirty="0">
                <a:solidFill>
                  <a:srgbClr val="0000FF"/>
                </a:solidFill>
                <a:latin typeface="Courier New"/>
                <a:cs typeface="Courier New"/>
                <a:sym typeface="Symbol"/>
              </a:rPr>
              <a:t>	G(</a:t>
            </a:r>
            <a:r>
              <a:rPr lang="en-US" dirty="0" err="1">
                <a:solidFill>
                  <a:srgbClr val="0000FF"/>
                </a:solidFill>
                <a:latin typeface="Courier New"/>
                <a:cs typeface="Courier New"/>
              </a:rPr>
              <a:t>φ</a:t>
            </a:r>
            <a:r>
              <a:rPr lang="en-US" dirty="0">
                <a:solidFill>
                  <a:srgbClr val="0000FF"/>
                </a:solidFill>
                <a:latin typeface="Courier New"/>
                <a:cs typeface="Courier New"/>
                <a:sym typeface="Symbol"/>
              </a:rPr>
              <a:t>)  </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a:solidFill>
                  <a:srgbClr val="0000FF"/>
                </a:solidFill>
                <a:latin typeface="Courier New"/>
                <a:cs typeface="Courier New"/>
                <a:sym typeface="Symbol"/>
              </a:rPr>
              <a:t>&amp; X G(</a:t>
            </a:r>
            <a:r>
              <a:rPr lang="en-US" dirty="0" err="1">
                <a:solidFill>
                  <a:srgbClr val="0000FF"/>
                </a:solidFill>
                <a:latin typeface="Courier New"/>
                <a:cs typeface="Courier New"/>
              </a:rPr>
              <a:t>φ</a:t>
            </a:r>
            <a:r>
              <a:rPr lang="en-US" dirty="0">
                <a:solidFill>
                  <a:srgbClr val="0000FF"/>
                </a:solidFill>
                <a:latin typeface="Courier New"/>
                <a:cs typeface="Courier New"/>
                <a:sym typeface="Symbol"/>
              </a:rPr>
              <a:t>) </a:t>
            </a:r>
            <a:endParaRPr lang="en-US" dirty="0">
              <a:solidFill>
                <a:srgbClr val="0000FF"/>
              </a:solidFill>
              <a:latin typeface="Courier New"/>
              <a:cs typeface="Courier New"/>
            </a:endParaRPr>
          </a:p>
          <a:p>
            <a:r>
              <a:rPr lang="en-US" u="sng" dirty="0"/>
              <a:t>Exercise</a:t>
            </a:r>
            <a:r>
              <a:rPr lang="en-US" dirty="0"/>
              <a:t>: using these identities, prove:</a:t>
            </a:r>
          </a:p>
          <a:p>
            <a:pPr marL="0" indent="0">
              <a:buNone/>
            </a:pPr>
            <a:r>
              <a:rPr lang="en-US" dirty="0">
                <a:solidFill>
                  <a:srgbClr val="0000FF"/>
                </a:solidFill>
                <a:latin typeface="Courier New"/>
                <a:cs typeface="Courier New"/>
                <a:sym typeface="Symbol"/>
              </a:rPr>
              <a:t>	!F(!</a:t>
            </a:r>
            <a:r>
              <a:rPr lang="en-US" dirty="0" err="1">
                <a:solidFill>
                  <a:srgbClr val="0000FF"/>
                </a:solidFill>
                <a:latin typeface="Courier New"/>
                <a:cs typeface="Courier New"/>
              </a:rPr>
              <a:t>φ</a:t>
            </a:r>
            <a:r>
              <a:rPr lang="en-US" dirty="0">
                <a:solidFill>
                  <a:srgbClr val="0000FF"/>
                </a:solidFill>
                <a:latin typeface="Courier New"/>
                <a:cs typeface="Courier New"/>
                <a:sym typeface="Symbol"/>
              </a:rPr>
              <a:t>)  G(</a:t>
            </a:r>
            <a:r>
              <a:rPr lang="en-US" dirty="0" err="1">
                <a:solidFill>
                  <a:srgbClr val="0000FF"/>
                </a:solidFill>
                <a:latin typeface="Courier New"/>
                <a:cs typeface="Courier New"/>
              </a:rPr>
              <a:t>φ</a:t>
            </a:r>
            <a:r>
              <a:rPr lang="en-US" dirty="0">
                <a:solidFill>
                  <a:srgbClr val="0000FF"/>
                </a:solidFill>
                <a:latin typeface="Courier New"/>
                <a:cs typeface="Courier New"/>
                <a:sym typeface="Symbol"/>
              </a:rPr>
              <a:t>)</a:t>
            </a:r>
            <a:endParaRPr lang="en-US" dirty="0"/>
          </a:p>
          <a:p>
            <a:pPr marL="0" indent="0">
              <a:buNone/>
            </a:pPr>
            <a:r>
              <a:rPr lang="en-US" dirty="0"/>
              <a:t>	</a:t>
            </a:r>
            <a:r>
              <a:rPr lang="en-US" dirty="0">
                <a:solidFill>
                  <a:srgbClr val="0000FF"/>
                </a:solidFill>
                <a:latin typeface="Courier New"/>
                <a:cs typeface="Courier New"/>
              </a:rPr>
              <a:t>F(</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a:solidFill>
                  <a:srgbClr val="0000FF"/>
                </a:solidFill>
                <a:latin typeface="Courier New"/>
                <a:cs typeface="Courier New"/>
                <a:sym typeface="Symbol"/>
              </a:rPr>
              <a:t> </a:t>
            </a:r>
            <a:r>
              <a:rPr lang="en-US" dirty="0" err="1">
                <a:solidFill>
                  <a:srgbClr val="0000FF"/>
                </a:solidFill>
                <a:latin typeface="Courier New"/>
                <a:cs typeface="Courier New"/>
              </a:rPr>
              <a:t>ϕ</a:t>
            </a:r>
            <a:r>
              <a:rPr lang="en-US" dirty="0">
                <a:solidFill>
                  <a:srgbClr val="0000FF"/>
                </a:solidFill>
                <a:latin typeface="Courier New"/>
                <a:cs typeface="Courier New"/>
                <a:sym typeface="Symbol"/>
              </a:rPr>
              <a:t>)  F(</a:t>
            </a:r>
            <a:r>
              <a:rPr lang="en-US" dirty="0" err="1">
                <a:solidFill>
                  <a:srgbClr val="0000FF"/>
                </a:solidFill>
                <a:latin typeface="Courier New"/>
                <a:cs typeface="Courier New"/>
              </a:rPr>
              <a:t>φ</a:t>
            </a:r>
            <a:r>
              <a:rPr lang="en-US" dirty="0">
                <a:solidFill>
                  <a:srgbClr val="0000FF"/>
                </a:solidFill>
                <a:latin typeface="Courier New"/>
                <a:cs typeface="Courier New"/>
              </a:rPr>
              <a:t>)</a:t>
            </a:r>
            <a:r>
              <a:rPr lang="en-US" dirty="0">
                <a:solidFill>
                  <a:srgbClr val="0000FF"/>
                </a:solidFill>
                <a:latin typeface="Courier New"/>
                <a:cs typeface="Courier New"/>
                <a:sym typeface="Symbol"/>
              </a:rPr>
              <a:t>  F</a:t>
            </a:r>
            <a:r>
              <a:rPr lang="en-US" dirty="0">
                <a:solidFill>
                  <a:srgbClr val="0000FF"/>
                </a:solidFill>
                <a:latin typeface="Courier New"/>
                <a:cs typeface="Courier New"/>
              </a:rPr>
              <a:t>(</a:t>
            </a:r>
            <a:r>
              <a:rPr lang="en-US" dirty="0" err="1">
                <a:solidFill>
                  <a:srgbClr val="0000FF"/>
                </a:solidFill>
                <a:latin typeface="Courier New"/>
                <a:cs typeface="Courier New"/>
              </a:rPr>
              <a:t>ϕ</a:t>
            </a:r>
            <a:r>
              <a:rPr lang="en-US" dirty="0">
                <a:solidFill>
                  <a:srgbClr val="0000FF"/>
                </a:solidFill>
                <a:latin typeface="Courier New"/>
                <a:cs typeface="Courier New"/>
              </a:rPr>
              <a:t>)</a:t>
            </a:r>
          </a:p>
          <a:p>
            <a:pPr marL="0" indent="0">
              <a:buNone/>
            </a:pPr>
            <a:r>
              <a:rPr lang="en-US" dirty="0">
                <a:solidFill>
                  <a:srgbClr val="0000FF"/>
                </a:solidFill>
                <a:latin typeface="Courier New"/>
                <a:cs typeface="Courier New"/>
                <a:sym typeface="Symbol"/>
              </a:rPr>
              <a:t>	F(</a:t>
            </a:r>
            <a:r>
              <a:rPr lang="en-US" dirty="0" err="1">
                <a:solidFill>
                  <a:srgbClr val="0000FF"/>
                </a:solidFill>
                <a:latin typeface="Courier New"/>
                <a:cs typeface="Courier New"/>
              </a:rPr>
              <a:t>φ</a:t>
            </a:r>
            <a:r>
              <a:rPr lang="en-US" dirty="0">
                <a:solidFill>
                  <a:srgbClr val="0000FF"/>
                </a:solidFill>
                <a:latin typeface="Courier New"/>
                <a:cs typeface="Courier New"/>
                <a:sym typeface="Symbol"/>
              </a:rPr>
              <a:t>)  </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a:solidFill>
                  <a:srgbClr val="0000FF"/>
                </a:solidFill>
                <a:latin typeface="Courier New"/>
                <a:cs typeface="Courier New"/>
                <a:sym typeface="Symbol"/>
              </a:rPr>
              <a:t> X F(</a:t>
            </a:r>
            <a:r>
              <a:rPr lang="en-US" dirty="0" err="1">
                <a:solidFill>
                  <a:srgbClr val="0000FF"/>
                </a:solidFill>
                <a:latin typeface="Courier New"/>
                <a:cs typeface="Courier New"/>
              </a:rPr>
              <a:t>φ</a:t>
            </a:r>
            <a:r>
              <a:rPr lang="en-US" dirty="0">
                <a:solidFill>
                  <a:srgbClr val="0000FF"/>
                </a:solidFill>
                <a:latin typeface="Courier New"/>
                <a:cs typeface="Courier New"/>
                <a:sym typeface="Symbol"/>
              </a:rPr>
              <a:t>) </a:t>
            </a:r>
          </a:p>
          <a:p>
            <a:r>
              <a:rPr lang="en-US" dirty="0">
                <a:sym typeface="Symbol"/>
              </a:rPr>
              <a:t>Remark TCG usually involves </a:t>
            </a:r>
            <a:r>
              <a:rPr lang="en-US" dirty="0">
                <a:solidFill>
                  <a:srgbClr val="FF0000"/>
                </a:solidFill>
                <a:sym typeface="Symbol"/>
              </a:rPr>
              <a:t>negating formulas</a:t>
            </a:r>
            <a:r>
              <a:rPr lang="en-US" dirty="0">
                <a:sym typeface="Symbol"/>
              </a:rPr>
              <a:t>, so its useful to </a:t>
            </a:r>
            <a:r>
              <a:rPr lang="en-US" u="sng" dirty="0">
                <a:solidFill>
                  <a:srgbClr val="FF0000"/>
                </a:solidFill>
                <a:sym typeface="Symbol"/>
              </a:rPr>
              <a:t>understand what a negation means</a:t>
            </a:r>
            <a:endParaRPr lang="en-US" u="sng" dirty="0">
              <a:solidFill>
                <a:srgbClr val="FF0000"/>
              </a:solidFill>
            </a:endParaRPr>
          </a:p>
          <a:p>
            <a:endParaRPr lang="en-US" dirty="0"/>
          </a:p>
          <a:p>
            <a:endParaRPr lang="en-US" dirty="0"/>
          </a:p>
          <a:p>
            <a:endParaRPr lang="en-US" dirty="0"/>
          </a:p>
        </p:txBody>
      </p:sp>
    </p:spTree>
    <p:extLst>
      <p:ext uri="{BB962C8B-B14F-4D97-AF65-F5344CB8AC3E}">
        <p14:creationId xmlns:p14="http://schemas.microsoft.com/office/powerpoint/2010/main" val="95564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 calcmode="lin" valueType="num">
                                      <p:cBhvr additive="base">
                                        <p:cTn id="6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 calcmode="lin" valueType="num">
                                      <p:cBhvr additive="base">
                                        <p:cTn id="6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2" end="12"/>
                                            </p:txEl>
                                          </p:spTgt>
                                        </p:tgtEl>
                                        <p:attrNameLst>
                                          <p:attrName>style.visibility</p:attrName>
                                        </p:attrNameLst>
                                      </p:cBhvr>
                                      <p:to>
                                        <p:strVal val="visible"/>
                                      </p:to>
                                    </p:set>
                                    <p:anim calcmode="lin" valueType="num">
                                      <p:cBhvr additive="base">
                                        <p:cTn id="7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Specifications in NuSMV files</a:t>
            </a:r>
          </a:p>
        </p:txBody>
      </p:sp>
      <p:sp>
        <p:nvSpPr>
          <p:cNvPr id="3" name="Content Placeholder 2"/>
          <p:cNvSpPr>
            <a:spLocks noGrp="1"/>
          </p:cNvSpPr>
          <p:nvPr>
            <p:ph idx="1"/>
          </p:nvPr>
        </p:nvSpPr>
        <p:spPr/>
        <p:txBody>
          <a:bodyPr>
            <a:normAutofit fontScale="92500"/>
          </a:bodyPr>
          <a:lstStyle/>
          <a:p>
            <a:pPr marL="0" indent="0">
              <a:buNone/>
            </a:pPr>
            <a:r>
              <a:rPr lang="en-US" sz="2400" dirty="0">
                <a:solidFill>
                  <a:srgbClr val="0000FF"/>
                </a:solidFill>
                <a:latin typeface="Courier New"/>
                <a:cs typeface="Courier New"/>
              </a:rPr>
              <a:t>LTLSPEC</a:t>
            </a:r>
          </a:p>
          <a:p>
            <a:pPr marL="0" indent="0">
              <a:buNone/>
            </a:pPr>
            <a:r>
              <a:rPr lang="en-US" sz="2400" dirty="0">
                <a:solidFill>
                  <a:srgbClr val="0000FF"/>
                </a:solidFill>
                <a:latin typeface="Courier New"/>
                <a:cs typeface="Courier New"/>
              </a:rPr>
              <a:t>	G( Bit1 -&gt; X Bit2 ) </a:t>
            </a:r>
          </a:p>
          <a:p>
            <a:pPr marL="0" indent="0">
              <a:buNone/>
            </a:pPr>
            <a:r>
              <a:rPr lang="en-US" sz="2400" dirty="0">
                <a:solidFill>
                  <a:srgbClr val="0000FF"/>
                </a:solidFill>
                <a:latin typeface="Courier New"/>
                <a:cs typeface="Courier New"/>
              </a:rPr>
              <a:t>	–- the value of Bit1 now always equals the</a:t>
            </a:r>
          </a:p>
          <a:p>
            <a:pPr marL="0" indent="0">
              <a:buNone/>
            </a:pPr>
            <a:r>
              <a:rPr lang="en-US" sz="2400" dirty="0">
                <a:solidFill>
                  <a:srgbClr val="0000FF"/>
                </a:solidFill>
                <a:latin typeface="Courier New"/>
                <a:cs typeface="Courier New"/>
              </a:rPr>
              <a:t>	-- value of Bit2 in the next time step</a:t>
            </a:r>
          </a:p>
          <a:p>
            <a:pPr marL="0" indent="0">
              <a:buNone/>
            </a:pPr>
            <a:r>
              <a:rPr lang="en-US" sz="2400" dirty="0">
                <a:solidFill>
                  <a:srgbClr val="0000FF"/>
                </a:solidFill>
                <a:latin typeface="Courier New"/>
                <a:cs typeface="Courier New"/>
              </a:rPr>
              <a:t>	-- This is obviously TRUE!</a:t>
            </a:r>
          </a:p>
          <a:p>
            <a:pPr marL="0" indent="0">
              <a:buNone/>
            </a:pPr>
            <a:endParaRPr lang="en-US" sz="2400" dirty="0">
              <a:solidFill>
                <a:srgbClr val="0000FF"/>
              </a:solidFill>
              <a:latin typeface="Courier New"/>
              <a:cs typeface="Courier New"/>
            </a:endParaRPr>
          </a:p>
          <a:p>
            <a:pPr marL="0" indent="0">
              <a:buNone/>
            </a:pPr>
            <a:r>
              <a:rPr lang="en-US" sz="2400" dirty="0">
                <a:solidFill>
                  <a:srgbClr val="0000FF"/>
                </a:solidFill>
                <a:latin typeface="Courier New"/>
                <a:cs typeface="Courier New"/>
              </a:rPr>
              <a:t>	G( Bit1 -&gt; X Bit1 ) </a:t>
            </a:r>
          </a:p>
          <a:p>
            <a:pPr marL="0" indent="0">
              <a:buNone/>
            </a:pPr>
            <a:r>
              <a:rPr lang="en-US" sz="2400" dirty="0">
                <a:solidFill>
                  <a:srgbClr val="0000FF"/>
                </a:solidFill>
                <a:latin typeface="Courier New"/>
                <a:cs typeface="Courier New"/>
              </a:rPr>
              <a:t>	–- the value of Bit1 now always equals the</a:t>
            </a:r>
          </a:p>
          <a:p>
            <a:pPr marL="0" indent="0">
              <a:buNone/>
            </a:pPr>
            <a:r>
              <a:rPr lang="en-US" sz="2400" dirty="0">
                <a:solidFill>
                  <a:srgbClr val="0000FF"/>
                </a:solidFill>
                <a:latin typeface="Courier New"/>
                <a:cs typeface="Courier New"/>
              </a:rPr>
              <a:t>	-- value of Bit1 in the next time step</a:t>
            </a:r>
          </a:p>
          <a:p>
            <a:pPr marL="0" indent="0">
              <a:buNone/>
            </a:pPr>
            <a:r>
              <a:rPr lang="en-US" sz="2400" dirty="0">
                <a:solidFill>
                  <a:srgbClr val="0000FF"/>
                </a:solidFill>
                <a:latin typeface="Courier New"/>
                <a:cs typeface="Courier New"/>
              </a:rPr>
              <a:t>	-- This is obviously FALSE!</a:t>
            </a:r>
          </a:p>
          <a:p>
            <a:pPr marL="0" indent="0">
              <a:buNone/>
            </a:pPr>
            <a:endParaRPr lang="en-US" sz="2400" dirty="0">
              <a:solidFill>
                <a:srgbClr val="0000FF"/>
              </a:solidFill>
              <a:latin typeface="Courier New"/>
              <a:cs typeface="Courier New"/>
            </a:endParaRPr>
          </a:p>
        </p:txBody>
      </p:sp>
    </p:spTree>
    <p:extLst>
      <p:ext uri="{BB962C8B-B14F-4D97-AF65-F5344CB8AC3E}">
        <p14:creationId xmlns:p14="http://schemas.microsoft.com/office/powerpoint/2010/main" val="3208823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Checking with NuSMV</a:t>
            </a:r>
          </a:p>
        </p:txBody>
      </p:sp>
      <p:sp>
        <p:nvSpPr>
          <p:cNvPr id="3" name="Content Placeholder 2"/>
          <p:cNvSpPr>
            <a:spLocks noGrp="1"/>
          </p:cNvSpPr>
          <p:nvPr>
            <p:ph idx="1"/>
          </p:nvPr>
        </p:nvSpPr>
        <p:spPr/>
        <p:txBody>
          <a:bodyPr>
            <a:normAutofit fontScale="92500" lnSpcReduction="10000"/>
          </a:bodyPr>
          <a:lstStyle/>
          <a:p>
            <a:r>
              <a:rPr lang="en-US" dirty="0"/>
              <a:t>NuSMV is a </a:t>
            </a:r>
            <a:r>
              <a:rPr lang="en-US" dirty="0">
                <a:solidFill>
                  <a:srgbClr val="FF0000"/>
                </a:solidFill>
              </a:rPr>
              <a:t>temporal logic model checker</a:t>
            </a:r>
          </a:p>
          <a:p>
            <a:r>
              <a:rPr lang="en-US" dirty="0"/>
              <a:t>A model checker is a tool which takes as input</a:t>
            </a:r>
          </a:p>
          <a:p>
            <a:pPr lvl="1"/>
            <a:r>
              <a:rPr lang="en-US" dirty="0"/>
              <a:t>An automaton model </a:t>
            </a:r>
            <a:r>
              <a:rPr lang="en-US" dirty="0">
                <a:solidFill>
                  <a:srgbClr val="0000FF"/>
                </a:solidFill>
              </a:rPr>
              <a:t>M</a:t>
            </a:r>
          </a:p>
          <a:p>
            <a:pPr lvl="1"/>
            <a:r>
              <a:rPr lang="en-US" dirty="0"/>
              <a:t>A temporal logic formula </a:t>
            </a:r>
            <a:r>
              <a:rPr lang="en-US" dirty="0" err="1">
                <a:solidFill>
                  <a:srgbClr val="0000FF"/>
                </a:solidFill>
              </a:rPr>
              <a:t>φ</a:t>
            </a:r>
            <a:endParaRPr lang="en-US" dirty="0">
              <a:solidFill>
                <a:srgbClr val="0000FF"/>
              </a:solidFill>
            </a:endParaRPr>
          </a:p>
          <a:p>
            <a:pPr marL="342900" lvl="1" indent="-342900">
              <a:buFont typeface="Arial"/>
              <a:buChar char="•"/>
            </a:pPr>
            <a:r>
              <a:rPr lang="en-US" dirty="0"/>
              <a:t>If </a:t>
            </a:r>
            <a:r>
              <a:rPr lang="en-US" dirty="0" err="1">
                <a:solidFill>
                  <a:srgbClr val="0000FF"/>
                </a:solidFill>
              </a:rPr>
              <a:t>φ</a:t>
            </a:r>
            <a:r>
              <a:rPr lang="en-US" dirty="0"/>
              <a:t> is a </a:t>
            </a:r>
            <a:r>
              <a:rPr lang="en-US" dirty="0">
                <a:solidFill>
                  <a:srgbClr val="0000FF"/>
                </a:solidFill>
              </a:rPr>
              <a:t>true statement </a:t>
            </a:r>
            <a:r>
              <a:rPr lang="en-US" dirty="0"/>
              <a:t>about all possible behaviors of</a:t>
            </a:r>
            <a:r>
              <a:rPr lang="en-US" dirty="0">
                <a:solidFill>
                  <a:srgbClr val="0000FF"/>
                </a:solidFill>
              </a:rPr>
              <a:t> M </a:t>
            </a:r>
            <a:r>
              <a:rPr lang="en-US" dirty="0"/>
              <a:t>then the model checker </a:t>
            </a:r>
            <a:r>
              <a:rPr lang="en-US" dirty="0">
                <a:solidFill>
                  <a:srgbClr val="FF0000"/>
                </a:solidFill>
              </a:rPr>
              <a:t>confirms</a:t>
            </a:r>
            <a:r>
              <a:rPr lang="en-US" dirty="0"/>
              <a:t> it (</a:t>
            </a:r>
            <a:r>
              <a:rPr lang="en-US" dirty="0">
                <a:solidFill>
                  <a:srgbClr val="FF0000"/>
                </a:solidFill>
              </a:rPr>
              <a:t>proof</a:t>
            </a:r>
            <a:r>
              <a:rPr lang="en-US" dirty="0"/>
              <a:t>)</a:t>
            </a:r>
          </a:p>
          <a:p>
            <a:pPr marL="342900" lvl="1" indent="-342900">
              <a:buFont typeface="Arial"/>
              <a:buChar char="•"/>
            </a:pPr>
            <a:r>
              <a:rPr lang="en-US" dirty="0"/>
              <a:t>If </a:t>
            </a:r>
            <a:r>
              <a:rPr lang="en-US" dirty="0" err="1">
                <a:solidFill>
                  <a:srgbClr val="0000FF"/>
                </a:solidFill>
              </a:rPr>
              <a:t>φ</a:t>
            </a:r>
            <a:r>
              <a:rPr lang="en-US" dirty="0"/>
              <a:t> is a </a:t>
            </a:r>
            <a:r>
              <a:rPr lang="en-US" dirty="0">
                <a:solidFill>
                  <a:srgbClr val="0000FF"/>
                </a:solidFill>
              </a:rPr>
              <a:t>false statement </a:t>
            </a:r>
            <a:r>
              <a:rPr lang="en-US" dirty="0"/>
              <a:t>about </a:t>
            </a:r>
            <a:r>
              <a:rPr lang="en-US" dirty="0">
                <a:solidFill>
                  <a:srgbClr val="0000FF"/>
                </a:solidFill>
              </a:rPr>
              <a:t>M</a:t>
            </a:r>
            <a:r>
              <a:rPr lang="en-US" dirty="0"/>
              <a:t> the model checker constructs a </a:t>
            </a:r>
            <a:r>
              <a:rPr lang="en-US" dirty="0">
                <a:solidFill>
                  <a:srgbClr val="FF0000"/>
                </a:solidFill>
              </a:rPr>
              <a:t>counterexample</a:t>
            </a:r>
            <a:r>
              <a:rPr lang="en-US" dirty="0"/>
              <a:t> (a </a:t>
            </a:r>
            <a:r>
              <a:rPr lang="en-US" dirty="0">
                <a:solidFill>
                  <a:srgbClr val="FF0000"/>
                </a:solidFill>
              </a:rPr>
              <a:t>simulation sequence</a:t>
            </a:r>
            <a:r>
              <a:rPr lang="en-US" dirty="0"/>
              <a:t>)</a:t>
            </a:r>
          </a:p>
          <a:p>
            <a:pPr marL="342900" lvl="1" indent="-342900">
              <a:buFont typeface="Arial"/>
              <a:buChar char="•"/>
            </a:pPr>
            <a:r>
              <a:rPr lang="en-US" dirty="0"/>
              <a:t>A counterexample to </a:t>
            </a:r>
            <a:r>
              <a:rPr lang="en-US" dirty="0" err="1">
                <a:solidFill>
                  <a:srgbClr val="0000FF"/>
                </a:solidFill>
              </a:rPr>
              <a:t>φ</a:t>
            </a:r>
            <a:r>
              <a:rPr lang="en-US" dirty="0">
                <a:solidFill>
                  <a:srgbClr val="0000FF"/>
                </a:solidFill>
              </a:rPr>
              <a:t> </a:t>
            </a:r>
            <a:r>
              <a:rPr lang="en-US" dirty="0"/>
              <a:t>satisfies</a:t>
            </a:r>
            <a:r>
              <a:rPr lang="en-US" dirty="0">
                <a:solidFill>
                  <a:srgbClr val="0000FF"/>
                </a:solidFill>
              </a:rPr>
              <a:t> !</a:t>
            </a:r>
            <a:r>
              <a:rPr lang="en-US" dirty="0" err="1">
                <a:solidFill>
                  <a:srgbClr val="0000FF"/>
                </a:solidFill>
              </a:rPr>
              <a:t>φ</a:t>
            </a:r>
            <a:endParaRPr lang="en-US" dirty="0"/>
          </a:p>
          <a:p>
            <a:pPr marL="342900" lvl="1" indent="-342900">
              <a:buFont typeface="Arial"/>
              <a:buChar char="•"/>
            </a:pPr>
            <a:r>
              <a:rPr lang="en-US" dirty="0"/>
              <a:t>A </a:t>
            </a:r>
            <a:r>
              <a:rPr lang="en-US" dirty="0">
                <a:solidFill>
                  <a:srgbClr val="FF0000"/>
                </a:solidFill>
              </a:rPr>
              <a:t>simulation sequence </a:t>
            </a:r>
            <a:r>
              <a:rPr lang="en-US" dirty="0"/>
              <a:t>can be executed as a </a:t>
            </a:r>
            <a:r>
              <a:rPr lang="en-US" dirty="0">
                <a:solidFill>
                  <a:srgbClr val="FF0000"/>
                </a:solidFill>
              </a:rPr>
              <a:t>test case</a:t>
            </a:r>
          </a:p>
        </p:txBody>
      </p:sp>
    </p:spTree>
    <p:extLst>
      <p:ext uri="{BB962C8B-B14F-4D97-AF65-F5344CB8AC3E}">
        <p14:creationId xmlns:p14="http://schemas.microsoft.com/office/powerpoint/2010/main" val="3472784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NuSMV Output Example</a:t>
            </a:r>
          </a:p>
        </p:txBody>
      </p:sp>
      <p:sp>
        <p:nvSpPr>
          <p:cNvPr id="3" name="Content Placeholder 2"/>
          <p:cNvSpPr>
            <a:spLocks noGrp="1"/>
          </p:cNvSpPr>
          <p:nvPr>
            <p:ph idx="1"/>
          </p:nvPr>
        </p:nvSpPr>
        <p:spPr>
          <a:xfrm>
            <a:off x="204715" y="1760561"/>
            <a:ext cx="8939285" cy="4571296"/>
          </a:xfrm>
        </p:spPr>
        <p:txBody>
          <a:bodyPr>
            <a:normAutofit/>
          </a:bodyPr>
          <a:lstStyle/>
          <a:p>
            <a:pPr marL="0" indent="0">
              <a:buNone/>
            </a:pPr>
            <a:r>
              <a:rPr lang="en-US" sz="2800" dirty="0">
                <a:solidFill>
                  <a:srgbClr val="0000FF"/>
                </a:solidFill>
                <a:latin typeface="Courier New"/>
                <a:cs typeface="Courier New"/>
              </a:rPr>
              <a:t>-- specification G( Bit1 -&gt; X Bit2 ) </a:t>
            </a:r>
          </a:p>
          <a:p>
            <a:pPr marL="0" indent="0">
              <a:buNone/>
            </a:pPr>
            <a:r>
              <a:rPr lang="en-US" sz="2800" dirty="0">
                <a:solidFill>
                  <a:srgbClr val="0000FF"/>
                </a:solidFill>
                <a:latin typeface="Courier New"/>
                <a:cs typeface="Courier New"/>
              </a:rPr>
              <a:t>-- is true </a:t>
            </a:r>
          </a:p>
          <a:p>
            <a:pPr marL="0" indent="0">
              <a:buNone/>
            </a:pPr>
            <a:r>
              <a:rPr lang="en-US" sz="2800" dirty="0">
                <a:solidFill>
                  <a:srgbClr val="0000FF"/>
                </a:solidFill>
                <a:latin typeface="Courier New"/>
                <a:cs typeface="Courier New"/>
              </a:rPr>
              <a:t>-- specification G( Bit1 -&gt; X Bit1 ) </a:t>
            </a:r>
          </a:p>
          <a:p>
            <a:pPr marL="0" indent="0">
              <a:buNone/>
            </a:pPr>
            <a:r>
              <a:rPr lang="en-US" sz="2800" dirty="0">
                <a:solidFill>
                  <a:srgbClr val="0000FF"/>
                </a:solidFill>
                <a:latin typeface="Courier New"/>
                <a:cs typeface="Courier New"/>
              </a:rPr>
              <a:t>-- is false </a:t>
            </a:r>
          </a:p>
          <a:p>
            <a:pPr marL="0" indent="0">
              <a:buNone/>
            </a:pPr>
            <a:r>
              <a:rPr lang="en-US" sz="2800" dirty="0">
                <a:solidFill>
                  <a:srgbClr val="0000FF"/>
                </a:solidFill>
                <a:latin typeface="Courier New"/>
                <a:cs typeface="Courier New"/>
              </a:rPr>
              <a:t>-- as demonstrated by the following execution sequence (Trace on next slide)</a:t>
            </a:r>
          </a:p>
        </p:txBody>
      </p:sp>
    </p:spTree>
    <p:extLst>
      <p:ext uri="{BB962C8B-B14F-4D97-AF65-F5344CB8AC3E}">
        <p14:creationId xmlns:p14="http://schemas.microsoft.com/office/powerpoint/2010/main" val="1268541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161"/>
            <a:ext cx="8229600" cy="1143000"/>
          </a:xfrm>
        </p:spPr>
        <p:txBody>
          <a:bodyPr>
            <a:normAutofit/>
          </a:bodyPr>
          <a:lstStyle/>
          <a:p>
            <a:r>
              <a:rPr lang="en-US" dirty="0"/>
              <a:t>Understanding Counterexample</a:t>
            </a:r>
          </a:p>
        </p:txBody>
      </p:sp>
      <p:sp>
        <p:nvSpPr>
          <p:cNvPr id="3" name="Content Placeholder 2"/>
          <p:cNvSpPr>
            <a:spLocks noGrp="1"/>
          </p:cNvSpPr>
          <p:nvPr>
            <p:ph idx="1"/>
          </p:nvPr>
        </p:nvSpPr>
        <p:spPr>
          <a:xfrm>
            <a:off x="0" y="1131035"/>
            <a:ext cx="2906973" cy="5556368"/>
          </a:xfrm>
        </p:spPr>
        <p:txBody>
          <a:bodyPr>
            <a:noAutofit/>
          </a:bodyPr>
          <a:lstStyle/>
          <a:p>
            <a:pPr marL="0" indent="0">
              <a:buNone/>
            </a:pPr>
            <a:r>
              <a:rPr lang="en-US" sz="1800" dirty="0"/>
              <a:t>-- specification  G (Bit1 -&gt;  X Bit1)  is false</a:t>
            </a:r>
          </a:p>
          <a:p>
            <a:pPr marL="0" indent="0">
              <a:buNone/>
            </a:pPr>
            <a:r>
              <a:rPr lang="en-US" sz="1800" dirty="0"/>
              <a:t>-- as demonstrated by the following execution sequence</a:t>
            </a:r>
          </a:p>
          <a:p>
            <a:pPr marL="0" indent="0">
              <a:buNone/>
            </a:pPr>
            <a:r>
              <a:rPr lang="en-US" sz="1800" dirty="0"/>
              <a:t>Trace Description: LTL Counterexample</a:t>
            </a:r>
          </a:p>
          <a:p>
            <a:pPr marL="0" indent="0">
              <a:buNone/>
            </a:pPr>
            <a:r>
              <a:rPr lang="en-US" sz="1800" dirty="0"/>
              <a:t>Trace Type: Counterexample</a:t>
            </a:r>
          </a:p>
          <a:p>
            <a:pPr marL="0" indent="0">
              <a:buNone/>
            </a:pPr>
            <a:r>
              <a:rPr lang="en-US" sz="1800" dirty="0"/>
              <a:t>-&gt; State: 1.1 &lt;-</a:t>
            </a:r>
          </a:p>
          <a:p>
            <a:pPr marL="0" indent="0">
              <a:buNone/>
            </a:pPr>
            <a:r>
              <a:rPr lang="en-US" sz="1800" dirty="0"/>
              <a:t>  Bit1 = FALSE</a:t>
            </a:r>
          </a:p>
          <a:p>
            <a:pPr marL="0" indent="0">
              <a:buNone/>
            </a:pPr>
            <a:r>
              <a:rPr lang="en-US" sz="1800" dirty="0"/>
              <a:t>  Bit2 = FALSE</a:t>
            </a:r>
          </a:p>
          <a:p>
            <a:pPr marL="0" indent="0">
              <a:buNone/>
            </a:pPr>
            <a:r>
              <a:rPr lang="en-US" sz="1800" dirty="0"/>
              <a:t>  state = a</a:t>
            </a:r>
          </a:p>
          <a:p>
            <a:pPr marL="0" indent="0">
              <a:buNone/>
            </a:pPr>
            <a:r>
              <a:rPr lang="en-US" sz="1800" dirty="0"/>
              <a:t>  input = TRUE</a:t>
            </a:r>
          </a:p>
          <a:p>
            <a:pPr marL="0" indent="0">
              <a:buNone/>
            </a:pPr>
            <a:r>
              <a:rPr lang="en-US" sz="1800" dirty="0"/>
              <a:t>-&gt; State: 1.2 &lt;-</a:t>
            </a:r>
          </a:p>
          <a:p>
            <a:pPr marL="0" indent="0">
              <a:buNone/>
            </a:pPr>
            <a:r>
              <a:rPr lang="en-US" sz="1800" dirty="0"/>
              <a:t>  Bit1 = TRUE</a:t>
            </a:r>
          </a:p>
          <a:p>
            <a:pPr marL="0" indent="0">
              <a:buNone/>
            </a:pPr>
            <a:r>
              <a:rPr lang="en-US" sz="1800" dirty="0"/>
              <a:t>  state = b</a:t>
            </a:r>
          </a:p>
          <a:p>
            <a:pPr marL="0" indent="0">
              <a:buNone/>
            </a:pPr>
            <a:r>
              <a:rPr lang="en-US" sz="1800" dirty="0"/>
              <a:t>  input = FALSE</a:t>
            </a:r>
          </a:p>
        </p:txBody>
      </p:sp>
      <p:sp>
        <p:nvSpPr>
          <p:cNvPr id="5" name="TextBox 4"/>
          <p:cNvSpPr txBox="1"/>
          <p:nvPr/>
        </p:nvSpPr>
        <p:spPr>
          <a:xfrm>
            <a:off x="4476464" y="1281161"/>
            <a:ext cx="3302759" cy="4247317"/>
          </a:xfrm>
          <a:prstGeom prst="rect">
            <a:avLst/>
          </a:prstGeom>
          <a:noFill/>
        </p:spPr>
        <p:txBody>
          <a:bodyPr wrap="square" rtlCol="0">
            <a:spAutoFit/>
          </a:bodyPr>
          <a:lstStyle/>
          <a:p>
            <a:r>
              <a:rPr lang="en-US" dirty="0"/>
              <a:t>-&gt; State: 1.3 &lt;-</a:t>
            </a:r>
          </a:p>
          <a:p>
            <a:r>
              <a:rPr lang="en-US" dirty="0"/>
              <a:t>  Bit1 = FALSE</a:t>
            </a:r>
          </a:p>
          <a:p>
            <a:r>
              <a:rPr lang="en-US" dirty="0"/>
              <a:t>  Bit2 = TRUE</a:t>
            </a:r>
          </a:p>
          <a:p>
            <a:r>
              <a:rPr lang="en-US" dirty="0"/>
              <a:t>  state = c</a:t>
            </a:r>
          </a:p>
          <a:p>
            <a:r>
              <a:rPr lang="en-US" dirty="0"/>
              <a:t>  input = TRUE</a:t>
            </a:r>
          </a:p>
          <a:p>
            <a:r>
              <a:rPr lang="en-US" dirty="0"/>
              <a:t>-&gt; State: 1.4 &lt;-</a:t>
            </a:r>
          </a:p>
          <a:p>
            <a:r>
              <a:rPr lang="en-US" dirty="0"/>
              <a:t>  Bit1 = TRUE</a:t>
            </a:r>
          </a:p>
          <a:p>
            <a:r>
              <a:rPr lang="en-US" dirty="0"/>
              <a:t>  Bit2 = FALSE</a:t>
            </a:r>
          </a:p>
          <a:p>
            <a:r>
              <a:rPr lang="en-US" dirty="0"/>
              <a:t>  state = b</a:t>
            </a:r>
          </a:p>
          <a:p>
            <a:r>
              <a:rPr lang="en-US" dirty="0"/>
              <a:t>-- Loop starts here</a:t>
            </a:r>
          </a:p>
          <a:p>
            <a:r>
              <a:rPr lang="en-US" dirty="0"/>
              <a:t>-&gt; State: 1.5 &lt;-</a:t>
            </a:r>
          </a:p>
          <a:p>
            <a:r>
              <a:rPr lang="en-US" dirty="0"/>
              <a:t>  Bit2 = TRUE</a:t>
            </a:r>
          </a:p>
          <a:p>
            <a:r>
              <a:rPr lang="en-US" dirty="0"/>
              <a:t>  state = d</a:t>
            </a:r>
          </a:p>
          <a:p>
            <a:r>
              <a:rPr lang="en-US" dirty="0"/>
              <a:t>-&gt; State: 1.6 &lt;-</a:t>
            </a:r>
          </a:p>
          <a:p>
            <a:endParaRPr lang="en-US" dirty="0"/>
          </a:p>
        </p:txBody>
      </p:sp>
    </p:spTree>
    <p:extLst>
      <p:ext uri="{BB962C8B-B14F-4D97-AF65-F5344CB8AC3E}">
        <p14:creationId xmlns:p14="http://schemas.microsoft.com/office/powerpoint/2010/main" val="2859860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Automated White-box TCG</a:t>
            </a:r>
          </a:p>
        </p:txBody>
      </p:sp>
      <p:sp>
        <p:nvSpPr>
          <p:cNvPr id="3" name="Content Placeholder 2"/>
          <p:cNvSpPr>
            <a:spLocks noGrp="1"/>
          </p:cNvSpPr>
          <p:nvPr>
            <p:ph idx="1"/>
          </p:nvPr>
        </p:nvSpPr>
        <p:spPr/>
        <p:txBody>
          <a:bodyPr/>
          <a:lstStyle/>
          <a:p>
            <a:r>
              <a:rPr lang="en-US" dirty="0"/>
              <a:t>We can use a model checker to generate counterexamples to formulas (i.e. test cases) with </a:t>
            </a:r>
            <a:r>
              <a:rPr lang="en-US" dirty="0">
                <a:solidFill>
                  <a:srgbClr val="0000FF"/>
                </a:solidFill>
              </a:rPr>
              <a:t>specific structural properties</a:t>
            </a:r>
            <a:r>
              <a:rPr lang="en-US" dirty="0"/>
              <a:t>.</a:t>
            </a:r>
          </a:p>
          <a:p>
            <a:r>
              <a:rPr lang="en-US" dirty="0"/>
              <a:t>This is done by inspecting the </a:t>
            </a:r>
            <a:r>
              <a:rPr lang="en-US" dirty="0">
                <a:solidFill>
                  <a:srgbClr val="0000FF"/>
                </a:solidFill>
              </a:rPr>
              <a:t>graph structure </a:t>
            </a:r>
            <a:r>
              <a:rPr lang="en-US" dirty="0"/>
              <a:t>of the automaton</a:t>
            </a:r>
          </a:p>
          <a:p>
            <a:r>
              <a:rPr lang="en-US" dirty="0"/>
              <a:t>i.e. </a:t>
            </a:r>
            <a:r>
              <a:rPr lang="en-US" dirty="0">
                <a:solidFill>
                  <a:srgbClr val="0000FF"/>
                </a:solidFill>
              </a:rPr>
              <a:t>white/glass box testing</a:t>
            </a:r>
          </a:p>
          <a:p>
            <a:r>
              <a:rPr lang="en-US" dirty="0"/>
              <a:t>“</a:t>
            </a:r>
            <a:r>
              <a:rPr lang="en-US" dirty="0">
                <a:solidFill>
                  <a:srgbClr val="0000FF"/>
                </a:solidFill>
              </a:rPr>
              <a:t>Most</a:t>
            </a:r>
            <a:r>
              <a:rPr lang="en-US" dirty="0"/>
              <a:t>” use of model checkers concerns this.</a:t>
            </a:r>
          </a:p>
        </p:txBody>
      </p:sp>
    </p:spTree>
    <p:extLst>
      <p:ext uri="{BB962C8B-B14F-4D97-AF65-F5344CB8AC3E}">
        <p14:creationId xmlns:p14="http://schemas.microsoft.com/office/powerpoint/2010/main" val="290279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1562"/>
            <a:ext cx="8229600" cy="1143000"/>
          </a:xfrm>
        </p:spPr>
        <p:txBody>
          <a:bodyPr>
            <a:normAutofit/>
          </a:bodyPr>
          <a:lstStyle/>
          <a:p>
            <a:r>
              <a:rPr lang="en-US" dirty="0"/>
              <a:t>Test Requirements/ Trap Properties</a:t>
            </a:r>
          </a:p>
        </p:txBody>
      </p:sp>
      <p:sp>
        <p:nvSpPr>
          <p:cNvPr id="3" name="Content Placeholder 2"/>
          <p:cNvSpPr>
            <a:spLocks noGrp="1"/>
          </p:cNvSpPr>
          <p:nvPr>
            <p:ph idx="1"/>
          </p:nvPr>
        </p:nvSpPr>
        <p:spPr/>
        <p:txBody>
          <a:bodyPr>
            <a:normAutofit fontScale="92500" lnSpcReduction="10000"/>
          </a:bodyPr>
          <a:lstStyle/>
          <a:p>
            <a:r>
              <a:rPr lang="en-US" dirty="0"/>
              <a:t>Recall a test requirement is a </a:t>
            </a:r>
            <a:r>
              <a:rPr lang="en-US" i="1" dirty="0"/>
              <a:t>requirement that can be satisfied by one or more test cases</a:t>
            </a:r>
          </a:p>
          <a:p>
            <a:r>
              <a:rPr lang="en-US" dirty="0"/>
              <a:t>Basic idea is to capture each test requirement as an LTL formula known as a “</a:t>
            </a:r>
            <a:r>
              <a:rPr lang="en-US" dirty="0">
                <a:solidFill>
                  <a:srgbClr val="FF0000"/>
                </a:solidFill>
              </a:rPr>
              <a:t>trap property</a:t>
            </a:r>
            <a:r>
              <a:rPr lang="en-US" dirty="0"/>
              <a:t>”</a:t>
            </a:r>
          </a:p>
          <a:p>
            <a:pPr marL="0" indent="0">
              <a:buNone/>
            </a:pPr>
            <a:r>
              <a:rPr lang="en-US" dirty="0"/>
              <a:t>	</a:t>
            </a:r>
            <a:r>
              <a:rPr lang="en-US" u="sng" dirty="0"/>
              <a:t>Example</a:t>
            </a:r>
            <a:r>
              <a:rPr lang="en-US" dirty="0"/>
              <a:t>  Suppose the test requirement is “</a:t>
            </a:r>
            <a:r>
              <a:rPr lang="en-US" i="1" dirty="0">
                <a:solidFill>
                  <a:srgbClr val="0000FF"/>
                </a:solidFill>
              </a:rPr>
              <a:t>cover 	state D</a:t>
            </a:r>
            <a:r>
              <a:rPr lang="en-US" dirty="0"/>
              <a:t>”</a:t>
            </a:r>
          </a:p>
          <a:p>
            <a:pPr marL="0" indent="0">
              <a:buNone/>
            </a:pPr>
            <a:r>
              <a:rPr lang="en-US" dirty="0"/>
              <a:t>	Trap property is </a:t>
            </a:r>
            <a:r>
              <a:rPr lang="en-US" dirty="0">
                <a:solidFill>
                  <a:srgbClr val="0000FF"/>
                </a:solidFill>
                <a:latin typeface="Courier New"/>
                <a:cs typeface="Courier New"/>
              </a:rPr>
              <a:t>G!( Bit1 &amp; Bit2 ) </a:t>
            </a:r>
          </a:p>
          <a:p>
            <a:pPr marL="0" indent="0">
              <a:buNone/>
            </a:pPr>
            <a:r>
              <a:rPr lang="en-US" dirty="0"/>
              <a:t>	This formula is </a:t>
            </a:r>
            <a:r>
              <a:rPr lang="en-US" dirty="0">
                <a:solidFill>
                  <a:srgbClr val="0000FF"/>
                </a:solidFill>
                <a:latin typeface="Courier New"/>
                <a:cs typeface="Courier New"/>
              </a:rPr>
              <a:t>False</a:t>
            </a:r>
            <a:r>
              <a:rPr lang="en-US" dirty="0"/>
              <a:t> and any counterexample 	must be a path that goes through state </a:t>
            </a:r>
            <a:r>
              <a:rPr lang="en-US" dirty="0">
                <a:solidFill>
                  <a:srgbClr val="0000FF"/>
                </a:solidFill>
                <a:latin typeface="Courier New"/>
                <a:cs typeface="Courier New"/>
              </a:rPr>
              <a:t>D</a:t>
            </a:r>
            <a:r>
              <a:rPr lang="en-US" dirty="0"/>
              <a:t>.</a:t>
            </a:r>
          </a:p>
        </p:txBody>
      </p:sp>
      <p:sp>
        <p:nvSpPr>
          <p:cNvPr id="4" name="Rectangle 3"/>
          <p:cNvSpPr/>
          <p:nvPr/>
        </p:nvSpPr>
        <p:spPr>
          <a:xfrm>
            <a:off x="457200" y="3408219"/>
            <a:ext cx="8229600" cy="2834202"/>
          </a:xfrm>
          <a:prstGeom prst="rect">
            <a:avLst/>
          </a:prstGeom>
          <a:gradFill flip="none" rotWithShape="1">
            <a:gsLst>
              <a:gs pos="0">
                <a:schemeClr val="accent1">
                  <a:tint val="100000"/>
                  <a:shade val="100000"/>
                  <a:satMod val="130000"/>
                  <a:alpha val="13000"/>
                </a:schemeClr>
              </a:gs>
              <a:gs pos="100000">
                <a:schemeClr val="accent1">
                  <a:tint val="50000"/>
                  <a:shade val="100000"/>
                  <a:satMod val="350000"/>
                  <a:alpha val="1300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7267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additive="base">
                                        <p:cTn id="3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Car Controller with accelerate input</a:t>
            </a:r>
          </a:p>
        </p:txBody>
      </p:sp>
      <p:sp>
        <p:nvSpPr>
          <p:cNvPr id="4" name="Oval 3"/>
          <p:cNvSpPr/>
          <p:nvPr/>
        </p:nvSpPr>
        <p:spPr>
          <a:xfrm>
            <a:off x="1524000" y="2757714"/>
            <a:ext cx="1814286" cy="166914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Velocity = stop</a:t>
            </a:r>
          </a:p>
        </p:txBody>
      </p:sp>
      <p:sp>
        <p:nvSpPr>
          <p:cNvPr id="7" name="Oval 6"/>
          <p:cNvSpPr/>
          <p:nvPr/>
        </p:nvSpPr>
        <p:spPr>
          <a:xfrm>
            <a:off x="5294085" y="4579257"/>
            <a:ext cx="1814286" cy="166914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Velocity = fast</a:t>
            </a:r>
          </a:p>
        </p:txBody>
      </p:sp>
      <p:sp>
        <p:nvSpPr>
          <p:cNvPr id="8" name="Oval 7"/>
          <p:cNvSpPr/>
          <p:nvPr/>
        </p:nvSpPr>
        <p:spPr>
          <a:xfrm>
            <a:off x="5294085" y="1756228"/>
            <a:ext cx="1814286" cy="166914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Velocity = slow</a:t>
            </a:r>
          </a:p>
        </p:txBody>
      </p:sp>
      <p:cxnSp>
        <p:nvCxnSpPr>
          <p:cNvPr id="10" name="Straight Arrow Connector 9"/>
          <p:cNvCxnSpPr>
            <a:endCxn id="8" idx="2"/>
          </p:cNvCxnSpPr>
          <p:nvPr/>
        </p:nvCxnSpPr>
        <p:spPr>
          <a:xfrm flipV="1">
            <a:off x="3211286" y="2590800"/>
            <a:ext cx="2082799" cy="59013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520483" y="2435554"/>
            <a:ext cx="1156349" cy="369332"/>
          </a:xfrm>
          <a:prstGeom prst="rect">
            <a:avLst/>
          </a:prstGeom>
          <a:noFill/>
        </p:spPr>
        <p:txBody>
          <a:bodyPr wrap="none" rtlCol="0">
            <a:spAutoFit/>
          </a:bodyPr>
          <a:lstStyle/>
          <a:p>
            <a:r>
              <a:rPr lang="en-US" dirty="0"/>
              <a:t>accelerate</a:t>
            </a:r>
          </a:p>
        </p:txBody>
      </p:sp>
      <p:cxnSp>
        <p:nvCxnSpPr>
          <p:cNvPr id="13" name="Straight Arrow Connector 12"/>
          <p:cNvCxnSpPr>
            <a:stCxn id="8" idx="4"/>
            <a:endCxn id="7" idx="0"/>
          </p:cNvCxnSpPr>
          <p:nvPr/>
        </p:nvCxnSpPr>
        <p:spPr>
          <a:xfrm>
            <a:off x="6201228" y="3425371"/>
            <a:ext cx="0" cy="11538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4879" y="3852217"/>
            <a:ext cx="1156349" cy="369332"/>
          </a:xfrm>
          <a:prstGeom prst="rect">
            <a:avLst/>
          </a:prstGeom>
          <a:noFill/>
        </p:spPr>
        <p:txBody>
          <a:bodyPr wrap="none" rtlCol="0">
            <a:spAutoFit/>
          </a:bodyPr>
          <a:lstStyle/>
          <a:p>
            <a:r>
              <a:rPr lang="en-US" dirty="0"/>
              <a:t>accelerate</a:t>
            </a:r>
          </a:p>
        </p:txBody>
      </p:sp>
      <p:cxnSp>
        <p:nvCxnSpPr>
          <p:cNvPr id="23" name="Straight Arrow Connector 22"/>
          <p:cNvCxnSpPr>
            <a:stCxn id="7" idx="7"/>
            <a:endCxn id="8" idx="5"/>
          </p:cNvCxnSpPr>
          <p:nvPr/>
        </p:nvCxnSpPr>
        <p:spPr>
          <a:xfrm flipV="1">
            <a:off x="6842675" y="3180931"/>
            <a:ext cx="0" cy="16427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098295" y="3901691"/>
            <a:ext cx="1231527" cy="369332"/>
          </a:xfrm>
          <a:prstGeom prst="rect">
            <a:avLst/>
          </a:prstGeom>
          <a:noFill/>
        </p:spPr>
        <p:txBody>
          <a:bodyPr wrap="none" rtlCol="0">
            <a:spAutoFit/>
          </a:bodyPr>
          <a:lstStyle/>
          <a:p>
            <a:r>
              <a:rPr lang="en-US" dirty="0"/>
              <a:t>!accelerate</a:t>
            </a:r>
          </a:p>
        </p:txBody>
      </p:sp>
      <p:cxnSp>
        <p:nvCxnSpPr>
          <p:cNvPr id="26" name="Straight Arrow Connector 25"/>
          <p:cNvCxnSpPr>
            <a:stCxn id="8" idx="1"/>
            <a:endCxn id="4" idx="0"/>
          </p:cNvCxnSpPr>
          <p:nvPr/>
        </p:nvCxnSpPr>
        <p:spPr>
          <a:xfrm flipH="1">
            <a:off x="2431143" y="2000668"/>
            <a:ext cx="3128638" cy="7570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520483" y="1818890"/>
            <a:ext cx="1231527" cy="369332"/>
          </a:xfrm>
          <a:prstGeom prst="rect">
            <a:avLst/>
          </a:prstGeom>
          <a:noFill/>
        </p:spPr>
        <p:txBody>
          <a:bodyPr wrap="none" rtlCol="0">
            <a:spAutoFit/>
          </a:bodyPr>
          <a:lstStyle/>
          <a:p>
            <a:r>
              <a:rPr lang="en-US" dirty="0"/>
              <a:t>!accelerate</a:t>
            </a:r>
          </a:p>
        </p:txBody>
      </p:sp>
      <p:sp>
        <p:nvSpPr>
          <p:cNvPr id="31" name="TextBox 30"/>
          <p:cNvSpPr txBox="1"/>
          <p:nvPr/>
        </p:nvSpPr>
        <p:spPr>
          <a:xfrm>
            <a:off x="457200" y="4953001"/>
            <a:ext cx="3881082" cy="523220"/>
          </a:xfrm>
          <a:prstGeom prst="rect">
            <a:avLst/>
          </a:prstGeom>
          <a:noFill/>
        </p:spPr>
        <p:txBody>
          <a:bodyPr wrap="square" rtlCol="0">
            <a:spAutoFit/>
          </a:bodyPr>
          <a:lstStyle/>
          <a:p>
            <a:r>
              <a:rPr lang="en-US" sz="2800" dirty="0"/>
              <a:t>Basic idea (incomplete)</a:t>
            </a:r>
          </a:p>
        </p:txBody>
      </p:sp>
      <p:cxnSp>
        <p:nvCxnSpPr>
          <p:cNvPr id="5" name="Straight Arrow Connector 4"/>
          <p:cNvCxnSpPr>
            <a:endCxn id="4" idx="1"/>
          </p:cNvCxnSpPr>
          <p:nvPr/>
        </p:nvCxnSpPr>
        <p:spPr>
          <a:xfrm>
            <a:off x="1090706" y="2435554"/>
            <a:ext cx="698990" cy="566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7949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1714"/>
            <a:ext cx="8229600" cy="5654449"/>
          </a:xfrm>
        </p:spPr>
        <p:txBody>
          <a:bodyPr>
            <a:normAutofit fontScale="32500" lnSpcReduction="20000"/>
          </a:bodyPr>
          <a:lstStyle/>
          <a:p>
            <a:pPr marL="0" indent="0">
              <a:buNone/>
            </a:pPr>
            <a:r>
              <a:rPr lang="en-US" sz="4900" dirty="0">
                <a:solidFill>
                  <a:srgbClr val="0000FF"/>
                </a:solidFill>
                <a:latin typeface="Lucida Sans Typewriter" panose="020B0509030504030204" pitchFamily="49" charset="0"/>
                <a:cs typeface="Courier New"/>
              </a:rPr>
              <a:t>MODULE main</a:t>
            </a:r>
          </a:p>
          <a:p>
            <a:pPr marL="0" indent="0">
              <a:buNone/>
            </a:pPr>
            <a:endParaRPr lang="en-US" sz="4900" dirty="0">
              <a:solidFill>
                <a:srgbClr val="0000FF"/>
              </a:solidFill>
              <a:latin typeface="Lucida Sans Typewriter" panose="020B0509030504030204" pitchFamily="49" charset="0"/>
              <a:cs typeface="Courier New"/>
            </a:endParaRPr>
          </a:p>
          <a:p>
            <a:pPr marL="0" indent="0">
              <a:buNone/>
            </a:pPr>
            <a:endParaRPr lang="en-US" sz="4900" dirty="0">
              <a:solidFill>
                <a:srgbClr val="0000FF"/>
              </a:solidFill>
              <a:latin typeface="Lucida Sans Typewriter" panose="020B0509030504030204" pitchFamily="49" charset="0"/>
              <a:cs typeface="Courier New"/>
            </a:endParaRPr>
          </a:p>
          <a:p>
            <a:pPr marL="0" indent="0">
              <a:buNone/>
            </a:pPr>
            <a:r>
              <a:rPr lang="en-US" sz="4900" dirty="0">
                <a:solidFill>
                  <a:srgbClr val="0000FF"/>
                </a:solidFill>
                <a:latin typeface="Lucida Sans Typewriter" panose="020B0509030504030204" pitchFamily="49" charset="0"/>
                <a:cs typeface="Courier New"/>
              </a:rPr>
              <a:t>VAR</a:t>
            </a:r>
          </a:p>
          <a:p>
            <a:pPr marL="0" indent="0">
              <a:buNone/>
            </a:pPr>
            <a:r>
              <a:rPr lang="en-US" sz="4900" dirty="0">
                <a:solidFill>
                  <a:srgbClr val="0000FF"/>
                </a:solidFill>
                <a:latin typeface="Lucida Sans Typewriter" panose="020B0509030504030204" pitchFamily="49" charset="0"/>
                <a:cs typeface="Courier New"/>
              </a:rPr>
              <a:t>velocity : {stop, slow, fast};</a:t>
            </a:r>
          </a:p>
          <a:p>
            <a:pPr marL="0" indent="0">
              <a:buNone/>
            </a:pPr>
            <a:endParaRPr lang="en-US" sz="4900" dirty="0">
              <a:solidFill>
                <a:srgbClr val="0000FF"/>
              </a:solidFill>
              <a:latin typeface="Lucida Sans Typewriter" panose="020B0509030504030204" pitchFamily="49" charset="0"/>
              <a:cs typeface="Courier New"/>
            </a:endParaRPr>
          </a:p>
          <a:p>
            <a:pPr marL="0" indent="0">
              <a:buNone/>
            </a:pPr>
            <a:r>
              <a:rPr lang="en-US" sz="4900" dirty="0">
                <a:solidFill>
                  <a:srgbClr val="0000FF"/>
                </a:solidFill>
                <a:latin typeface="Lucida Sans Typewriter" panose="020B0509030504030204" pitchFamily="49" charset="0"/>
                <a:cs typeface="Courier New"/>
              </a:rPr>
              <a:t>IVAR</a:t>
            </a:r>
          </a:p>
          <a:p>
            <a:pPr marL="0" indent="0">
              <a:buNone/>
            </a:pPr>
            <a:r>
              <a:rPr lang="en-US" sz="4900" dirty="0">
                <a:solidFill>
                  <a:srgbClr val="0000FF"/>
                </a:solidFill>
                <a:latin typeface="Lucida Sans Typewriter" panose="020B0509030504030204" pitchFamily="49" charset="0"/>
                <a:cs typeface="Courier New"/>
              </a:rPr>
              <a:t>brake: </a:t>
            </a:r>
            <a:r>
              <a:rPr lang="en-US" sz="4900" dirty="0" err="1">
                <a:solidFill>
                  <a:srgbClr val="0000FF"/>
                </a:solidFill>
                <a:latin typeface="Lucida Sans Typewriter" panose="020B0509030504030204" pitchFamily="49" charset="0"/>
                <a:cs typeface="Courier New"/>
              </a:rPr>
              <a:t>boolean</a:t>
            </a:r>
            <a:r>
              <a:rPr lang="en-US" sz="4900" dirty="0">
                <a:solidFill>
                  <a:srgbClr val="0000FF"/>
                </a:solidFill>
                <a:latin typeface="Lucida Sans Typewriter" panose="020B0509030504030204" pitchFamily="49" charset="0"/>
                <a:cs typeface="Courier New"/>
              </a:rPr>
              <a:t>;</a:t>
            </a:r>
          </a:p>
          <a:p>
            <a:pPr marL="0" indent="0">
              <a:buNone/>
            </a:pPr>
            <a:r>
              <a:rPr lang="en-US" sz="4900" dirty="0">
                <a:solidFill>
                  <a:srgbClr val="0000FF"/>
                </a:solidFill>
                <a:latin typeface="Lucida Sans Typewriter" panose="020B0509030504030204" pitchFamily="49" charset="0"/>
                <a:cs typeface="Courier New"/>
              </a:rPr>
              <a:t>accelerate : </a:t>
            </a:r>
            <a:r>
              <a:rPr lang="en-US" sz="4900" dirty="0" err="1">
                <a:solidFill>
                  <a:srgbClr val="0000FF"/>
                </a:solidFill>
                <a:latin typeface="Lucida Sans Typewriter" panose="020B0509030504030204" pitchFamily="49" charset="0"/>
                <a:cs typeface="Courier New"/>
              </a:rPr>
              <a:t>boolean</a:t>
            </a:r>
            <a:r>
              <a:rPr lang="en-US" sz="4900" dirty="0">
                <a:solidFill>
                  <a:srgbClr val="0000FF"/>
                </a:solidFill>
                <a:latin typeface="Lucida Sans Typewriter" panose="020B0509030504030204" pitchFamily="49" charset="0"/>
                <a:cs typeface="Courier New"/>
              </a:rPr>
              <a:t>;</a:t>
            </a:r>
          </a:p>
          <a:p>
            <a:pPr marL="0" indent="0">
              <a:buNone/>
            </a:pPr>
            <a:endParaRPr lang="en-US" sz="4900" dirty="0">
              <a:solidFill>
                <a:srgbClr val="0000FF"/>
              </a:solidFill>
              <a:latin typeface="Lucida Sans Typewriter" panose="020B0509030504030204" pitchFamily="49" charset="0"/>
              <a:cs typeface="Courier New"/>
            </a:endParaRPr>
          </a:p>
          <a:p>
            <a:pPr marL="0" indent="0">
              <a:buNone/>
            </a:pPr>
            <a:r>
              <a:rPr lang="en-US" sz="4900" dirty="0">
                <a:solidFill>
                  <a:srgbClr val="0000FF"/>
                </a:solidFill>
                <a:latin typeface="Lucida Sans Typewriter" panose="020B0509030504030204" pitchFamily="49" charset="0"/>
                <a:cs typeface="Courier New"/>
              </a:rPr>
              <a:t>ASSIGN</a:t>
            </a:r>
          </a:p>
          <a:p>
            <a:pPr marL="0" indent="0">
              <a:buNone/>
            </a:pPr>
            <a:r>
              <a:rPr lang="en-US" sz="4900" dirty="0" err="1">
                <a:solidFill>
                  <a:srgbClr val="0000FF"/>
                </a:solidFill>
                <a:latin typeface="Lucida Sans Typewriter" panose="020B0509030504030204" pitchFamily="49" charset="0"/>
                <a:cs typeface="Courier New"/>
              </a:rPr>
              <a:t>init</a:t>
            </a:r>
            <a:r>
              <a:rPr lang="en-US" sz="4900" dirty="0">
                <a:solidFill>
                  <a:srgbClr val="0000FF"/>
                </a:solidFill>
                <a:latin typeface="Lucida Sans Typewriter" panose="020B0509030504030204" pitchFamily="49" charset="0"/>
                <a:cs typeface="Courier New"/>
              </a:rPr>
              <a:t>(velocity) := stop;</a:t>
            </a:r>
          </a:p>
          <a:p>
            <a:pPr marL="0" indent="0">
              <a:buNone/>
            </a:pPr>
            <a:endParaRPr lang="en-US" sz="4900" dirty="0">
              <a:solidFill>
                <a:srgbClr val="0000FF"/>
              </a:solidFill>
              <a:latin typeface="Lucida Sans Typewriter" panose="020B0509030504030204" pitchFamily="49" charset="0"/>
              <a:cs typeface="Courier New"/>
            </a:endParaRPr>
          </a:p>
          <a:p>
            <a:pPr marL="0" indent="0">
              <a:buNone/>
            </a:pPr>
            <a:endParaRPr lang="en-US" sz="4900" dirty="0">
              <a:solidFill>
                <a:srgbClr val="0000FF"/>
              </a:solidFill>
              <a:latin typeface="Lucida Sans Typewriter" panose="020B0509030504030204" pitchFamily="49" charset="0"/>
              <a:cs typeface="Courier New"/>
            </a:endParaRPr>
          </a:p>
          <a:p>
            <a:pPr marL="0" indent="0">
              <a:buNone/>
            </a:pPr>
            <a:r>
              <a:rPr lang="en-US" sz="4900" dirty="0">
                <a:solidFill>
                  <a:srgbClr val="0000FF"/>
                </a:solidFill>
                <a:latin typeface="Lucida Sans Typewriter" panose="020B0509030504030204" pitchFamily="49" charset="0"/>
                <a:cs typeface="Courier New"/>
              </a:rPr>
              <a:t>next(velocity):= case</a:t>
            </a:r>
          </a:p>
          <a:p>
            <a:pPr marL="0" indent="0">
              <a:buNone/>
            </a:pPr>
            <a:r>
              <a:rPr lang="en-US" sz="4900" dirty="0">
                <a:solidFill>
                  <a:srgbClr val="0000FF"/>
                </a:solidFill>
                <a:latin typeface="Lucida Sans Typewriter" panose="020B0509030504030204" pitchFamily="49" charset="0"/>
                <a:cs typeface="Courier New"/>
              </a:rPr>
              <a:t>	velocity = stop &amp; accelerate = TRUE:  slow;</a:t>
            </a:r>
          </a:p>
          <a:p>
            <a:pPr marL="0" indent="0">
              <a:buNone/>
            </a:pPr>
            <a:r>
              <a:rPr lang="en-US" sz="4900" dirty="0">
                <a:solidFill>
                  <a:srgbClr val="0000FF"/>
                </a:solidFill>
                <a:latin typeface="Lucida Sans Typewriter" panose="020B0509030504030204" pitchFamily="49" charset="0"/>
                <a:cs typeface="Courier New"/>
              </a:rPr>
              <a:t>	velocity = stop &amp; accelerate = FALSE: stop;</a:t>
            </a:r>
          </a:p>
          <a:p>
            <a:pPr marL="0" indent="0">
              <a:buNone/>
            </a:pPr>
            <a:r>
              <a:rPr lang="en-US" sz="4900" dirty="0">
                <a:solidFill>
                  <a:srgbClr val="0000FF"/>
                </a:solidFill>
                <a:latin typeface="Lucida Sans Typewriter" panose="020B0509030504030204" pitchFamily="49" charset="0"/>
                <a:cs typeface="Courier New"/>
              </a:rPr>
              <a:t>	velocity = slow &amp; accelerate = TRUE : fast;</a:t>
            </a:r>
          </a:p>
          <a:p>
            <a:pPr marL="0" indent="0">
              <a:buNone/>
            </a:pPr>
            <a:r>
              <a:rPr lang="en-US" sz="4900" dirty="0">
                <a:solidFill>
                  <a:srgbClr val="0000FF"/>
                </a:solidFill>
                <a:latin typeface="Lucida Sans Typewriter" panose="020B0509030504030204" pitchFamily="49" charset="0"/>
                <a:cs typeface="Courier New"/>
              </a:rPr>
              <a:t>	velocity = slow &amp; accelerate = FALSE: stop;</a:t>
            </a:r>
          </a:p>
          <a:p>
            <a:pPr marL="0" indent="0">
              <a:buNone/>
            </a:pPr>
            <a:r>
              <a:rPr lang="en-US" sz="4900" dirty="0">
                <a:solidFill>
                  <a:srgbClr val="0000FF"/>
                </a:solidFill>
                <a:latin typeface="Lucida Sans Typewriter" panose="020B0509030504030204" pitchFamily="49" charset="0"/>
                <a:cs typeface="Courier New"/>
              </a:rPr>
              <a:t>	velocity = fast &amp; accelerate = TRUE : fast;</a:t>
            </a:r>
          </a:p>
          <a:p>
            <a:pPr marL="0" indent="0">
              <a:buNone/>
            </a:pPr>
            <a:r>
              <a:rPr lang="en-US" sz="4900" dirty="0">
                <a:solidFill>
                  <a:srgbClr val="0000FF"/>
                </a:solidFill>
                <a:latin typeface="Lucida Sans Typewriter" panose="020B0509030504030204" pitchFamily="49" charset="0"/>
                <a:cs typeface="Courier New"/>
              </a:rPr>
              <a:t>	velocity = fast </a:t>
            </a:r>
            <a:r>
              <a:rPr lang="en-US" sz="4900">
                <a:solidFill>
                  <a:srgbClr val="0000FF"/>
                </a:solidFill>
                <a:latin typeface="Lucida Sans Typewriter" panose="020B0509030504030204" pitchFamily="49" charset="0"/>
                <a:cs typeface="Courier New"/>
              </a:rPr>
              <a:t>&amp; accelerate = FALSE: </a:t>
            </a:r>
            <a:r>
              <a:rPr lang="en-US" sz="4900" dirty="0">
                <a:solidFill>
                  <a:srgbClr val="0000FF"/>
                </a:solidFill>
                <a:latin typeface="Lucida Sans Typewriter" panose="020B0509030504030204" pitchFamily="49" charset="0"/>
                <a:cs typeface="Courier New"/>
              </a:rPr>
              <a:t>stop;</a:t>
            </a:r>
          </a:p>
          <a:p>
            <a:pPr marL="0" indent="0">
              <a:buNone/>
            </a:pPr>
            <a:r>
              <a:rPr lang="en-US" sz="4900" dirty="0" err="1">
                <a:solidFill>
                  <a:srgbClr val="0000FF"/>
                </a:solidFill>
                <a:latin typeface="Lucida Sans Typewriter" panose="020B0509030504030204" pitchFamily="49" charset="0"/>
                <a:cs typeface="Courier New"/>
              </a:rPr>
              <a:t>esac</a:t>
            </a:r>
            <a:r>
              <a:rPr lang="en-US" sz="4900" dirty="0">
                <a:solidFill>
                  <a:srgbClr val="0000FF"/>
                </a:solidFill>
                <a:latin typeface="Lucida Sans Typewriter" panose="020B0509030504030204" pitchFamily="49" charset="0"/>
                <a:cs typeface="Courier New"/>
              </a:rPr>
              <a:t>;</a:t>
            </a:r>
            <a:endParaRPr lang="en-US" sz="3600" dirty="0">
              <a:solidFill>
                <a:srgbClr val="0000FF"/>
              </a:solidFill>
              <a:latin typeface="Lucida Sans Typewriter" panose="020B0509030504030204" pitchFamily="49" charset="0"/>
              <a:cs typeface="Courier New"/>
            </a:endParaRPr>
          </a:p>
        </p:txBody>
      </p:sp>
    </p:spTree>
    <p:extLst>
      <p:ext uri="{BB962C8B-B14F-4D97-AF65-F5344CB8AC3E}">
        <p14:creationId xmlns:p14="http://schemas.microsoft.com/office/powerpoint/2010/main" val="4229812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Trap properties for Structural Coverage Models</a:t>
            </a:r>
          </a:p>
        </p:txBody>
      </p:sp>
      <p:sp>
        <p:nvSpPr>
          <p:cNvPr id="3" name="Content Placeholder 2"/>
          <p:cNvSpPr>
            <a:spLocks noGrp="1"/>
          </p:cNvSpPr>
          <p:nvPr>
            <p:ph idx="1"/>
          </p:nvPr>
        </p:nvSpPr>
        <p:spPr/>
        <p:txBody>
          <a:bodyPr/>
          <a:lstStyle/>
          <a:p>
            <a:r>
              <a:rPr lang="en-US" dirty="0"/>
              <a:t>Let us use NuSMV to automatically construct test suites that satisfy the different </a:t>
            </a:r>
            <a:r>
              <a:rPr lang="en-US" dirty="0">
                <a:solidFill>
                  <a:srgbClr val="0000FF"/>
                </a:solidFill>
              </a:rPr>
              <a:t>structural coverage models</a:t>
            </a:r>
            <a:r>
              <a:rPr lang="en-US" dirty="0"/>
              <a:t> for White-box testing:</a:t>
            </a:r>
          </a:p>
          <a:p>
            <a:r>
              <a:rPr lang="en-US" dirty="0"/>
              <a:t>Examples: </a:t>
            </a:r>
          </a:p>
          <a:p>
            <a:pPr lvl="1"/>
            <a:r>
              <a:rPr lang="en-US" dirty="0">
                <a:solidFill>
                  <a:srgbClr val="0000FF"/>
                </a:solidFill>
              </a:rPr>
              <a:t>Node coverage NC</a:t>
            </a:r>
          </a:p>
          <a:p>
            <a:pPr lvl="1"/>
            <a:r>
              <a:rPr lang="en-US" dirty="0">
                <a:solidFill>
                  <a:srgbClr val="0000FF"/>
                </a:solidFill>
              </a:rPr>
              <a:t>Edge coverage EC</a:t>
            </a:r>
          </a:p>
          <a:p>
            <a:pPr lvl="1"/>
            <a:r>
              <a:rPr lang="en-US" dirty="0">
                <a:solidFill>
                  <a:srgbClr val="0000FF"/>
                </a:solidFill>
              </a:rPr>
              <a:t>Condition coverage PC</a:t>
            </a:r>
          </a:p>
          <a:p>
            <a:r>
              <a:rPr lang="en-US" dirty="0"/>
              <a:t>How to interpret these concepts?</a:t>
            </a:r>
          </a:p>
        </p:txBody>
      </p:sp>
    </p:spTree>
    <p:extLst>
      <p:ext uri="{BB962C8B-B14F-4D97-AF65-F5344CB8AC3E}">
        <p14:creationId xmlns:p14="http://schemas.microsoft.com/office/powerpoint/2010/main" val="1587080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 Coverage for CC</a:t>
            </a:r>
          </a:p>
        </p:txBody>
      </p:sp>
      <p:sp>
        <p:nvSpPr>
          <p:cNvPr id="3" name="Content Placeholder 2"/>
          <p:cNvSpPr>
            <a:spLocks noGrp="1"/>
          </p:cNvSpPr>
          <p:nvPr>
            <p:ph idx="1"/>
          </p:nvPr>
        </p:nvSpPr>
        <p:spPr/>
        <p:txBody>
          <a:bodyPr>
            <a:normAutofit fontScale="85000" lnSpcReduction="20000"/>
          </a:bodyPr>
          <a:lstStyle/>
          <a:p>
            <a:r>
              <a:rPr lang="en-US" dirty="0">
                <a:solidFill>
                  <a:srgbClr val="FF0000"/>
                </a:solidFill>
              </a:rPr>
              <a:t>Want a path that visits each node</a:t>
            </a:r>
          </a:p>
          <a:p>
            <a:r>
              <a:rPr lang="en-US" dirty="0"/>
              <a:t>Simple approach: 1 trap property per node</a:t>
            </a:r>
          </a:p>
          <a:p>
            <a:r>
              <a:rPr lang="en-US" dirty="0"/>
              <a:t>General form: </a:t>
            </a:r>
          </a:p>
          <a:p>
            <a:r>
              <a:rPr lang="en-US" dirty="0">
                <a:solidFill>
                  <a:srgbClr val="0000FF"/>
                </a:solidFill>
                <a:latin typeface="Courier New"/>
                <a:cs typeface="Courier New"/>
              </a:rPr>
              <a:t>G(!“</a:t>
            </a:r>
            <a:r>
              <a:rPr lang="en-US" dirty="0" err="1">
                <a:solidFill>
                  <a:srgbClr val="0000FF"/>
                </a:solidFill>
                <a:latin typeface="Courier New"/>
                <a:cs typeface="Courier New"/>
              </a:rPr>
              <a:t>unique_state_property</a:t>
            </a:r>
            <a:r>
              <a:rPr lang="en-US" dirty="0">
                <a:solidFill>
                  <a:srgbClr val="0000FF"/>
                </a:solidFill>
                <a:latin typeface="Courier New"/>
                <a:cs typeface="Courier New"/>
              </a:rPr>
              <a:t>”)</a:t>
            </a:r>
          </a:p>
          <a:p>
            <a:r>
              <a:rPr lang="en-US" dirty="0">
                <a:latin typeface="+mj-lt"/>
                <a:cs typeface="Courier New"/>
              </a:rPr>
              <a:t>Counterexamples satisfy: </a:t>
            </a:r>
          </a:p>
          <a:p>
            <a:r>
              <a:rPr lang="en-US" dirty="0">
                <a:solidFill>
                  <a:srgbClr val="0000FF"/>
                </a:solidFill>
                <a:latin typeface="Courier New"/>
                <a:cs typeface="Courier New"/>
              </a:rPr>
              <a:t>F(“</a:t>
            </a:r>
            <a:r>
              <a:rPr lang="en-US" dirty="0" err="1">
                <a:solidFill>
                  <a:srgbClr val="0000FF"/>
                </a:solidFill>
                <a:latin typeface="Courier New"/>
                <a:cs typeface="Courier New"/>
              </a:rPr>
              <a:t>unique_state_property</a:t>
            </a:r>
            <a:r>
              <a:rPr lang="en-US" dirty="0">
                <a:solidFill>
                  <a:srgbClr val="0000FF"/>
                </a:solidFill>
                <a:latin typeface="Courier New"/>
                <a:cs typeface="Courier New"/>
              </a:rPr>
              <a:t>” )</a:t>
            </a:r>
          </a:p>
          <a:p>
            <a:r>
              <a:rPr lang="en-US" dirty="0">
                <a:latin typeface="+mj-lt"/>
                <a:cs typeface="Courier New"/>
              </a:rPr>
              <a:t>Examples:</a:t>
            </a:r>
          </a:p>
          <a:p>
            <a:pPr marL="0" indent="0" algn="ctr">
              <a:buNone/>
            </a:pPr>
            <a:r>
              <a:rPr lang="en-US" dirty="0">
                <a:solidFill>
                  <a:srgbClr val="0000FF"/>
                </a:solidFill>
                <a:latin typeface="Courier New"/>
                <a:cs typeface="Courier New"/>
              </a:rPr>
              <a:t>G(!velocity = stop)</a:t>
            </a:r>
          </a:p>
          <a:p>
            <a:pPr marL="0" indent="0" algn="ctr">
              <a:buNone/>
            </a:pPr>
            <a:r>
              <a:rPr lang="en-US" dirty="0">
                <a:solidFill>
                  <a:srgbClr val="0000FF"/>
                </a:solidFill>
                <a:latin typeface="Courier New"/>
                <a:cs typeface="Courier New"/>
              </a:rPr>
              <a:t>G(!velocity = slow)</a:t>
            </a:r>
          </a:p>
          <a:p>
            <a:pPr marL="0" indent="0" algn="ctr">
              <a:buNone/>
            </a:pPr>
            <a:r>
              <a:rPr lang="en-US" dirty="0">
                <a:solidFill>
                  <a:srgbClr val="0000FF"/>
                </a:solidFill>
                <a:latin typeface="Courier New"/>
                <a:cs typeface="Courier New"/>
              </a:rPr>
              <a:t>G(!velocity = fast)</a:t>
            </a:r>
          </a:p>
        </p:txBody>
      </p:sp>
    </p:spTree>
    <p:extLst>
      <p:ext uri="{BB962C8B-B14F-4D97-AF65-F5344CB8AC3E}">
        <p14:creationId xmlns:p14="http://schemas.microsoft.com/office/powerpoint/2010/main" val="1380477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 coverage for CC</a:t>
            </a:r>
          </a:p>
        </p:txBody>
      </p:sp>
      <p:sp>
        <p:nvSpPr>
          <p:cNvPr id="3" name="Content Placeholder 2"/>
          <p:cNvSpPr>
            <a:spLocks noGrp="1"/>
          </p:cNvSpPr>
          <p:nvPr>
            <p:ph idx="1"/>
          </p:nvPr>
        </p:nvSpPr>
        <p:spPr>
          <a:xfrm>
            <a:off x="164353" y="1600200"/>
            <a:ext cx="8800353" cy="4525963"/>
          </a:xfrm>
        </p:spPr>
        <p:txBody>
          <a:bodyPr>
            <a:normAutofit fontScale="92500" lnSpcReduction="20000"/>
          </a:bodyPr>
          <a:lstStyle/>
          <a:p>
            <a:r>
              <a:rPr lang="en-US" dirty="0">
                <a:solidFill>
                  <a:srgbClr val="FF0000"/>
                </a:solidFill>
              </a:rPr>
              <a:t>Want to be sure we traverse each edge between any pair of nodes</a:t>
            </a:r>
          </a:p>
          <a:p>
            <a:endParaRPr lang="en-US" dirty="0"/>
          </a:p>
          <a:p>
            <a:endParaRPr lang="en-US" dirty="0"/>
          </a:p>
          <a:p>
            <a:endParaRPr lang="en-US" dirty="0"/>
          </a:p>
          <a:p>
            <a:r>
              <a:rPr lang="en-US" dirty="0"/>
              <a:t>General form </a:t>
            </a:r>
            <a:r>
              <a:rPr lang="en-US" dirty="0">
                <a:solidFill>
                  <a:srgbClr val="0000FF"/>
                </a:solidFill>
              </a:rPr>
              <a:t>G( α &amp; </a:t>
            </a:r>
            <a:r>
              <a:rPr lang="en-US" dirty="0" err="1">
                <a:solidFill>
                  <a:srgbClr val="0000FF"/>
                </a:solidFill>
              </a:rPr>
              <a:t>ϕ</a:t>
            </a:r>
            <a:r>
              <a:rPr lang="en-US" dirty="0">
                <a:solidFill>
                  <a:srgbClr val="0000FF"/>
                </a:solidFill>
              </a:rPr>
              <a:t> -&gt; X !β )</a:t>
            </a:r>
          </a:p>
          <a:p>
            <a:r>
              <a:rPr lang="en-US" dirty="0"/>
              <a:t>Counterexample satisfies </a:t>
            </a:r>
            <a:r>
              <a:rPr lang="en-US" dirty="0">
                <a:solidFill>
                  <a:srgbClr val="0000FF"/>
                </a:solidFill>
              </a:rPr>
              <a:t>F(α &amp; </a:t>
            </a:r>
            <a:r>
              <a:rPr lang="en-US" dirty="0" err="1">
                <a:solidFill>
                  <a:srgbClr val="0000FF"/>
                </a:solidFill>
              </a:rPr>
              <a:t>ϕ</a:t>
            </a:r>
            <a:r>
              <a:rPr lang="en-US" dirty="0">
                <a:solidFill>
                  <a:srgbClr val="0000FF"/>
                </a:solidFill>
              </a:rPr>
              <a:t> &amp; X β )</a:t>
            </a:r>
          </a:p>
          <a:p>
            <a:r>
              <a:rPr lang="en-US" dirty="0"/>
              <a:t>Example (3 more cases): </a:t>
            </a:r>
          </a:p>
          <a:p>
            <a:pPr marL="0" indent="0">
              <a:buNone/>
            </a:pPr>
            <a:r>
              <a:rPr lang="en-US" sz="2400" dirty="0">
                <a:solidFill>
                  <a:srgbClr val="0000FF"/>
                </a:solidFill>
                <a:latin typeface="Courier New"/>
                <a:cs typeface="Courier New"/>
              </a:rPr>
              <a:t>G(velocity=stop &amp; accelerate -&gt; X velocity=slow)</a:t>
            </a:r>
          </a:p>
          <a:p>
            <a:r>
              <a:rPr lang="en-US" sz="3000" dirty="0">
                <a:latin typeface="+mj-lt"/>
                <a:cs typeface="Courier New"/>
              </a:rPr>
              <a:t>Exercise: define the remaining 3 trap formulas</a:t>
            </a:r>
          </a:p>
          <a:p>
            <a:pPr marL="0" indent="0">
              <a:buNone/>
            </a:pPr>
            <a:endParaRPr lang="en-US" dirty="0"/>
          </a:p>
        </p:txBody>
      </p:sp>
      <p:sp>
        <p:nvSpPr>
          <p:cNvPr id="4" name="Oval 3"/>
          <p:cNvSpPr/>
          <p:nvPr/>
        </p:nvSpPr>
        <p:spPr>
          <a:xfrm>
            <a:off x="2061882" y="2525058"/>
            <a:ext cx="971177" cy="9562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t>α</a:t>
            </a:r>
          </a:p>
        </p:txBody>
      </p:sp>
      <p:sp>
        <p:nvSpPr>
          <p:cNvPr id="5" name="Oval 4"/>
          <p:cNvSpPr/>
          <p:nvPr/>
        </p:nvSpPr>
        <p:spPr>
          <a:xfrm>
            <a:off x="4784164" y="2539999"/>
            <a:ext cx="971177" cy="9562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β</a:t>
            </a:r>
          </a:p>
        </p:txBody>
      </p:sp>
      <p:cxnSp>
        <p:nvCxnSpPr>
          <p:cNvPr id="7" name="Straight Arrow Connector 6"/>
          <p:cNvCxnSpPr>
            <a:stCxn id="4" idx="6"/>
            <a:endCxn id="5" idx="2"/>
          </p:cNvCxnSpPr>
          <p:nvPr/>
        </p:nvCxnSpPr>
        <p:spPr>
          <a:xfrm>
            <a:off x="3033059" y="3003176"/>
            <a:ext cx="1751105" cy="149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627547" y="2525058"/>
            <a:ext cx="385141" cy="461665"/>
          </a:xfrm>
          <a:prstGeom prst="rect">
            <a:avLst/>
          </a:prstGeom>
          <a:noFill/>
        </p:spPr>
        <p:txBody>
          <a:bodyPr wrap="none" rtlCol="0">
            <a:spAutoFit/>
          </a:bodyPr>
          <a:lstStyle/>
          <a:p>
            <a:r>
              <a:rPr lang="en-US" sz="2400" dirty="0" err="1"/>
              <a:t>φ</a:t>
            </a:r>
            <a:endParaRPr lang="en-US" sz="2400" dirty="0"/>
          </a:p>
        </p:txBody>
      </p:sp>
    </p:spTree>
    <p:extLst>
      <p:ext uri="{BB962C8B-B14F-4D97-AF65-F5344CB8AC3E}">
        <p14:creationId xmlns:p14="http://schemas.microsoft.com/office/powerpoint/2010/main" val="3438961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Coverage for CC</a:t>
            </a:r>
          </a:p>
        </p:txBody>
      </p:sp>
      <p:sp>
        <p:nvSpPr>
          <p:cNvPr id="3" name="Content Placeholder 2"/>
          <p:cNvSpPr>
            <a:spLocks noGrp="1"/>
          </p:cNvSpPr>
          <p:nvPr>
            <p:ph idx="1"/>
          </p:nvPr>
        </p:nvSpPr>
        <p:spPr/>
        <p:txBody>
          <a:bodyPr/>
          <a:lstStyle/>
          <a:p>
            <a:r>
              <a:rPr lang="en-US" dirty="0">
                <a:solidFill>
                  <a:srgbClr val="FF0000"/>
                </a:solidFill>
              </a:rPr>
              <a:t>For each transition, and each Boolean guard v there exist two test cases for the transition: (1) guard is true. (2) guard is false</a:t>
            </a:r>
          </a:p>
        </p:txBody>
      </p:sp>
      <p:sp>
        <p:nvSpPr>
          <p:cNvPr id="4" name="Oval 3"/>
          <p:cNvSpPr/>
          <p:nvPr/>
        </p:nvSpPr>
        <p:spPr>
          <a:xfrm>
            <a:off x="2061882" y="3989294"/>
            <a:ext cx="971177" cy="9562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t>α</a:t>
            </a:r>
          </a:p>
        </p:txBody>
      </p:sp>
      <p:sp>
        <p:nvSpPr>
          <p:cNvPr id="5" name="Oval 4"/>
          <p:cNvSpPr/>
          <p:nvPr/>
        </p:nvSpPr>
        <p:spPr>
          <a:xfrm>
            <a:off x="5068047" y="3989294"/>
            <a:ext cx="971177" cy="9562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β</a:t>
            </a:r>
          </a:p>
        </p:txBody>
      </p:sp>
      <p:cxnSp>
        <p:nvCxnSpPr>
          <p:cNvPr id="6" name="Straight Arrow Connector 5"/>
          <p:cNvCxnSpPr>
            <a:endCxn id="5" idx="2"/>
          </p:cNvCxnSpPr>
          <p:nvPr/>
        </p:nvCxnSpPr>
        <p:spPr>
          <a:xfrm>
            <a:off x="3033059" y="4452471"/>
            <a:ext cx="2034988" cy="149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54588" y="4163216"/>
            <a:ext cx="2339453" cy="523220"/>
          </a:xfrm>
          <a:prstGeom prst="rect">
            <a:avLst/>
          </a:prstGeom>
          <a:noFill/>
        </p:spPr>
        <p:txBody>
          <a:bodyPr wrap="none" rtlCol="0">
            <a:spAutoFit/>
          </a:bodyPr>
          <a:lstStyle/>
          <a:p>
            <a:r>
              <a:rPr lang="en-US" sz="2800" dirty="0">
                <a:solidFill>
                  <a:srgbClr val="0000FF"/>
                </a:solidFill>
                <a:latin typeface="Courier New"/>
                <a:cs typeface="Courier New"/>
              </a:rPr>
              <a:t>Boolean v;</a:t>
            </a:r>
          </a:p>
        </p:txBody>
      </p:sp>
      <p:sp>
        <p:nvSpPr>
          <p:cNvPr id="10" name="TextBox 9"/>
          <p:cNvSpPr txBox="1"/>
          <p:nvPr/>
        </p:nvSpPr>
        <p:spPr>
          <a:xfrm>
            <a:off x="1060823" y="5393765"/>
            <a:ext cx="6424705" cy="1107996"/>
          </a:xfrm>
          <a:prstGeom prst="rect">
            <a:avLst/>
          </a:prstGeom>
          <a:noFill/>
        </p:spPr>
        <p:txBody>
          <a:bodyPr wrap="square" rtlCol="0">
            <a:spAutoFit/>
          </a:bodyPr>
          <a:lstStyle/>
          <a:p>
            <a:r>
              <a:rPr lang="en-US" sz="2400" dirty="0">
                <a:solidFill>
                  <a:srgbClr val="0000FF"/>
                </a:solidFill>
                <a:latin typeface="Courier New"/>
                <a:cs typeface="Courier New"/>
              </a:rPr>
              <a:t>G(α &amp; v) -&gt; X(!β)     </a:t>
            </a:r>
          </a:p>
          <a:p>
            <a:r>
              <a:rPr lang="en-US" sz="2400" dirty="0">
                <a:solidFill>
                  <a:srgbClr val="0000FF"/>
                </a:solidFill>
                <a:latin typeface="Courier New"/>
                <a:cs typeface="Courier New"/>
              </a:rPr>
              <a:t>G(α &amp; !v) -&gt; X(!β)</a:t>
            </a:r>
          </a:p>
          <a:p>
            <a:endParaRPr lang="en-US" dirty="0"/>
          </a:p>
        </p:txBody>
      </p:sp>
    </p:spTree>
    <p:extLst>
      <p:ext uri="{BB962C8B-B14F-4D97-AF65-F5344CB8AC3E}">
        <p14:creationId xmlns:p14="http://schemas.microsoft.com/office/powerpoint/2010/main" val="12129481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Requirements-based TCG</a:t>
            </a:r>
          </a:p>
        </p:txBody>
      </p:sp>
      <p:sp>
        <p:nvSpPr>
          <p:cNvPr id="3" name="Content Placeholder 2"/>
          <p:cNvSpPr>
            <a:spLocks noGrp="1"/>
          </p:cNvSpPr>
          <p:nvPr>
            <p:ph idx="1"/>
          </p:nvPr>
        </p:nvSpPr>
        <p:spPr/>
        <p:txBody>
          <a:bodyPr/>
          <a:lstStyle/>
          <a:p>
            <a:r>
              <a:rPr lang="en-US" dirty="0"/>
              <a:t>Can we also perform requirements-based test case generation?</a:t>
            </a:r>
          </a:p>
          <a:p>
            <a:r>
              <a:rPr lang="en-US" dirty="0"/>
              <a:t>Want to test the requirements are fulfilled rather than explore structure of the code.</a:t>
            </a:r>
          </a:p>
          <a:p>
            <a:r>
              <a:rPr lang="en-US" dirty="0"/>
              <a:t>Can look at </a:t>
            </a:r>
            <a:r>
              <a:rPr lang="en-US" dirty="0">
                <a:solidFill>
                  <a:srgbClr val="0000FF"/>
                </a:solidFill>
              </a:rPr>
              <a:t>negation of a requirement</a:t>
            </a:r>
          </a:p>
        </p:txBody>
      </p:sp>
    </p:spTree>
    <p:extLst>
      <p:ext uri="{BB962C8B-B14F-4D97-AF65-F5344CB8AC3E}">
        <p14:creationId xmlns:p14="http://schemas.microsoft.com/office/powerpoint/2010/main" val="761824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 Study: Car Controller with accelerate and brake input</a:t>
            </a:r>
          </a:p>
        </p:txBody>
      </p:sp>
      <p:sp>
        <p:nvSpPr>
          <p:cNvPr id="4" name="Oval 3"/>
          <p:cNvSpPr/>
          <p:nvPr/>
        </p:nvSpPr>
        <p:spPr>
          <a:xfrm>
            <a:off x="1524000" y="2757714"/>
            <a:ext cx="1814286" cy="166914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Velocity = stop</a:t>
            </a:r>
          </a:p>
        </p:txBody>
      </p:sp>
      <p:sp>
        <p:nvSpPr>
          <p:cNvPr id="7" name="Oval 6"/>
          <p:cNvSpPr/>
          <p:nvPr/>
        </p:nvSpPr>
        <p:spPr>
          <a:xfrm>
            <a:off x="5294085" y="4579257"/>
            <a:ext cx="1814286" cy="166914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Velocity = fast</a:t>
            </a:r>
          </a:p>
        </p:txBody>
      </p:sp>
      <p:sp>
        <p:nvSpPr>
          <p:cNvPr id="8" name="Oval 7"/>
          <p:cNvSpPr/>
          <p:nvPr/>
        </p:nvSpPr>
        <p:spPr>
          <a:xfrm>
            <a:off x="5294085" y="1756228"/>
            <a:ext cx="1814286" cy="166914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Velocity = slow</a:t>
            </a:r>
          </a:p>
        </p:txBody>
      </p:sp>
      <p:cxnSp>
        <p:nvCxnSpPr>
          <p:cNvPr id="10" name="Straight Arrow Connector 9"/>
          <p:cNvCxnSpPr>
            <a:endCxn id="8" idx="2"/>
          </p:cNvCxnSpPr>
          <p:nvPr/>
        </p:nvCxnSpPr>
        <p:spPr>
          <a:xfrm flipV="1">
            <a:off x="3211286" y="2590800"/>
            <a:ext cx="2082799" cy="59013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520483" y="2435554"/>
            <a:ext cx="1156349" cy="369332"/>
          </a:xfrm>
          <a:prstGeom prst="rect">
            <a:avLst/>
          </a:prstGeom>
          <a:noFill/>
        </p:spPr>
        <p:txBody>
          <a:bodyPr wrap="none" rtlCol="0">
            <a:spAutoFit/>
          </a:bodyPr>
          <a:lstStyle/>
          <a:p>
            <a:r>
              <a:rPr lang="en-US" dirty="0"/>
              <a:t>accelerate</a:t>
            </a:r>
          </a:p>
        </p:txBody>
      </p:sp>
      <p:cxnSp>
        <p:nvCxnSpPr>
          <p:cNvPr id="13" name="Straight Arrow Connector 12"/>
          <p:cNvCxnSpPr>
            <a:stCxn id="8" idx="4"/>
            <a:endCxn id="7" idx="0"/>
          </p:cNvCxnSpPr>
          <p:nvPr/>
        </p:nvCxnSpPr>
        <p:spPr>
          <a:xfrm>
            <a:off x="6201228" y="3425371"/>
            <a:ext cx="0" cy="11538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4879" y="3852217"/>
            <a:ext cx="1156349" cy="369332"/>
          </a:xfrm>
          <a:prstGeom prst="rect">
            <a:avLst/>
          </a:prstGeom>
          <a:noFill/>
        </p:spPr>
        <p:txBody>
          <a:bodyPr wrap="none" rtlCol="0">
            <a:spAutoFit/>
          </a:bodyPr>
          <a:lstStyle/>
          <a:p>
            <a:r>
              <a:rPr lang="en-US" dirty="0"/>
              <a:t>accelerate</a:t>
            </a:r>
          </a:p>
        </p:txBody>
      </p:sp>
      <p:cxnSp>
        <p:nvCxnSpPr>
          <p:cNvPr id="16" name="Straight Arrow Connector 15"/>
          <p:cNvCxnSpPr>
            <a:stCxn id="7" idx="2"/>
            <a:endCxn id="4" idx="5"/>
          </p:cNvCxnSpPr>
          <p:nvPr/>
        </p:nvCxnSpPr>
        <p:spPr>
          <a:xfrm flipH="1" flipV="1">
            <a:off x="3072590" y="4182417"/>
            <a:ext cx="2221495" cy="1231412"/>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36247" y="4394591"/>
            <a:ext cx="716775" cy="369332"/>
          </a:xfrm>
          <a:prstGeom prst="rect">
            <a:avLst/>
          </a:prstGeom>
          <a:noFill/>
        </p:spPr>
        <p:txBody>
          <a:bodyPr wrap="none" rtlCol="0">
            <a:spAutoFit/>
          </a:bodyPr>
          <a:lstStyle/>
          <a:p>
            <a:r>
              <a:rPr lang="en-US" dirty="0">
                <a:solidFill>
                  <a:srgbClr val="FF0000"/>
                </a:solidFill>
              </a:rPr>
              <a:t>brake</a:t>
            </a:r>
          </a:p>
        </p:txBody>
      </p:sp>
      <p:cxnSp>
        <p:nvCxnSpPr>
          <p:cNvPr id="19" name="Straight Arrow Connector 18"/>
          <p:cNvCxnSpPr>
            <a:endCxn id="4" idx="6"/>
          </p:cNvCxnSpPr>
          <p:nvPr/>
        </p:nvCxnSpPr>
        <p:spPr>
          <a:xfrm flipH="1">
            <a:off x="3338286" y="3002154"/>
            <a:ext cx="2100302" cy="590132"/>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38282" y="3425371"/>
            <a:ext cx="716775" cy="369332"/>
          </a:xfrm>
          <a:prstGeom prst="rect">
            <a:avLst/>
          </a:prstGeom>
          <a:noFill/>
        </p:spPr>
        <p:txBody>
          <a:bodyPr wrap="none" rtlCol="0">
            <a:spAutoFit/>
          </a:bodyPr>
          <a:lstStyle/>
          <a:p>
            <a:r>
              <a:rPr lang="en-US" dirty="0">
                <a:solidFill>
                  <a:srgbClr val="FF0000"/>
                </a:solidFill>
              </a:rPr>
              <a:t>brake</a:t>
            </a:r>
          </a:p>
        </p:txBody>
      </p:sp>
      <p:cxnSp>
        <p:nvCxnSpPr>
          <p:cNvPr id="23" name="Straight Arrow Connector 22"/>
          <p:cNvCxnSpPr>
            <a:stCxn id="7" idx="7"/>
            <a:endCxn id="8" idx="5"/>
          </p:cNvCxnSpPr>
          <p:nvPr/>
        </p:nvCxnSpPr>
        <p:spPr>
          <a:xfrm flipV="1">
            <a:off x="6842675" y="3180931"/>
            <a:ext cx="0" cy="16427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098295" y="3901691"/>
            <a:ext cx="1231527" cy="369332"/>
          </a:xfrm>
          <a:prstGeom prst="rect">
            <a:avLst/>
          </a:prstGeom>
          <a:noFill/>
        </p:spPr>
        <p:txBody>
          <a:bodyPr wrap="none" rtlCol="0">
            <a:spAutoFit/>
          </a:bodyPr>
          <a:lstStyle/>
          <a:p>
            <a:r>
              <a:rPr lang="en-US" dirty="0"/>
              <a:t>!accelerate</a:t>
            </a:r>
          </a:p>
        </p:txBody>
      </p:sp>
      <p:cxnSp>
        <p:nvCxnSpPr>
          <p:cNvPr id="26" name="Straight Arrow Connector 25"/>
          <p:cNvCxnSpPr>
            <a:stCxn id="8" idx="1"/>
            <a:endCxn id="4" idx="0"/>
          </p:cNvCxnSpPr>
          <p:nvPr/>
        </p:nvCxnSpPr>
        <p:spPr>
          <a:xfrm flipH="1">
            <a:off x="2431143" y="2000668"/>
            <a:ext cx="3128638" cy="75704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520483" y="1818890"/>
            <a:ext cx="1231527" cy="369332"/>
          </a:xfrm>
          <a:prstGeom prst="rect">
            <a:avLst/>
          </a:prstGeom>
          <a:noFill/>
        </p:spPr>
        <p:txBody>
          <a:bodyPr wrap="none" rtlCol="0">
            <a:spAutoFit/>
          </a:bodyPr>
          <a:lstStyle/>
          <a:p>
            <a:r>
              <a:rPr lang="en-US" dirty="0"/>
              <a:t>!accelerate</a:t>
            </a:r>
          </a:p>
        </p:txBody>
      </p:sp>
      <p:sp>
        <p:nvSpPr>
          <p:cNvPr id="31" name="TextBox 30"/>
          <p:cNvSpPr txBox="1"/>
          <p:nvPr/>
        </p:nvSpPr>
        <p:spPr>
          <a:xfrm>
            <a:off x="457200" y="4953001"/>
            <a:ext cx="3881082" cy="523220"/>
          </a:xfrm>
          <a:prstGeom prst="rect">
            <a:avLst/>
          </a:prstGeom>
          <a:noFill/>
        </p:spPr>
        <p:txBody>
          <a:bodyPr wrap="square" rtlCol="0">
            <a:spAutoFit/>
          </a:bodyPr>
          <a:lstStyle/>
          <a:p>
            <a:r>
              <a:rPr lang="en-US" sz="2800" dirty="0"/>
              <a:t>Basic idea (incomplete)</a:t>
            </a:r>
          </a:p>
        </p:txBody>
      </p:sp>
      <p:cxnSp>
        <p:nvCxnSpPr>
          <p:cNvPr id="5" name="Straight Arrow Connector 4"/>
          <p:cNvCxnSpPr>
            <a:endCxn id="4" idx="1"/>
          </p:cNvCxnSpPr>
          <p:nvPr/>
        </p:nvCxnSpPr>
        <p:spPr>
          <a:xfrm>
            <a:off x="1090706" y="2435554"/>
            <a:ext cx="698990" cy="566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8417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 Controller LTL requirements</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1. Whenever the brake is activated, car has to stop</a:t>
            </a:r>
          </a:p>
          <a:p>
            <a:pPr marL="0" indent="0" algn="ctr">
              <a:buNone/>
            </a:pPr>
            <a:r>
              <a:rPr lang="en-US" dirty="0">
                <a:solidFill>
                  <a:srgbClr val="0000FF"/>
                </a:solidFill>
                <a:latin typeface="Courier New"/>
                <a:cs typeface="Courier New"/>
              </a:rPr>
              <a:t>G(brake -&gt; X velocity=stop)</a:t>
            </a:r>
          </a:p>
          <a:p>
            <a:pPr marL="0" indent="0">
              <a:buNone/>
            </a:pPr>
            <a:r>
              <a:rPr lang="en-US" dirty="0"/>
              <a:t>2. When accelerating and not braking, velocity has to increase gradually</a:t>
            </a:r>
          </a:p>
          <a:p>
            <a:pPr marL="0" indent="0" algn="ctr">
              <a:buNone/>
            </a:pPr>
            <a:r>
              <a:rPr lang="en-US" dirty="0">
                <a:solidFill>
                  <a:srgbClr val="0000FF"/>
                </a:solidFill>
                <a:latin typeface="Courier New"/>
                <a:cs typeface="Courier New"/>
              </a:rPr>
              <a:t>G(!brake&amp; accelerate &amp; velocity=stop -&gt; </a:t>
            </a:r>
          </a:p>
          <a:p>
            <a:pPr marL="0" indent="0" algn="ctr">
              <a:buNone/>
            </a:pPr>
            <a:r>
              <a:rPr lang="en-US" dirty="0">
                <a:solidFill>
                  <a:srgbClr val="0000FF"/>
                </a:solidFill>
                <a:latin typeface="Courier New"/>
                <a:cs typeface="Courier New"/>
              </a:rPr>
              <a:t>X velocity=slow )</a:t>
            </a:r>
          </a:p>
          <a:p>
            <a:pPr marL="0" indent="0" algn="ctr">
              <a:buNone/>
            </a:pPr>
            <a:r>
              <a:rPr lang="en-US" dirty="0">
                <a:solidFill>
                  <a:srgbClr val="0000FF"/>
                </a:solidFill>
                <a:latin typeface="Courier New"/>
                <a:cs typeface="Courier New"/>
              </a:rPr>
              <a:t>G(!brake&amp; accelerate &amp; velocity=slow -&gt; </a:t>
            </a:r>
          </a:p>
          <a:p>
            <a:pPr marL="0" indent="0" algn="ctr">
              <a:buNone/>
            </a:pPr>
            <a:r>
              <a:rPr lang="en-US" dirty="0">
                <a:solidFill>
                  <a:srgbClr val="0000FF"/>
                </a:solidFill>
                <a:latin typeface="Courier New"/>
                <a:cs typeface="Courier New"/>
              </a:rPr>
              <a:t>X velocity=fast )</a:t>
            </a:r>
          </a:p>
          <a:p>
            <a:pPr marL="0" indent="0">
              <a:buNone/>
            </a:pPr>
            <a:r>
              <a:rPr lang="en-US" dirty="0"/>
              <a:t>3. When not accelerating and not braking, velocity has to decrease gradually</a:t>
            </a:r>
          </a:p>
          <a:p>
            <a:pPr marL="0" indent="0" algn="ctr">
              <a:buNone/>
            </a:pPr>
            <a:r>
              <a:rPr lang="en-US" dirty="0">
                <a:solidFill>
                  <a:srgbClr val="0000FF"/>
                </a:solidFill>
                <a:latin typeface="Courier New"/>
                <a:cs typeface="Courier New"/>
              </a:rPr>
              <a:t>G(!brake&amp; !accelerate &amp; velocity=fast -&gt; X velocity=slow)</a:t>
            </a:r>
          </a:p>
          <a:p>
            <a:pPr marL="0" indent="0" algn="ctr">
              <a:buNone/>
            </a:pPr>
            <a:r>
              <a:rPr lang="en-US" dirty="0">
                <a:solidFill>
                  <a:srgbClr val="0000FF"/>
                </a:solidFill>
                <a:latin typeface="Courier New"/>
                <a:cs typeface="Courier New"/>
              </a:rPr>
              <a:t>G(!brake&amp; accelerate &amp; velocity=slow -&gt; X velocity=stop)</a:t>
            </a:r>
          </a:p>
          <a:p>
            <a:pPr marL="0" indent="0" algn="ctr">
              <a:buNone/>
            </a:pPr>
            <a:endParaRPr lang="en-US" dirty="0">
              <a:solidFill>
                <a:srgbClr val="0000FF"/>
              </a:solidFill>
              <a:latin typeface="Courier New"/>
              <a:cs typeface="Courier New"/>
            </a:endParaRPr>
          </a:p>
        </p:txBody>
      </p:sp>
    </p:spTree>
    <p:extLst>
      <p:ext uri="{BB962C8B-B14F-4D97-AF65-F5344CB8AC3E}">
        <p14:creationId xmlns:p14="http://schemas.microsoft.com/office/powerpoint/2010/main" val="3061955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Safety  Requirements</a:t>
            </a:r>
          </a:p>
        </p:txBody>
      </p:sp>
      <p:sp>
        <p:nvSpPr>
          <p:cNvPr id="3" name="Content Placeholder 2"/>
          <p:cNvSpPr>
            <a:spLocks noGrp="1"/>
          </p:cNvSpPr>
          <p:nvPr>
            <p:ph idx="1"/>
          </p:nvPr>
        </p:nvSpPr>
        <p:spPr/>
        <p:txBody>
          <a:bodyPr>
            <a:normAutofit/>
          </a:bodyPr>
          <a:lstStyle/>
          <a:p>
            <a:r>
              <a:rPr lang="en-US" dirty="0"/>
              <a:t>A </a:t>
            </a:r>
            <a:r>
              <a:rPr lang="en-US" dirty="0">
                <a:solidFill>
                  <a:srgbClr val="FF0000"/>
                </a:solidFill>
              </a:rPr>
              <a:t>safety requirement </a:t>
            </a:r>
            <a:r>
              <a:rPr lang="en-US" dirty="0"/>
              <a:t>describes a behavior that may not occur on any path.</a:t>
            </a:r>
          </a:p>
          <a:p>
            <a:r>
              <a:rPr lang="en-US" dirty="0"/>
              <a:t>“</a:t>
            </a:r>
            <a:r>
              <a:rPr lang="en-US" i="1" dirty="0">
                <a:solidFill>
                  <a:srgbClr val="0000FF"/>
                </a:solidFill>
              </a:rPr>
              <a:t>Something bad may not happen</a:t>
            </a:r>
            <a:r>
              <a:rPr lang="en-US" dirty="0"/>
              <a:t>”</a:t>
            </a:r>
          </a:p>
          <a:p>
            <a:r>
              <a:rPr lang="en-US" dirty="0"/>
              <a:t>To verify, all execution paths must be checked exhaustively</a:t>
            </a:r>
          </a:p>
          <a:p>
            <a:r>
              <a:rPr lang="en-US" dirty="0"/>
              <a:t>Safety properties usually have the form </a:t>
            </a:r>
            <a:r>
              <a:rPr lang="en-US" dirty="0" err="1">
                <a:solidFill>
                  <a:srgbClr val="0000FF"/>
                </a:solidFill>
                <a:latin typeface="Courier New"/>
                <a:cs typeface="Courier New"/>
              </a:rPr>
              <a:t>G!φ</a:t>
            </a:r>
            <a:r>
              <a:rPr lang="en-US" dirty="0">
                <a:solidFill>
                  <a:srgbClr val="0000FF"/>
                </a:solidFill>
                <a:latin typeface="Courier New"/>
                <a:cs typeface="Courier New"/>
              </a:rPr>
              <a:t> </a:t>
            </a:r>
            <a:r>
              <a:rPr lang="en-US" dirty="0"/>
              <a:t>where </a:t>
            </a:r>
            <a:r>
              <a:rPr lang="en-US" dirty="0" err="1">
                <a:solidFill>
                  <a:srgbClr val="0000FF"/>
                </a:solidFill>
                <a:latin typeface="Courier New"/>
                <a:cs typeface="Courier New"/>
              </a:rPr>
              <a:t>φ</a:t>
            </a:r>
            <a:r>
              <a:rPr lang="en-US" dirty="0"/>
              <a:t> is the “</a:t>
            </a:r>
            <a:r>
              <a:rPr lang="en-US" i="1" dirty="0"/>
              <a:t>bad thing</a:t>
            </a:r>
            <a:r>
              <a:rPr lang="en-US" dirty="0"/>
              <a:t>”</a:t>
            </a:r>
          </a:p>
          <a:p>
            <a:r>
              <a:rPr lang="en-US" dirty="0"/>
              <a:t>Counterexamples (</a:t>
            </a:r>
            <a:r>
              <a:rPr lang="en-US" dirty="0">
                <a:solidFill>
                  <a:srgbClr val="FF0000"/>
                </a:solidFill>
              </a:rPr>
              <a:t>test cases</a:t>
            </a:r>
            <a:r>
              <a:rPr lang="en-US" dirty="0"/>
              <a:t>) are </a:t>
            </a:r>
            <a:r>
              <a:rPr lang="en-US" dirty="0">
                <a:solidFill>
                  <a:srgbClr val="FF0000"/>
                </a:solidFill>
              </a:rPr>
              <a:t>finite</a:t>
            </a:r>
          </a:p>
          <a:p>
            <a:pPr marL="0" indent="0">
              <a:buNone/>
            </a:pPr>
            <a:endParaRPr lang="en-US" dirty="0"/>
          </a:p>
        </p:txBody>
      </p:sp>
    </p:spTree>
    <p:extLst>
      <p:ext uri="{BB962C8B-B14F-4D97-AF65-F5344CB8AC3E}">
        <p14:creationId xmlns:p14="http://schemas.microsoft.com/office/powerpoint/2010/main" val="4030751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Liveness</a:t>
            </a:r>
            <a:r>
              <a:rPr lang="en-US" dirty="0"/>
              <a:t> Requirements</a:t>
            </a:r>
          </a:p>
        </p:txBody>
      </p:sp>
      <p:sp>
        <p:nvSpPr>
          <p:cNvPr id="3" name="Content Placeholder 2"/>
          <p:cNvSpPr>
            <a:spLocks noGrp="1"/>
          </p:cNvSpPr>
          <p:nvPr>
            <p:ph idx="1"/>
          </p:nvPr>
        </p:nvSpPr>
        <p:spPr/>
        <p:txBody>
          <a:bodyPr>
            <a:normAutofit lnSpcReduction="10000"/>
          </a:bodyPr>
          <a:lstStyle/>
          <a:p>
            <a:r>
              <a:rPr lang="en-US" dirty="0"/>
              <a:t>A </a:t>
            </a:r>
            <a:r>
              <a:rPr lang="en-US" dirty="0" err="1"/>
              <a:t>liveness</a:t>
            </a:r>
            <a:r>
              <a:rPr lang="en-US" dirty="0"/>
              <a:t> requirement describes a behavior that must hold on all execution paths</a:t>
            </a:r>
          </a:p>
          <a:p>
            <a:r>
              <a:rPr lang="en-US" dirty="0"/>
              <a:t>“Something good eventually happens”</a:t>
            </a:r>
          </a:p>
          <a:p>
            <a:r>
              <a:rPr lang="en-US" dirty="0"/>
              <a:t>Liveness properties may have the form</a:t>
            </a:r>
          </a:p>
          <a:p>
            <a:pPr marL="457200" lvl="1" indent="0" algn="ctr">
              <a:buNone/>
            </a:pPr>
            <a:r>
              <a:rPr lang="en-US" dirty="0">
                <a:solidFill>
                  <a:srgbClr val="0000FF"/>
                </a:solidFill>
                <a:latin typeface="Courier New"/>
                <a:cs typeface="Courier New"/>
              </a:rPr>
              <a:t>F(</a:t>
            </a:r>
            <a:r>
              <a:rPr lang="en-US" dirty="0" err="1">
                <a:solidFill>
                  <a:srgbClr val="0000FF"/>
                </a:solidFill>
                <a:latin typeface="Courier New"/>
                <a:cs typeface="Courier New"/>
              </a:rPr>
              <a:t>φ</a:t>
            </a:r>
            <a:r>
              <a:rPr lang="en-US" dirty="0">
                <a:solidFill>
                  <a:srgbClr val="0000FF"/>
                </a:solidFill>
                <a:latin typeface="Courier New"/>
                <a:cs typeface="Courier New"/>
              </a:rPr>
              <a:t>) </a:t>
            </a:r>
            <a:r>
              <a:rPr lang="en-US" dirty="0"/>
              <a:t>or	</a:t>
            </a:r>
            <a:r>
              <a:rPr lang="en-US" dirty="0">
                <a:solidFill>
                  <a:srgbClr val="0000FF"/>
                </a:solidFill>
                <a:latin typeface="Courier New"/>
                <a:cs typeface="Courier New"/>
              </a:rPr>
              <a:t>G(</a:t>
            </a:r>
            <a:r>
              <a:rPr lang="en-US" dirty="0" err="1">
                <a:solidFill>
                  <a:srgbClr val="0000FF"/>
                </a:solidFill>
                <a:latin typeface="Courier New"/>
                <a:cs typeface="Courier New"/>
              </a:rPr>
              <a:t>ϕ</a:t>
            </a:r>
            <a:r>
              <a:rPr lang="en-US" dirty="0">
                <a:solidFill>
                  <a:srgbClr val="0000FF"/>
                </a:solidFill>
                <a:latin typeface="Courier New"/>
                <a:cs typeface="Courier New"/>
              </a:rPr>
              <a:t> -&gt; </a:t>
            </a:r>
            <a:r>
              <a:rPr lang="en-US" dirty="0" err="1">
                <a:solidFill>
                  <a:srgbClr val="0000FF"/>
                </a:solidFill>
                <a:latin typeface="Courier New"/>
                <a:cs typeface="Courier New"/>
              </a:rPr>
              <a:t>X</a:t>
            </a:r>
            <a:r>
              <a:rPr lang="en-US" baseline="30000" dirty="0" err="1">
                <a:solidFill>
                  <a:srgbClr val="0000FF"/>
                </a:solidFill>
                <a:latin typeface="+mj-lt"/>
                <a:cs typeface="Courier New"/>
              </a:rPr>
              <a:t>n</a:t>
            </a:r>
            <a:r>
              <a:rPr lang="en-US" dirty="0" err="1">
                <a:solidFill>
                  <a:srgbClr val="0000FF"/>
                </a:solidFill>
                <a:latin typeface="Courier New"/>
                <a:cs typeface="Courier New"/>
              </a:rPr>
              <a:t>φ</a:t>
            </a:r>
            <a:r>
              <a:rPr lang="en-US" dirty="0">
                <a:solidFill>
                  <a:srgbClr val="0000FF"/>
                </a:solidFill>
                <a:latin typeface="Courier New"/>
                <a:cs typeface="Courier New"/>
              </a:rPr>
              <a:t> ) </a:t>
            </a:r>
            <a:r>
              <a:rPr lang="en-US" dirty="0">
                <a:cs typeface="Courier New"/>
              </a:rPr>
              <a:t>or</a:t>
            </a:r>
            <a:r>
              <a:rPr lang="en-US" dirty="0"/>
              <a:t>	</a:t>
            </a:r>
            <a:r>
              <a:rPr lang="en-US" dirty="0">
                <a:solidFill>
                  <a:srgbClr val="0000FF"/>
                </a:solidFill>
                <a:latin typeface="Courier New"/>
                <a:cs typeface="Courier New"/>
              </a:rPr>
              <a:t>G(</a:t>
            </a:r>
            <a:r>
              <a:rPr lang="en-US" dirty="0" err="1">
                <a:solidFill>
                  <a:srgbClr val="0000FF"/>
                </a:solidFill>
                <a:latin typeface="Courier New"/>
                <a:cs typeface="Courier New"/>
              </a:rPr>
              <a:t>ϕ</a:t>
            </a:r>
            <a:r>
              <a:rPr lang="en-US" dirty="0">
                <a:solidFill>
                  <a:srgbClr val="0000FF"/>
                </a:solidFill>
                <a:latin typeface="Courier New"/>
                <a:cs typeface="Courier New"/>
              </a:rPr>
              <a:t> -&gt; </a:t>
            </a:r>
            <a:r>
              <a:rPr lang="en-US" dirty="0" err="1">
                <a:solidFill>
                  <a:srgbClr val="0000FF"/>
                </a:solidFill>
                <a:latin typeface="Courier New"/>
                <a:cs typeface="Courier New"/>
              </a:rPr>
              <a:t>Fφ</a:t>
            </a:r>
            <a:r>
              <a:rPr lang="en-US" dirty="0">
                <a:solidFill>
                  <a:srgbClr val="0000FF"/>
                </a:solidFill>
                <a:latin typeface="Courier New"/>
                <a:cs typeface="Courier New"/>
              </a:rPr>
              <a:t> ) </a:t>
            </a:r>
          </a:p>
          <a:p>
            <a:pPr marL="0" indent="0">
              <a:buNone/>
            </a:pPr>
            <a:r>
              <a:rPr lang="en-US" dirty="0"/>
              <a:t>	where </a:t>
            </a:r>
            <a:r>
              <a:rPr lang="en-US" dirty="0">
                <a:solidFill>
                  <a:srgbClr val="0000FF"/>
                </a:solidFill>
                <a:latin typeface="Courier New"/>
                <a:cs typeface="Courier New"/>
              </a:rPr>
              <a:t>φ</a:t>
            </a:r>
            <a:r>
              <a:rPr lang="en-US" dirty="0"/>
              <a:t> describes the “good” thing and </a:t>
            </a:r>
            <a:r>
              <a:rPr lang="en-US" dirty="0">
                <a:solidFill>
                  <a:srgbClr val="0000FF"/>
                </a:solidFill>
                <a:latin typeface="Courier New"/>
                <a:cs typeface="Courier New"/>
              </a:rPr>
              <a:t>ϕ</a:t>
            </a:r>
            <a:r>
              <a:rPr lang="en-US" dirty="0"/>
              <a:t> is some 	</a:t>
            </a:r>
            <a:r>
              <a:rPr lang="en-US" dirty="0">
                <a:solidFill>
                  <a:srgbClr val="FF0000"/>
                </a:solidFill>
              </a:rPr>
              <a:t>precondition</a:t>
            </a:r>
            <a:r>
              <a:rPr lang="en-US" dirty="0"/>
              <a:t> needed for it to occur.</a:t>
            </a:r>
          </a:p>
          <a:p>
            <a:r>
              <a:rPr lang="en-US" dirty="0"/>
              <a:t>Counterexamples may be </a:t>
            </a:r>
            <a:r>
              <a:rPr lang="en-US" dirty="0">
                <a:solidFill>
                  <a:srgbClr val="FF0000"/>
                </a:solidFill>
              </a:rPr>
              <a:t>finite</a:t>
            </a:r>
            <a:r>
              <a:rPr lang="en-US" dirty="0"/>
              <a:t> or </a:t>
            </a:r>
            <a:r>
              <a:rPr lang="en-US" dirty="0">
                <a:solidFill>
                  <a:srgbClr val="FF0000"/>
                </a:solidFill>
              </a:rPr>
              <a:t>infinite</a:t>
            </a:r>
            <a:r>
              <a:rPr lang="en-US" dirty="0"/>
              <a:t> (why?)</a:t>
            </a:r>
          </a:p>
          <a:p>
            <a:endParaRPr lang="en-US" dirty="0"/>
          </a:p>
          <a:p>
            <a:endParaRPr lang="en-US" dirty="0"/>
          </a:p>
        </p:txBody>
      </p:sp>
    </p:spTree>
    <p:extLst>
      <p:ext uri="{BB962C8B-B14F-4D97-AF65-F5344CB8AC3E}">
        <p14:creationId xmlns:p14="http://schemas.microsoft.com/office/powerpoint/2010/main" val="3835193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Infinite Counterexamples</a:t>
            </a:r>
          </a:p>
        </p:txBody>
      </p:sp>
      <p:sp>
        <p:nvSpPr>
          <p:cNvPr id="3" name="Content Placeholder 2"/>
          <p:cNvSpPr>
            <a:spLocks noGrp="1"/>
          </p:cNvSpPr>
          <p:nvPr>
            <p:ph idx="1"/>
          </p:nvPr>
        </p:nvSpPr>
        <p:spPr/>
        <p:txBody>
          <a:bodyPr>
            <a:normAutofit fontScale="92500" lnSpcReduction="10000"/>
          </a:bodyPr>
          <a:lstStyle/>
          <a:p>
            <a:r>
              <a:rPr lang="en-US" dirty="0"/>
              <a:t>NuSMV describes infinite counterexamples as a “</a:t>
            </a:r>
            <a:r>
              <a:rPr lang="en-US" dirty="0">
                <a:solidFill>
                  <a:srgbClr val="FF0000"/>
                </a:solidFill>
              </a:rPr>
              <a:t>loop and handle</a:t>
            </a:r>
            <a:r>
              <a:rPr lang="en-US" dirty="0"/>
              <a:t>”</a:t>
            </a:r>
          </a:p>
          <a:p>
            <a:r>
              <a:rPr lang="en-US" dirty="0" err="1">
                <a:solidFill>
                  <a:srgbClr val="0000FF"/>
                </a:solidFill>
              </a:rPr>
              <a:t>a,b,c,d</a:t>
            </a:r>
            <a:r>
              <a:rPr lang="en-US" dirty="0">
                <a:solidFill>
                  <a:srgbClr val="0000FF"/>
                </a:solidFill>
              </a:rPr>
              <a:t>,(</a:t>
            </a:r>
            <a:r>
              <a:rPr lang="en-US" dirty="0" err="1">
                <a:solidFill>
                  <a:srgbClr val="0000FF"/>
                </a:solidFill>
              </a:rPr>
              <a:t>x,y,z</a:t>
            </a:r>
            <a:r>
              <a:rPr lang="en-US" dirty="0">
                <a:solidFill>
                  <a:srgbClr val="0000FF"/>
                </a:solidFill>
              </a:rPr>
              <a:t>)</a:t>
            </a:r>
            <a:r>
              <a:rPr lang="en-US" baseline="30000" dirty="0" err="1">
                <a:solidFill>
                  <a:srgbClr val="0000FF"/>
                </a:solidFill>
              </a:rPr>
              <a:t>ω</a:t>
            </a:r>
            <a:r>
              <a:rPr lang="en-US" baseline="30000" dirty="0">
                <a:solidFill>
                  <a:srgbClr val="0000FF"/>
                </a:solidFill>
              </a:rPr>
              <a:t>  </a:t>
            </a:r>
            <a:r>
              <a:rPr lang="en-US" dirty="0">
                <a:solidFill>
                  <a:srgbClr val="0000FF"/>
                </a:solidFill>
              </a:rPr>
              <a:t>  </a:t>
            </a:r>
            <a:r>
              <a:rPr lang="en-US" dirty="0"/>
              <a:t>or  </a:t>
            </a:r>
            <a:r>
              <a:rPr lang="en-US" dirty="0">
                <a:solidFill>
                  <a:srgbClr val="0000FF"/>
                </a:solidFill>
              </a:rPr>
              <a:t>handle(loop)</a:t>
            </a:r>
            <a:r>
              <a:rPr lang="en-US" baseline="30000" dirty="0">
                <a:solidFill>
                  <a:srgbClr val="0000FF"/>
                </a:solidFill>
              </a:rPr>
              <a:t> </a:t>
            </a:r>
            <a:r>
              <a:rPr lang="en-US" baseline="30000" dirty="0" err="1">
                <a:solidFill>
                  <a:srgbClr val="0000FF"/>
                </a:solidFill>
              </a:rPr>
              <a:t>ω</a:t>
            </a:r>
            <a:endParaRPr lang="en-US" baseline="30000" dirty="0">
              <a:solidFill>
                <a:srgbClr val="0000FF"/>
              </a:solidFill>
            </a:endParaRPr>
          </a:p>
          <a:p>
            <a:r>
              <a:rPr lang="en-US" dirty="0">
                <a:solidFill>
                  <a:srgbClr val="0000FF"/>
                </a:solidFill>
              </a:rPr>
              <a:t>a, …, d, x, …, z </a:t>
            </a:r>
            <a:r>
              <a:rPr lang="en-US" dirty="0"/>
              <a:t>are the individual states</a:t>
            </a:r>
          </a:p>
          <a:p>
            <a:r>
              <a:rPr lang="en-US" dirty="0"/>
              <a:t>We can generate these sequences, but can we execute them?</a:t>
            </a:r>
          </a:p>
          <a:p>
            <a:r>
              <a:rPr lang="en-US" dirty="0"/>
              <a:t>Are they test cases at all?</a:t>
            </a:r>
          </a:p>
          <a:p>
            <a:r>
              <a:rPr lang="en-US" dirty="0"/>
              <a:t>We call a </a:t>
            </a:r>
            <a:r>
              <a:rPr lang="en-US" dirty="0" err="1"/>
              <a:t>liveness</a:t>
            </a:r>
            <a:r>
              <a:rPr lang="en-US" dirty="0"/>
              <a:t> requirement </a:t>
            </a:r>
            <a:r>
              <a:rPr lang="en-US" dirty="0">
                <a:solidFill>
                  <a:srgbClr val="FF0000"/>
                </a:solidFill>
              </a:rPr>
              <a:t>finite</a:t>
            </a:r>
            <a:r>
              <a:rPr lang="en-US" dirty="0"/>
              <a:t> if all counterexamples are finite</a:t>
            </a:r>
          </a:p>
          <a:p>
            <a:endParaRPr lang="en-US" dirty="0"/>
          </a:p>
        </p:txBody>
      </p:sp>
    </p:spTree>
    <p:extLst>
      <p:ext uri="{BB962C8B-B14F-4D97-AF65-F5344CB8AC3E}">
        <p14:creationId xmlns:p14="http://schemas.microsoft.com/office/powerpoint/2010/main" val="2492434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TCG for Finite </a:t>
            </a:r>
            <a:r>
              <a:rPr lang="en-US" dirty="0" err="1"/>
              <a:t>Liveness</a:t>
            </a:r>
            <a:r>
              <a:rPr lang="en-US" dirty="0"/>
              <a:t> Requirements </a:t>
            </a:r>
          </a:p>
        </p:txBody>
      </p:sp>
      <p:sp>
        <p:nvSpPr>
          <p:cNvPr id="3" name="Content Placeholder 2"/>
          <p:cNvSpPr>
            <a:spLocks noGrp="1"/>
          </p:cNvSpPr>
          <p:nvPr>
            <p:ph idx="1"/>
          </p:nvPr>
        </p:nvSpPr>
        <p:spPr/>
        <p:txBody>
          <a:bodyPr>
            <a:normAutofit fontScale="85000" lnSpcReduction="20000"/>
          </a:bodyPr>
          <a:lstStyle/>
          <a:p>
            <a:r>
              <a:rPr lang="en-US" dirty="0"/>
              <a:t>A common form of </a:t>
            </a:r>
            <a:r>
              <a:rPr lang="en-US" dirty="0" err="1"/>
              <a:t>liveness</a:t>
            </a:r>
            <a:r>
              <a:rPr lang="en-US" dirty="0"/>
              <a:t> requirement is</a:t>
            </a:r>
          </a:p>
          <a:p>
            <a:pPr marL="0" indent="0">
              <a:buNone/>
            </a:pPr>
            <a:r>
              <a:rPr lang="en-US" dirty="0"/>
              <a:t>	</a:t>
            </a:r>
            <a:r>
              <a:rPr lang="en-US" dirty="0">
                <a:solidFill>
                  <a:srgbClr val="0000FF"/>
                </a:solidFill>
              </a:rPr>
              <a:t>G( </a:t>
            </a:r>
            <a:r>
              <a:rPr lang="en-US" dirty="0" err="1">
                <a:solidFill>
                  <a:srgbClr val="0000FF"/>
                </a:solidFill>
              </a:rPr>
              <a:t>φ</a:t>
            </a:r>
            <a:r>
              <a:rPr lang="en-US" dirty="0">
                <a:solidFill>
                  <a:srgbClr val="0000FF"/>
                </a:solidFill>
              </a:rPr>
              <a:t> -&gt; </a:t>
            </a:r>
            <a:r>
              <a:rPr lang="en-US" dirty="0" err="1">
                <a:solidFill>
                  <a:srgbClr val="0000FF"/>
                </a:solidFill>
              </a:rPr>
              <a:t>X</a:t>
            </a:r>
            <a:r>
              <a:rPr lang="en-US" baseline="30000" dirty="0" err="1">
                <a:solidFill>
                  <a:srgbClr val="0000FF"/>
                </a:solidFill>
              </a:rPr>
              <a:t>n</a:t>
            </a:r>
            <a:r>
              <a:rPr lang="en-US" dirty="0">
                <a:solidFill>
                  <a:srgbClr val="0000FF"/>
                </a:solidFill>
              </a:rPr>
              <a:t> </a:t>
            </a:r>
            <a:r>
              <a:rPr lang="en-US" dirty="0" err="1">
                <a:solidFill>
                  <a:srgbClr val="0000FF"/>
                </a:solidFill>
              </a:rPr>
              <a:t>ϕ</a:t>
            </a:r>
            <a:r>
              <a:rPr lang="en-US" dirty="0">
                <a:solidFill>
                  <a:srgbClr val="0000FF"/>
                </a:solidFill>
              </a:rPr>
              <a:t> ) </a:t>
            </a:r>
            <a:r>
              <a:rPr lang="en-US" dirty="0">
                <a:solidFill>
                  <a:srgbClr val="008000"/>
                </a:solidFill>
              </a:rPr>
              <a:t>(1)</a:t>
            </a:r>
          </a:p>
          <a:p>
            <a:r>
              <a:rPr lang="en-US" dirty="0"/>
              <a:t>Negating </a:t>
            </a:r>
            <a:r>
              <a:rPr lang="en-US" dirty="0">
                <a:solidFill>
                  <a:srgbClr val="008000"/>
                </a:solidFill>
              </a:rPr>
              <a:t>(1) </a:t>
            </a:r>
            <a:r>
              <a:rPr lang="en-US" dirty="0"/>
              <a:t>and rewriting gives </a:t>
            </a:r>
          </a:p>
          <a:p>
            <a:pPr marL="0" indent="0">
              <a:buNone/>
            </a:pPr>
            <a:r>
              <a:rPr lang="en-US" dirty="0">
                <a:solidFill>
                  <a:srgbClr val="0000FF"/>
                </a:solidFill>
              </a:rPr>
              <a:t>	F( </a:t>
            </a:r>
            <a:r>
              <a:rPr lang="en-US" dirty="0" err="1">
                <a:solidFill>
                  <a:srgbClr val="0000FF"/>
                </a:solidFill>
              </a:rPr>
              <a:t>φ</a:t>
            </a:r>
            <a:r>
              <a:rPr lang="en-US" dirty="0">
                <a:solidFill>
                  <a:srgbClr val="0000FF"/>
                </a:solidFill>
              </a:rPr>
              <a:t> &amp; </a:t>
            </a:r>
            <a:r>
              <a:rPr lang="en-US" dirty="0" err="1">
                <a:solidFill>
                  <a:srgbClr val="0000FF"/>
                </a:solidFill>
              </a:rPr>
              <a:t>X</a:t>
            </a:r>
            <a:r>
              <a:rPr lang="en-US" baseline="30000" dirty="0" err="1">
                <a:solidFill>
                  <a:srgbClr val="0000FF"/>
                </a:solidFill>
              </a:rPr>
              <a:t>n</a:t>
            </a:r>
            <a:r>
              <a:rPr lang="en-US" dirty="0">
                <a:solidFill>
                  <a:srgbClr val="0000FF"/>
                </a:solidFill>
              </a:rPr>
              <a:t> (!</a:t>
            </a:r>
            <a:r>
              <a:rPr lang="en-US" dirty="0" err="1">
                <a:solidFill>
                  <a:srgbClr val="0000FF"/>
                </a:solidFill>
              </a:rPr>
              <a:t>ϕ</a:t>
            </a:r>
            <a:r>
              <a:rPr lang="en-US" dirty="0">
                <a:solidFill>
                  <a:srgbClr val="0000FF"/>
                </a:solidFill>
              </a:rPr>
              <a:t> ) ) </a:t>
            </a:r>
            <a:r>
              <a:rPr lang="en-US" dirty="0">
                <a:solidFill>
                  <a:srgbClr val="008000"/>
                </a:solidFill>
              </a:rPr>
              <a:t>(2)</a:t>
            </a:r>
          </a:p>
          <a:p>
            <a:r>
              <a:rPr lang="en-US" dirty="0">
                <a:solidFill>
                  <a:srgbClr val="FF0000"/>
                </a:solidFill>
              </a:rPr>
              <a:t>Every counterexample to </a:t>
            </a:r>
            <a:r>
              <a:rPr lang="en-US" dirty="0">
                <a:solidFill>
                  <a:srgbClr val="008000"/>
                </a:solidFill>
              </a:rPr>
              <a:t>(2) </a:t>
            </a:r>
            <a:r>
              <a:rPr lang="en-US" dirty="0">
                <a:solidFill>
                  <a:srgbClr val="FF0000"/>
                </a:solidFill>
              </a:rPr>
              <a:t>is a solution to </a:t>
            </a:r>
            <a:r>
              <a:rPr lang="en-US" dirty="0">
                <a:solidFill>
                  <a:srgbClr val="008000"/>
                </a:solidFill>
              </a:rPr>
              <a:t>(1) </a:t>
            </a:r>
            <a:r>
              <a:rPr lang="en-US" dirty="0">
                <a:solidFill>
                  <a:srgbClr val="FF0000"/>
                </a:solidFill>
              </a:rPr>
              <a:t>i.e. an intended behavior</a:t>
            </a:r>
            <a:r>
              <a:rPr lang="en-US" dirty="0"/>
              <a:t>.</a:t>
            </a:r>
          </a:p>
          <a:p>
            <a:r>
              <a:rPr lang="en-US" dirty="0"/>
              <a:t>We can ask NuSMV for these intended behavior, and compare them against the actual behavior.</a:t>
            </a:r>
          </a:p>
          <a:p>
            <a:r>
              <a:rPr lang="en-US" dirty="0"/>
              <a:t>Edit the sequence to delete all internal and output variables</a:t>
            </a:r>
          </a:p>
          <a:p>
            <a:r>
              <a:rPr lang="en-US" dirty="0">
                <a:solidFill>
                  <a:srgbClr val="0000FF"/>
                </a:solidFill>
              </a:rPr>
              <a:t>Agreement = pass</a:t>
            </a:r>
            <a:r>
              <a:rPr lang="en-US" dirty="0"/>
              <a:t>, </a:t>
            </a:r>
            <a:r>
              <a:rPr lang="en-US" dirty="0">
                <a:solidFill>
                  <a:srgbClr val="FF0000"/>
                </a:solidFill>
              </a:rPr>
              <a:t>disagreement = fail</a:t>
            </a:r>
          </a:p>
          <a:p>
            <a:endParaRPr lang="en-US" dirty="0"/>
          </a:p>
        </p:txBody>
      </p:sp>
    </p:spTree>
    <p:extLst>
      <p:ext uri="{BB962C8B-B14F-4D97-AF65-F5344CB8AC3E}">
        <p14:creationId xmlns:p14="http://schemas.microsoft.com/office/powerpoint/2010/main" val="1668503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 Controller Examples</a:t>
            </a:r>
          </a:p>
        </p:txBody>
      </p:sp>
      <p:sp>
        <p:nvSpPr>
          <p:cNvPr id="3" name="Content Placeholder 2"/>
          <p:cNvSpPr>
            <a:spLocks noGrp="1"/>
          </p:cNvSpPr>
          <p:nvPr>
            <p:ph idx="1"/>
          </p:nvPr>
        </p:nvSpPr>
        <p:spPr/>
        <p:txBody>
          <a:bodyPr>
            <a:normAutofit/>
          </a:bodyPr>
          <a:lstStyle/>
          <a:p>
            <a:pPr marL="514350" indent="-514350">
              <a:buAutoNum type="arabicParenBoth"/>
            </a:pPr>
            <a:r>
              <a:rPr lang="en-US" dirty="0">
                <a:solidFill>
                  <a:srgbClr val="0000FF"/>
                </a:solidFill>
                <a:latin typeface="Courier New"/>
                <a:cs typeface="Courier New"/>
              </a:rPr>
              <a:t>F(brake &amp; X velocity != stop)</a:t>
            </a:r>
          </a:p>
          <a:p>
            <a:pPr marL="0" indent="0">
              <a:buNone/>
            </a:pPr>
            <a:endParaRPr lang="en-US" dirty="0">
              <a:solidFill>
                <a:srgbClr val="0000FF"/>
              </a:solidFill>
              <a:latin typeface="Courier New"/>
              <a:cs typeface="Courier New"/>
            </a:endParaRPr>
          </a:p>
          <a:p>
            <a:pPr marL="0" indent="0">
              <a:buNone/>
            </a:pPr>
            <a:r>
              <a:rPr lang="en-US" dirty="0">
                <a:solidFill>
                  <a:srgbClr val="0000FF"/>
                </a:solidFill>
                <a:cs typeface="Courier New"/>
              </a:rPr>
              <a:t>(2) </a:t>
            </a:r>
            <a:r>
              <a:rPr lang="en-US" dirty="0">
                <a:solidFill>
                  <a:srgbClr val="0000FF"/>
                </a:solidFill>
                <a:latin typeface="Courier New"/>
                <a:cs typeface="Courier New"/>
              </a:rPr>
              <a:t>F(!brake &amp; accelerate &amp; velocity=stop -&gt; X velocity=slow)</a:t>
            </a:r>
          </a:p>
          <a:p>
            <a:pPr marL="0" indent="0">
              <a:buNone/>
            </a:pPr>
            <a:endParaRPr lang="en-US" dirty="0">
              <a:solidFill>
                <a:srgbClr val="0000FF"/>
              </a:solidFill>
              <a:latin typeface="Courier New"/>
              <a:cs typeface="Courier New"/>
            </a:endParaRPr>
          </a:p>
          <a:p>
            <a:pPr marL="0" indent="0">
              <a:buNone/>
            </a:pPr>
            <a:endParaRPr lang="en-US" dirty="0">
              <a:solidFill>
                <a:srgbClr val="0000FF"/>
              </a:solidFill>
              <a:latin typeface="Courier New"/>
              <a:cs typeface="Courier New"/>
            </a:endParaRPr>
          </a:p>
          <a:p>
            <a:pPr marL="0" indent="0">
              <a:buNone/>
            </a:pPr>
            <a:endParaRPr lang="en-US" dirty="0"/>
          </a:p>
        </p:txBody>
      </p:sp>
    </p:spTree>
    <p:extLst>
      <p:ext uri="{BB962C8B-B14F-4D97-AF65-F5344CB8AC3E}">
        <p14:creationId xmlns:p14="http://schemas.microsoft.com/office/powerpoint/2010/main" val="4253405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a:t>
            </a:r>
          </a:p>
        </p:txBody>
      </p:sp>
      <p:sp>
        <p:nvSpPr>
          <p:cNvPr id="3" name="Content Placeholder 2"/>
          <p:cNvSpPr>
            <a:spLocks noGrp="1"/>
          </p:cNvSpPr>
          <p:nvPr>
            <p:ph idx="1"/>
          </p:nvPr>
        </p:nvSpPr>
        <p:spPr/>
        <p:txBody>
          <a:bodyPr/>
          <a:lstStyle/>
          <a:p>
            <a:r>
              <a:rPr lang="en-US" dirty="0">
                <a:cs typeface="Courier New"/>
              </a:rPr>
              <a:t>TCG is certainly possible using various existing algorithms.</a:t>
            </a:r>
          </a:p>
          <a:p>
            <a:endParaRPr lang="en-US" dirty="0">
              <a:cs typeface="Courier New"/>
            </a:endParaRPr>
          </a:p>
          <a:p>
            <a:r>
              <a:rPr lang="en-US">
                <a:cs typeface="Courier New"/>
              </a:rPr>
              <a:t>Generally, </a:t>
            </a:r>
            <a:r>
              <a:rPr lang="en-US" dirty="0">
                <a:cs typeface="Courier New"/>
              </a:rPr>
              <a:t>requirements MBT is trickier than structural MBT using this approach.</a:t>
            </a:r>
          </a:p>
          <a:p>
            <a:endParaRPr lang="en-US" dirty="0">
              <a:cs typeface="Courier New"/>
            </a:endParaRPr>
          </a:p>
        </p:txBody>
      </p:sp>
    </p:spTree>
    <p:extLst>
      <p:ext uri="{BB962C8B-B14F-4D97-AF65-F5344CB8AC3E}">
        <p14:creationId xmlns:p14="http://schemas.microsoft.com/office/powerpoint/2010/main" val="1811411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22224</TotalTime>
  <Words>2613</Words>
  <Application>Microsoft Office PowerPoint</Application>
  <PresentationFormat>On-screen Show (4:3)</PresentationFormat>
  <Paragraphs>329</Paragraphs>
  <Slides>33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Courier New</vt:lpstr>
      <vt:lpstr>Lucida Sans Typewriter</vt:lpstr>
      <vt:lpstr>Office Theme</vt:lpstr>
      <vt:lpstr>Model Checking &amp; ATCG with Model Checkers</vt:lpstr>
      <vt:lpstr>Model Checking</vt:lpstr>
      <vt:lpstr>Model Checking Cont’d</vt:lpstr>
      <vt:lpstr>Automated Test-Case Generation (TCG)</vt:lpstr>
      <vt:lpstr>TCG for MBT of Embedded Systems</vt:lpstr>
      <vt:lpstr>Example: 2-bit shift register</vt:lpstr>
      <vt:lpstr>Another Representation</vt:lpstr>
      <vt:lpstr>2-Bit Shift Register in NuSMV format</vt:lpstr>
      <vt:lpstr>PowerPoint Presentation</vt:lpstr>
      <vt:lpstr>Propositional Linear Temporal Logic PLTL in NuSMV syntax</vt:lpstr>
      <vt:lpstr>Examples</vt:lpstr>
      <vt:lpstr>Useful Logical Identities for LTL</vt:lpstr>
      <vt:lpstr>Specifications in NuSMV files</vt:lpstr>
      <vt:lpstr>Model Checking with NuSMV</vt:lpstr>
      <vt:lpstr>NuSMV Output Example</vt:lpstr>
      <vt:lpstr>Understanding Counterexample</vt:lpstr>
      <vt:lpstr>Automated White-box TCG</vt:lpstr>
      <vt:lpstr>Test Requirements/ Trap Properties</vt:lpstr>
      <vt:lpstr>Case Study: Car Controller with accelerate input</vt:lpstr>
      <vt:lpstr>PowerPoint Presentation</vt:lpstr>
      <vt:lpstr>Trap properties for Structural Coverage Models</vt:lpstr>
      <vt:lpstr>Node Coverage for CC</vt:lpstr>
      <vt:lpstr>Edge coverage for CC</vt:lpstr>
      <vt:lpstr>Condition Coverage for CC</vt:lpstr>
      <vt:lpstr>Requirements-based TCG</vt:lpstr>
      <vt:lpstr>Case Study: Car Controller with accelerate and brake input</vt:lpstr>
      <vt:lpstr>Car Controller LTL requirements</vt:lpstr>
      <vt:lpstr>Safety  Requirements</vt:lpstr>
      <vt:lpstr>Liveness Requirements</vt:lpstr>
      <vt:lpstr>Infinite Counterexamples</vt:lpstr>
      <vt:lpstr>TCG for Finite Liveness Requirements </vt:lpstr>
      <vt:lpstr>Car Controller Examples</vt:lpstr>
      <vt:lpstr>Conclusions</vt:lpstr>
    </vt:vector>
  </TitlesOfParts>
  <Company>CSC 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dc:title>
  <dc:creator>Karl Meinke</dc:creator>
  <cp:lastModifiedBy>Muddassar Azam Sindhu</cp:lastModifiedBy>
  <cp:revision>85</cp:revision>
  <dcterms:created xsi:type="dcterms:W3CDTF">2011-12-05T15:13:17Z</dcterms:created>
  <dcterms:modified xsi:type="dcterms:W3CDTF">2023-05-18T05:29:25Z</dcterms:modified>
</cp:coreProperties>
</file>