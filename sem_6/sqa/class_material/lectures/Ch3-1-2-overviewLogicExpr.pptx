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336" r:id="rId2"/>
    <p:sldId id="411" r:id="rId3"/>
    <p:sldId id="383" r:id="rId4"/>
    <p:sldId id="377" r:id="rId5"/>
    <p:sldId id="378" r:id="rId6"/>
    <p:sldId id="380" r:id="rId7"/>
    <p:sldId id="384" r:id="rId8"/>
    <p:sldId id="385" r:id="rId9"/>
    <p:sldId id="387" r:id="rId10"/>
    <p:sldId id="395" r:id="rId11"/>
    <p:sldId id="388" r:id="rId12"/>
    <p:sldId id="389" r:id="rId13"/>
    <p:sldId id="390" r:id="rId14"/>
    <p:sldId id="391" r:id="rId15"/>
    <p:sldId id="393" r:id="rId16"/>
    <p:sldId id="394" r:id="rId17"/>
    <p:sldId id="396" r:id="rId18"/>
    <p:sldId id="397" r:id="rId19"/>
    <p:sldId id="400" r:id="rId20"/>
    <p:sldId id="405" r:id="rId21"/>
    <p:sldId id="414" r:id="rId22"/>
    <p:sldId id="399" r:id="rId23"/>
    <p:sldId id="401" r:id="rId24"/>
    <p:sldId id="406" r:id="rId25"/>
    <p:sldId id="402" r:id="rId26"/>
    <p:sldId id="403" r:id="rId27"/>
    <p:sldId id="404" r:id="rId28"/>
    <p:sldId id="412" r:id="rId29"/>
    <p:sldId id="407" r:id="rId30"/>
    <p:sldId id="408" r:id="rId3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>
          <p15:clr>
            <a:srgbClr val="A4A3A4"/>
          </p15:clr>
        </p15:guide>
        <p15:guide id="2" pos="27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0145A"/>
    <a:srgbClr val="001E5A"/>
    <a:srgbClr val="5F5F5F"/>
    <a:srgbClr val="000000"/>
    <a:srgbClr val="6699FF"/>
    <a:srgbClr val="3399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61" autoAdjust="0"/>
    <p:restoredTop sz="94660" autoAdjust="0"/>
  </p:normalViewPr>
  <p:slideViewPr>
    <p:cSldViewPr snapToGrid="0">
      <p:cViewPr varScale="1">
        <p:scale>
          <a:sx n="124" d="100"/>
          <a:sy n="124" d="100"/>
        </p:scale>
        <p:origin x="972" y="102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8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891C7EC-EE81-415C-B7AB-93EB3FE07E7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698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8E6BEA8-B683-4E12-9FC8-ACACB56D187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698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5ADA6D6-EEF2-4D28-A603-DFBC2B8ACF6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698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CC65A1C-1763-4CAF-9A7D-A104473503D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b="0" i="1"/>
            </a:lvl1pPr>
          </a:lstStyle>
          <a:p>
            <a:fld id="{27EFBD40-B8C7-44EF-B0FE-B0DE54CE1E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E641CBE-295C-442D-831E-81180D40915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698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F693ED9-7DC0-4D53-955E-4FF16C139F6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698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84E03FAB-889E-49D6-9262-E07111745E4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698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6CB22249-4C64-483F-859A-A814D9B383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b="0" i="1">
                <a:solidFill>
                  <a:schemeClr val="tx1"/>
                </a:solidFill>
              </a:defRPr>
            </a:lvl1pPr>
          </a:lstStyle>
          <a:p>
            <a:fld id="{9CBFA345-673A-48ED-8A3C-4EBF26FD16C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62364BF7-1D6C-4F8C-9900-FC7A8BB61DD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16" tIns="48659" rIns="97316" bIns="486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08BFE18D-E310-8935-A562-31CB58CFE96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0475" y="720725"/>
            <a:ext cx="4794250" cy="3595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8" name="Rectangle 8">
            <a:extLst>
              <a:ext uri="{FF2B5EF4-FFF2-40B4-BE49-F238E27FC236}">
                <a16:creationId xmlns:a16="http://schemas.microsoft.com/office/drawing/2014/main" id="{EA27716C-B2E6-42BB-8D92-751C37AE6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9144000"/>
            <a:ext cx="78898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285" tIns="46981" rIns="92285" bIns="46981">
            <a:spAutoFit/>
          </a:bodyPr>
          <a:lstStyle>
            <a:lvl1pPr defTabSz="9159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159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159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159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159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400" b="0">
                <a:solidFill>
                  <a:schemeClr val="tx1"/>
                </a:solidFill>
              </a:rPr>
              <a:t>Page </a:t>
            </a:r>
            <a:fld id="{DE2AAEB7-9A55-471B-BD04-88988DF0F5EB}" type="slidenum">
              <a:rPr lang="en-US" altLang="en-US" sz="1400" b="0">
                <a:solidFill>
                  <a:schemeClr val="tx1"/>
                </a:solidFill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400" b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BF56C9FF-EB48-3EAB-52D8-0176968510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F35AF86D-B902-E5C3-0B0A-0D23BEF95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1181A317-5BAD-472D-FFEC-17B5CB45F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DEBADF19-E3A8-4071-B9DB-74C0A1E83B40}" type="slidenum">
              <a:rPr lang="en-US" altLang="en-US" sz="1200" b="0">
                <a:solidFill>
                  <a:schemeClr val="tx1"/>
                </a:solidFill>
              </a:rPr>
              <a:pPr/>
              <a:t>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2DCD8859-A3A7-EBBD-2B17-0848303E49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84F8A05B-284E-9F7D-DE9F-F21FF007E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C1ADCB81-F56C-DD96-2A63-9372F2C7F5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25A4DDCF-1B5E-4B5B-AE07-34BC016DF232}" type="slidenum">
              <a:rPr lang="en-US" altLang="en-US" sz="1200" b="0">
                <a:solidFill>
                  <a:schemeClr val="tx1"/>
                </a:solidFill>
              </a:rPr>
              <a:pPr/>
              <a:t>3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88EF29A6-94CA-2FB4-2E2E-FEED854C6E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BC5CB231-E481-61A2-9320-3BA983051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5B9A68A1-32DD-C4AA-A619-3776FB35F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C4E0769-3FA6-4E60-A87F-09113B7347D1}" type="slidenum">
              <a:rPr lang="en-US" altLang="en-US" sz="1200" b="0">
                <a:solidFill>
                  <a:schemeClr val="tx1"/>
                </a:solidFill>
              </a:rPr>
              <a:pPr/>
              <a:t>4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345AD2DB-0A42-94B6-106D-2B2098E88D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16EADA42-6BCB-3352-0DD0-2432905A8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F006223E-5F3C-30CF-224D-C3550ABF4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C705E268-49B8-4B58-A387-4B1A31E18B59}" type="slidenum">
              <a:rPr lang="en-US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CF2F1A4A-DFB9-09FD-D6BA-6BD11B958C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2D18B8B9-F6E2-EF8C-069C-8AB724D0A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D061C87C-7181-73D7-D7DA-7C27854FD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44993574-4F66-42D3-9846-86D99A8537F0}" type="slidenum">
              <a:rPr lang="en-US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617E392A-0ACB-6DDC-A2BE-111BEFA007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4F54239B-4672-3BDC-ACE7-67A3D4237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248724BD-BD77-94CC-CDEB-448148C45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52D704F1-E34F-43ED-93F1-B8A5DF22AD6E}" type="slidenum">
              <a:rPr lang="en-US" altLang="en-US" sz="1200" b="0">
                <a:solidFill>
                  <a:schemeClr val="tx1"/>
                </a:solidFill>
              </a:rPr>
              <a:pPr/>
              <a:t>8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CCFDF5AF-9C5A-D124-1AB1-607AA32F55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86D97F19-1F6E-6E09-8BCB-EFD5413DD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DC8A41ED-31DA-09AB-3328-5DBE95151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2906CC88-BEF3-48B7-AF82-40171682F005}" type="slidenum">
              <a:rPr lang="en-US" altLang="en-US" sz="1200" b="0">
                <a:solidFill>
                  <a:schemeClr val="tx1"/>
                </a:solidFill>
              </a:rPr>
              <a:pPr/>
              <a:t>9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03CACEC0-2644-AEF6-328E-AD1A05AF48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A227A1F2-F412-8BD9-6162-FDB9DED3E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FC49BD2C-FA7B-1235-507B-DB2AFDC9F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E085B77D-61ED-4F99-9CD6-EB600DF5F218}" type="slidenum">
              <a:rPr lang="en-US" altLang="en-US" sz="1200" b="0">
                <a:solidFill>
                  <a:schemeClr val="tx1"/>
                </a:solidFill>
              </a:rPr>
              <a:pPr/>
              <a:t>11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21A6040F-A5EF-9676-3E17-6D075B1D8F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9C396F8B-C445-7FB7-A183-5292272CF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147B7ADE-BB79-E86C-3F52-864EC56E7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84470517-4637-4059-A952-2808B1E6D0A6}" type="slidenum">
              <a:rPr lang="en-US" altLang="en-US" sz="1200" b="0">
                <a:solidFill>
                  <a:schemeClr val="tx1"/>
                </a:solidFill>
              </a:rPr>
              <a:pPr/>
              <a:t>12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692FD39B-9B9B-24E1-65FB-FF8BD6C81F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B3E8FA9B-6164-6D3E-B5C4-2590EB40A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25934A7D-09DD-B335-D7FB-9A36CD619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4CF7E445-1BCC-4A97-B709-8844E84E9AF0}" type="slidenum">
              <a:rPr lang="en-US" altLang="en-US" sz="1200" b="0">
                <a:solidFill>
                  <a:schemeClr val="tx1"/>
                </a:solidFill>
              </a:rPr>
              <a:pPr/>
              <a:t>13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B5CD09B4-ABAD-4239-367D-30D14D0EC1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B51F523D-3B21-ED50-4BDF-BEF4EEA4A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E00C93E2-C487-52FF-69AD-C3F098064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146FEF14-E0F8-420A-B532-8571F2A33FA9}" type="slidenum">
              <a:rPr lang="en-US" altLang="en-US" sz="1200" b="0">
                <a:solidFill>
                  <a:schemeClr val="tx1"/>
                </a:solidFill>
              </a:rPr>
              <a:pPr/>
              <a:t>15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04D423AF-2BFA-7F1D-42AB-5C2B7E0C37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66744768-0D43-21BE-7058-A8608EBCE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1CEFCF5D-50E1-AE85-8456-5AF47DC0F9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A52AD14E-5429-430F-B3F4-6854AADBED4E}" type="slidenum">
              <a:rPr lang="en-US" altLang="en-US" sz="1200" b="0">
                <a:solidFill>
                  <a:schemeClr val="tx1"/>
                </a:solidFill>
              </a:rPr>
              <a:pPr/>
              <a:t>18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A6B8F8C5-BD13-6725-DA68-B6D1E496B3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C166265E-5ECF-4A2D-619D-356AA546D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97FB278E-B191-3CAD-4D92-D15851A81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A584917F-1D08-4ABC-AB90-0937C1C02AEE}" type="slidenum">
              <a:rPr lang="en-US" altLang="en-US" sz="1200" b="0">
                <a:solidFill>
                  <a:schemeClr val="tx1"/>
                </a:solidFill>
              </a:rPr>
              <a:pPr/>
              <a:t>19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FCEAC1AE-DEB4-F55A-C1A2-10B725E1D4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EB2CA88B-5167-6EBE-A02B-B8C9D0487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E6E4629B-C291-F455-A3EF-0C450109B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462BD109-1388-454A-8EE0-C385E1E9777F}" type="slidenum">
              <a:rPr lang="en-US" altLang="en-US" sz="1200" b="0">
                <a:solidFill>
                  <a:schemeClr val="tx1"/>
                </a:solidFill>
              </a:rPr>
              <a:pPr/>
              <a:t>20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94521C4C-23FB-6F6A-BA73-B69A238411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4EF9C49B-C965-9629-5A0F-2CAC387AB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34F8DBC2-2F05-42AD-462A-56DF87B53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9FD361F8-0A18-4474-9251-DE2F2D83B903}" type="slidenum">
              <a:rPr lang="en-US" altLang="en-US" sz="1200" b="0">
                <a:solidFill>
                  <a:schemeClr val="tx1"/>
                </a:solidFill>
              </a:rPr>
              <a:pPr/>
              <a:t>22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A9EE5855-A380-9862-5613-78B3B88B40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AAB74D87-FED7-9930-78D8-A86E49FB2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B6B04EC3-E82D-4330-E691-7D8BB2575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16BD05C1-3B30-4449-916A-5B648B9EF4F8}" type="slidenum">
              <a:rPr lang="en-US" altLang="en-US" sz="1200" b="0">
                <a:solidFill>
                  <a:schemeClr val="tx1"/>
                </a:solidFill>
              </a:rPr>
              <a:pPr/>
              <a:t>23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DD49F33E-B445-14C2-780A-76C71CBDD1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579E15DD-AF49-2C89-BB7F-051DAB294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0A31783A-9C78-FD7C-7290-AD9DD89796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2712B21-31A6-4666-9D81-58F6EAB43E51}" type="slidenum">
              <a:rPr lang="en-US" altLang="en-US" sz="1200" b="0">
                <a:solidFill>
                  <a:schemeClr val="tx1"/>
                </a:solidFill>
              </a:rPr>
              <a:pPr/>
              <a:t>25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50C183FB-65ED-3ACA-4536-C449E033C2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B4AC82A3-0FD5-52E6-8B63-9FA8324F1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8E9071DD-7306-EFCB-E27A-2BE85514D9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BC4425C9-377D-4C70-8608-AAF97AEE65DE}" type="slidenum">
              <a:rPr lang="en-US" altLang="en-US" sz="1200" b="0">
                <a:solidFill>
                  <a:schemeClr val="tx1"/>
                </a:solidFill>
              </a:rPr>
              <a:pPr/>
              <a:t>26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3D7C1621-18FF-5DAC-2109-608F9590D8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066F972C-EE3B-4CC1-1996-A5A097C51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6F396F0A-0462-50DC-839F-51F0347D4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BBB5FADC-34C8-41C9-9BAE-FDD3807003F8}" type="slidenum">
              <a:rPr lang="en-US" altLang="en-US" sz="1200" b="0">
                <a:solidFill>
                  <a:schemeClr val="tx1"/>
                </a:solidFill>
              </a:rPr>
              <a:pPr/>
              <a:t>27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FADB8971-41DA-94AB-BBE8-E04AC8941B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613B0F66-764A-F3FE-3744-1D2A0B8F9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2FA9538F-EA73-6177-4C49-2BDC8201F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D0FFC49A-3F33-4BFE-9938-05B92CF4125B}" type="slidenum">
              <a:rPr lang="en-US" altLang="en-US" sz="1200" b="0">
                <a:solidFill>
                  <a:schemeClr val="tx1"/>
                </a:solidFill>
              </a:rPr>
              <a:pPr/>
              <a:t>28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E6599A3E-0092-9852-6CD7-AD506CDF2D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B8B045BA-7598-6E95-A619-D0E1864BE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72B81BE7-FA0F-4A81-9FA3-A82A5D1F1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7B701B9A-79DF-4063-9FF5-51BDCBA3CB4B}" type="slidenum">
              <a:rPr lang="en-US" altLang="en-US" sz="1200" b="0">
                <a:solidFill>
                  <a:schemeClr val="tx1"/>
                </a:solidFill>
              </a:rPr>
              <a:pPr/>
              <a:t>29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796856E2-0788-8E4B-3524-02F1E46B5B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551FB708-04F9-C165-DEB2-076510809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6BC3FB2E-33E9-B923-1CB2-3BDDFC015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24A1A8A3-348B-431E-B303-8E8937538341}" type="slidenum">
              <a:rPr lang="en-US" altLang="en-US" sz="1200" b="0">
                <a:solidFill>
                  <a:schemeClr val="tx1"/>
                </a:solidFill>
              </a:rPr>
              <a:pPr/>
              <a:t>30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EB11A-79D8-863A-3043-70FE71D2A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3)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AFD9-546A-8600-B1AD-C54D1EDD2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A0FF5-7FBD-7824-F38F-85150ABD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AC5410-B740-452B-AF7A-8DBF09300A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687072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9342A-4922-4658-173E-02359E1F5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3)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73816-9E5F-B3EA-164F-62E979DE7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A4152-F94F-9387-88F1-7437E1987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1335F8-871D-43F0-8969-9195D0959E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032616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F85C5-2867-4BB0-2C99-8B14782D0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3)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8BECF-E373-3CE3-47CB-4AAB81074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85A89-5262-7D9C-6BA2-130AD2594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58C3C0-E41F-4F53-ADD6-A48C85AA9CE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678147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3663" y="860425"/>
            <a:ext cx="4402137" cy="5592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60425"/>
            <a:ext cx="4402138" cy="5592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69BFF-329A-36EB-ED41-7C498B6C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3)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28351-28A1-4017-DCCC-F73C7E63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BF6F9-BF38-DD7C-2F29-7CEDE3B7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3BB517-D491-4850-8804-AA15194D76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392324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8D5CF-7AC7-6416-9829-06712DB97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3)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C94C1-ED93-DF69-9696-47FE9A7D1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5C0E4E-F990-78CC-629D-F9A279608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C3A89D-26CA-48AC-AE1A-0A280B21F4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8285289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5C9F00-8A94-1D97-2EB2-5CD91C161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3)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B40AE5-C775-1D32-30FA-8374A46B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525F7-882A-551F-53D6-E1E21DC8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192FA4-395E-4E32-A356-6763C1F603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8345581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9833D9-DD8C-DA72-9FD3-D530D01F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3)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61231-0DC9-BA41-28F1-1AD338432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F7429-CEBC-0B9D-7588-E37215A4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5A8255-3445-4E22-8885-2B38E0A528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393002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03BE32-131B-0B16-3EA6-821E9B67D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3)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B8472-2CE9-F068-4E7D-04652B4E0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3FE86-1F60-29ED-04DA-BF49392ED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B427D8-6A12-43FB-A0C7-656A6178D7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211127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20E20-BEA3-A12F-F19E-69D8EA43F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3)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8D3A8-0439-CA9C-37D1-99A721B2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4A963-BEFD-FFB5-05CB-3A99404FD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4D0A46-BC7A-4A1C-B28E-122CB86255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1896804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BE841-4712-B1A4-056E-C3DF3848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3)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7F49B-43AA-01AE-CBA8-3278AA585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C77F9-47EA-707F-F91F-E1B1987A1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6D21DF-E7D7-4759-83C5-6BBEC24AED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510558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1963" y="46038"/>
            <a:ext cx="2238375" cy="64071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3663" y="46038"/>
            <a:ext cx="6565900" cy="64071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B33DD-598F-94C4-BAC2-CDBB22F25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3)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A3808-3BA6-DDA3-A550-C957605F1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C23D9-D72A-24DA-0316-FE92141D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9AE86-DE0B-49EF-8F50-EF0F5FB642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103243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6038"/>
            <a:ext cx="7772400" cy="8001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3663" y="860425"/>
            <a:ext cx="4402137" cy="559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60425"/>
            <a:ext cx="4402138" cy="559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B35B9-0F29-B0A7-44A2-C580131A5C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3825" y="6508750"/>
            <a:ext cx="3976688" cy="3048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3)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56901-4610-3A74-AC5D-2B8FB1E2D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7038" y="6499225"/>
            <a:ext cx="2895600" cy="314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FAEB1-B288-838F-1AC0-46ED0256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05663" y="6489700"/>
            <a:ext cx="1905000" cy="323850"/>
          </a:xfrm>
        </p:spPr>
        <p:txBody>
          <a:bodyPr/>
          <a:lstStyle>
            <a:lvl1pPr>
              <a:defRPr/>
            </a:lvl1pPr>
          </a:lstStyle>
          <a:p>
            <a:fld id="{F802E5E3-D1D5-4308-8A98-A9A66D2692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9302018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6038"/>
            <a:ext cx="7772400" cy="8001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3663" y="860425"/>
            <a:ext cx="4402137" cy="559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860425"/>
            <a:ext cx="4402138" cy="2719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2213"/>
            <a:ext cx="4402138" cy="2720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BEF05DB-8812-57A2-8103-702D17D486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3825" y="6500813"/>
            <a:ext cx="3879850" cy="3048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3)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7095587-F5CD-3FED-67C4-238C4E92F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91288"/>
            <a:ext cx="2895600" cy="314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B920C0-056C-BAEC-CBC6-F5254156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19950" y="6481763"/>
            <a:ext cx="1905000" cy="323850"/>
          </a:xfrm>
        </p:spPr>
        <p:txBody>
          <a:bodyPr/>
          <a:lstStyle>
            <a:lvl1pPr>
              <a:defRPr/>
            </a:lvl1pPr>
          </a:lstStyle>
          <a:p>
            <a:fld id="{A0135445-DF90-4D29-8B59-50FB1EF1AF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376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004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615E015-7EEE-4F01-A191-186BB122E36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1600" y="6508750"/>
            <a:ext cx="3902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Introduction to Software Testing  (Ch 3)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703D0A6-E5F4-4461-81F0-AEC5017A463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208463" y="6499225"/>
            <a:ext cx="289560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7A84794-BDCB-4F1C-B4F3-0C3A4565F79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19950" y="6489700"/>
            <a:ext cx="19050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583B05E-4ECB-4EE3-BAC8-DE9E9DA3B8F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BD1517A-8744-B476-7A35-E87D28EEA1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8900" y="46038"/>
            <a:ext cx="8951913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5700B2A-16D7-92AA-F558-14E96AF096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663" y="860425"/>
            <a:ext cx="8956675" cy="559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 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 </a:t>
            </a:r>
          </a:p>
          <a:p>
            <a:pPr lvl="4"/>
            <a:r>
              <a:rPr lang="en-US" altLang="en-US"/>
              <a:t>Fifth level 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722215A8-22A4-4802-9804-1E564EAB6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6350"/>
            <a:ext cx="9118600" cy="683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</p:sldLayoutIdLst>
  <p:transition spd="med"/>
  <p:hf hd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85000"/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1">
          <a:solidFill>
            <a:schemeClr val="tx1"/>
          </a:solidFill>
          <a:latin typeface="+mn-lt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gmu.edu/~offutt/softwaretes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7A9D09C-3889-56BD-5E29-2209340D1D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533400"/>
            <a:ext cx="7772400" cy="1965325"/>
          </a:xfrm>
        </p:spPr>
        <p:txBody>
          <a:bodyPr/>
          <a:lstStyle/>
          <a:p>
            <a:r>
              <a:rPr lang="en-US" altLang="en-US"/>
              <a:t>Introduction to Software Testing</a:t>
            </a:r>
            <a:br>
              <a:rPr lang="en-US" altLang="en-US"/>
            </a:br>
            <a:r>
              <a:rPr lang="en-US" altLang="en-US"/>
              <a:t>Chapter 3.1, 3.2</a:t>
            </a:r>
            <a:br>
              <a:rPr lang="en-US" altLang="en-US"/>
            </a:br>
            <a:r>
              <a:rPr lang="en-US" altLang="en-US"/>
              <a:t> Logic Coverage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6894337-D5DA-5343-9700-785BC72786C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363913"/>
            <a:ext cx="6400800" cy="235108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altLang="en-US" sz="3200"/>
              <a:t>Paul Ammann &amp; Jeff Offutt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</a:pPr>
            <a:endParaRPr lang="en-US" altLang="en-US" sz="3600"/>
          </a:p>
          <a:p>
            <a:r>
              <a:rPr lang="en-US" altLang="en-US" b="0">
                <a:hlinkClick r:id="rId3"/>
              </a:rPr>
              <a:t>http://www.cs.gmu.edu/~offutt/softwaretest/</a:t>
            </a:r>
            <a:endParaRPr lang="en-US" altLang="en-US" b="0"/>
          </a:p>
          <a:p>
            <a:endParaRPr lang="en-US" altLang="en-US" b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ate Placeholder 2">
            <a:extLst>
              <a:ext uri="{FF2B5EF4-FFF2-40B4-BE49-F238E27FC236}">
                <a16:creationId xmlns:a16="http://schemas.microsoft.com/office/drawing/2014/main" id="{F022D72D-415E-2714-4406-EED437D5E04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19459" name="Footer Placeholder 3">
            <a:extLst>
              <a:ext uri="{FF2B5EF4-FFF2-40B4-BE49-F238E27FC236}">
                <a16:creationId xmlns:a16="http://schemas.microsoft.com/office/drawing/2014/main" id="{4BC72FD7-0511-8E52-92E9-0CA49D5A9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4165776B-1DF0-535F-D843-736238F09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1CD91344-9944-4870-A7D3-C60C72CD38C1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39416468-FD72-6831-23D0-D3F586934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Ch. 3 : Logic Coverage</a:t>
            </a:r>
          </a:p>
        </p:txBody>
      </p:sp>
      <p:sp>
        <p:nvSpPr>
          <p:cNvPr id="248835" name="Text Box 3">
            <a:extLst>
              <a:ext uri="{FF2B5EF4-FFF2-40B4-BE49-F238E27FC236}">
                <a16:creationId xmlns:a16="http://schemas.microsoft.com/office/drawing/2014/main" id="{A79EFB02-6A26-4F66-9C2D-97FBF8C15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14400"/>
            <a:ext cx="4114800" cy="974725"/>
          </a:xfrm>
          <a:prstGeom prst="rect">
            <a:avLst/>
          </a:prstGeom>
          <a:gradFill rotWithShape="1">
            <a:gsLst>
              <a:gs pos="0">
                <a:srgbClr val="FAF400"/>
              </a:gs>
              <a:gs pos="100000">
                <a:srgbClr val="FAF400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itchFamily="66" charset="0"/>
                <a:cs typeface="Arial" pitchFamily="34" charset="0"/>
              </a:rPr>
              <a:t>Four Structures for Modeling Software</a:t>
            </a:r>
          </a:p>
        </p:txBody>
      </p:sp>
      <p:grpSp>
        <p:nvGrpSpPr>
          <p:cNvPr id="19463" name="Group 4">
            <a:extLst>
              <a:ext uri="{FF2B5EF4-FFF2-40B4-BE49-F238E27FC236}">
                <a16:creationId xmlns:a16="http://schemas.microsoft.com/office/drawing/2014/main" id="{6687E568-4183-416D-56AD-670050B90E2B}"/>
              </a:ext>
            </a:extLst>
          </p:cNvPr>
          <p:cNvGrpSpPr>
            <a:grpSpLocks/>
          </p:cNvGrpSpPr>
          <p:nvPr/>
        </p:nvGrpSpPr>
        <p:grpSpPr bwMode="auto">
          <a:xfrm>
            <a:off x="182563" y="1905000"/>
            <a:ext cx="8704262" cy="1116013"/>
            <a:chOff x="115" y="1200"/>
            <a:chExt cx="5483" cy="703"/>
          </a:xfrm>
        </p:grpSpPr>
        <p:sp>
          <p:nvSpPr>
            <p:cNvPr id="248837" name="Text Box 5">
              <a:extLst>
                <a:ext uri="{FF2B5EF4-FFF2-40B4-BE49-F238E27FC236}">
                  <a16:creationId xmlns:a16="http://schemas.microsoft.com/office/drawing/2014/main" id="{C89AEB18-EA14-4085-9E8B-C719A77D7E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" y="1557"/>
              <a:ext cx="944" cy="345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Graphs</a:t>
              </a:r>
            </a:p>
          </p:txBody>
        </p:sp>
        <p:sp>
          <p:nvSpPr>
            <p:cNvPr id="248838" name="Text Box 6">
              <a:extLst>
                <a:ext uri="{FF2B5EF4-FFF2-40B4-BE49-F238E27FC236}">
                  <a16:creationId xmlns:a16="http://schemas.microsoft.com/office/drawing/2014/main" id="{011E8077-35AF-4105-A215-A4AA64D152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7" y="1558"/>
              <a:ext cx="945" cy="345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Logic</a:t>
              </a:r>
            </a:p>
          </p:txBody>
        </p:sp>
        <p:sp>
          <p:nvSpPr>
            <p:cNvPr id="248839" name="Text Box 7">
              <a:extLst>
                <a:ext uri="{FF2B5EF4-FFF2-40B4-BE49-F238E27FC236}">
                  <a16:creationId xmlns:a16="http://schemas.microsoft.com/office/drawing/2014/main" id="{C7DDE35B-F909-478D-AA21-B0F4DB270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0" y="1558"/>
              <a:ext cx="1455" cy="345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Input Space</a:t>
              </a:r>
            </a:p>
          </p:txBody>
        </p:sp>
        <p:sp>
          <p:nvSpPr>
            <p:cNvPr id="248840" name="Text Box 8">
              <a:extLst>
                <a:ext uri="{FF2B5EF4-FFF2-40B4-BE49-F238E27FC236}">
                  <a16:creationId xmlns:a16="http://schemas.microsoft.com/office/drawing/2014/main" id="{854E5456-D787-41DF-8B1A-3DC0BE83C5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3" y="1558"/>
              <a:ext cx="945" cy="345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Syntax</a:t>
              </a:r>
            </a:p>
          </p:txBody>
        </p:sp>
        <p:sp>
          <p:nvSpPr>
            <p:cNvPr id="19511" name="Line 9">
              <a:extLst>
                <a:ext uri="{FF2B5EF4-FFF2-40B4-BE49-F238E27FC236}">
                  <a16:creationId xmlns:a16="http://schemas.microsoft.com/office/drawing/2014/main" id="{5699A3D1-D039-2D93-5DB6-B0830792C8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376"/>
              <a:ext cx="45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2" name="Line 10">
              <a:extLst>
                <a:ext uri="{FF2B5EF4-FFF2-40B4-BE49-F238E27FC236}">
                  <a16:creationId xmlns:a16="http://schemas.microsoft.com/office/drawing/2014/main" id="{065AD574-5AC9-472F-6456-BF18AD27C5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" y="1376"/>
              <a:ext cx="0" cy="1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3" name="Line 11">
              <a:extLst>
                <a:ext uri="{FF2B5EF4-FFF2-40B4-BE49-F238E27FC236}">
                  <a16:creationId xmlns:a16="http://schemas.microsoft.com/office/drawing/2014/main" id="{C1833E6F-1FD3-12E7-DCC3-84593B21F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0" y="1376"/>
              <a:ext cx="0" cy="1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4" name="Line 12">
              <a:extLst>
                <a:ext uri="{FF2B5EF4-FFF2-40B4-BE49-F238E27FC236}">
                  <a16:creationId xmlns:a16="http://schemas.microsoft.com/office/drawing/2014/main" id="{C022473B-B1FF-6446-1465-A3E24EF742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7" y="1368"/>
              <a:ext cx="0" cy="1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5" name="Line 13">
              <a:extLst>
                <a:ext uri="{FF2B5EF4-FFF2-40B4-BE49-F238E27FC236}">
                  <a16:creationId xmlns:a16="http://schemas.microsoft.com/office/drawing/2014/main" id="{7740005B-1437-B7F9-5CE7-063DA76D3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7" y="1200"/>
              <a:ext cx="0" cy="1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6" name="Line 14">
              <a:extLst>
                <a:ext uri="{FF2B5EF4-FFF2-40B4-BE49-F238E27FC236}">
                  <a16:creationId xmlns:a16="http://schemas.microsoft.com/office/drawing/2014/main" id="{7A9DD81E-3ED2-C817-C186-7248B5B6F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6" y="1368"/>
              <a:ext cx="0" cy="1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464" name="Group 15">
            <a:extLst>
              <a:ext uri="{FF2B5EF4-FFF2-40B4-BE49-F238E27FC236}">
                <a16:creationId xmlns:a16="http://schemas.microsoft.com/office/drawing/2014/main" id="{B1DED7EC-5024-7C0B-4C03-D43C434D75E9}"/>
              </a:ext>
            </a:extLst>
          </p:cNvPr>
          <p:cNvGrpSpPr>
            <a:grpSpLocks/>
          </p:cNvGrpSpPr>
          <p:nvPr/>
        </p:nvGrpSpPr>
        <p:grpSpPr bwMode="auto">
          <a:xfrm>
            <a:off x="33338" y="3025775"/>
            <a:ext cx="4138612" cy="3578225"/>
            <a:chOff x="21" y="1906"/>
            <a:chExt cx="2607" cy="2254"/>
          </a:xfrm>
        </p:grpSpPr>
        <p:sp>
          <p:nvSpPr>
            <p:cNvPr id="19495" name="AutoShape 16">
              <a:extLst>
                <a:ext uri="{FF2B5EF4-FFF2-40B4-BE49-F238E27FC236}">
                  <a16:creationId xmlns:a16="http://schemas.microsoft.com/office/drawing/2014/main" id="{17659B3C-2F8A-F97A-0698-524FE97B0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" y="3316"/>
              <a:ext cx="2607" cy="844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sz="2000">
                <a:solidFill>
                  <a:srgbClr val="FAFD00"/>
                </a:solidFill>
              </a:endParaRPr>
            </a:p>
          </p:txBody>
        </p:sp>
        <p:sp>
          <p:nvSpPr>
            <p:cNvPr id="248849" name="Text Box 17">
              <a:extLst>
                <a:ext uri="{FF2B5EF4-FFF2-40B4-BE49-F238E27FC236}">
                  <a16:creationId xmlns:a16="http://schemas.microsoft.com/office/drawing/2014/main" id="{B28BE438-C714-49D4-A94C-DEA077A27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3" y="3814"/>
              <a:ext cx="908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Use cases</a:t>
              </a:r>
            </a:p>
          </p:txBody>
        </p:sp>
        <p:sp>
          <p:nvSpPr>
            <p:cNvPr id="248850" name="Text Box 18">
              <a:extLst>
                <a:ext uri="{FF2B5EF4-FFF2-40B4-BE49-F238E27FC236}">
                  <a16:creationId xmlns:a16="http://schemas.microsoft.com/office/drawing/2014/main" id="{3F8A0B61-2525-4BCE-8A1B-C917565CF1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0" y="3390"/>
              <a:ext cx="908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Specs</a:t>
              </a:r>
            </a:p>
          </p:txBody>
        </p:sp>
        <p:sp>
          <p:nvSpPr>
            <p:cNvPr id="248851" name="Text Box 19">
              <a:extLst>
                <a:ext uri="{FF2B5EF4-FFF2-40B4-BE49-F238E27FC236}">
                  <a16:creationId xmlns:a16="http://schemas.microsoft.com/office/drawing/2014/main" id="{8ECA70FB-7F13-4A43-B40A-D727465C5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" y="3814"/>
              <a:ext cx="908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Design</a:t>
              </a:r>
            </a:p>
          </p:txBody>
        </p:sp>
        <p:sp>
          <p:nvSpPr>
            <p:cNvPr id="248852" name="Text Box 20">
              <a:extLst>
                <a:ext uri="{FF2B5EF4-FFF2-40B4-BE49-F238E27FC236}">
                  <a16:creationId xmlns:a16="http://schemas.microsoft.com/office/drawing/2014/main" id="{3CE2F598-E436-4AAE-9737-580F22C8D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" y="3390"/>
              <a:ext cx="908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19500" name="Line 21">
              <a:extLst>
                <a:ext uri="{FF2B5EF4-FFF2-40B4-BE49-F238E27FC236}">
                  <a16:creationId xmlns:a16="http://schemas.microsoft.com/office/drawing/2014/main" id="{871FD154-E710-6C32-883B-B751F12158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" y="3152"/>
              <a:ext cx="16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1" name="Line 22">
              <a:extLst>
                <a:ext uri="{FF2B5EF4-FFF2-40B4-BE49-F238E27FC236}">
                  <a16:creationId xmlns:a16="http://schemas.microsoft.com/office/drawing/2014/main" id="{78441DBD-7E12-56E2-9213-48BE1AE33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" y="1906"/>
              <a:ext cx="0" cy="12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2" name="Line 23">
              <a:extLst>
                <a:ext uri="{FF2B5EF4-FFF2-40B4-BE49-F238E27FC236}">
                  <a16:creationId xmlns:a16="http://schemas.microsoft.com/office/drawing/2014/main" id="{B8384451-6B74-9264-7327-D9628E3029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" y="3152"/>
              <a:ext cx="0" cy="2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3" name="Line 24">
              <a:extLst>
                <a:ext uri="{FF2B5EF4-FFF2-40B4-BE49-F238E27FC236}">
                  <a16:creationId xmlns:a16="http://schemas.microsoft.com/office/drawing/2014/main" id="{CF13A2DA-A3FF-FCFF-F6A1-3430DA3716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5" y="3152"/>
              <a:ext cx="0" cy="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4" name="Line 25">
              <a:extLst>
                <a:ext uri="{FF2B5EF4-FFF2-40B4-BE49-F238E27FC236}">
                  <a16:creationId xmlns:a16="http://schemas.microsoft.com/office/drawing/2014/main" id="{BA6C1B0B-A4E1-7B1C-D428-6F2892BA4B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5" y="3144"/>
              <a:ext cx="0" cy="6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5" name="Line 26">
              <a:extLst>
                <a:ext uri="{FF2B5EF4-FFF2-40B4-BE49-F238E27FC236}">
                  <a16:creationId xmlns:a16="http://schemas.microsoft.com/office/drawing/2014/main" id="{8F46E2DE-5278-9A1D-B122-E89B67836A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9" y="3152"/>
              <a:ext cx="0" cy="6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6" name="Text Box 27">
              <a:extLst>
                <a:ext uri="{FF2B5EF4-FFF2-40B4-BE49-F238E27FC236}">
                  <a16:creationId xmlns:a16="http://schemas.microsoft.com/office/drawing/2014/main" id="{DBBA63C9-E944-959C-DF30-190BDF3913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" y="2202"/>
              <a:ext cx="70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rgbClr val="FAFD00"/>
                  </a:solidFill>
                  <a:latin typeface="Comic Sans MS" panose="030F0702030302020204" pitchFamily="66" charset="0"/>
                </a:rPr>
                <a:t>Applied to</a:t>
              </a:r>
            </a:p>
          </p:txBody>
        </p:sp>
      </p:grpSp>
      <p:grpSp>
        <p:nvGrpSpPr>
          <p:cNvPr id="19465" name="Group 28">
            <a:extLst>
              <a:ext uri="{FF2B5EF4-FFF2-40B4-BE49-F238E27FC236}">
                <a16:creationId xmlns:a16="http://schemas.microsoft.com/office/drawing/2014/main" id="{8BDC7F51-E540-ECEE-EB16-31AFB1C91CAD}"/>
              </a:ext>
            </a:extLst>
          </p:cNvPr>
          <p:cNvGrpSpPr>
            <a:grpSpLocks/>
          </p:cNvGrpSpPr>
          <p:nvPr/>
        </p:nvGrpSpPr>
        <p:grpSpPr bwMode="auto">
          <a:xfrm>
            <a:off x="2636838" y="2989263"/>
            <a:ext cx="3305175" cy="1971675"/>
            <a:chOff x="1661" y="1883"/>
            <a:chExt cx="2082" cy="1242"/>
          </a:xfrm>
        </p:grpSpPr>
        <p:sp>
          <p:nvSpPr>
            <p:cNvPr id="19483" name="AutoShape 29">
              <a:extLst>
                <a:ext uri="{FF2B5EF4-FFF2-40B4-BE49-F238E27FC236}">
                  <a16:creationId xmlns:a16="http://schemas.microsoft.com/office/drawing/2014/main" id="{58C91E11-A611-92C2-2C88-7294DB247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1" y="2281"/>
              <a:ext cx="2082" cy="844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sz="2000">
                <a:solidFill>
                  <a:srgbClr val="FAFD00"/>
                </a:solidFill>
              </a:endParaRPr>
            </a:p>
          </p:txBody>
        </p:sp>
        <p:sp>
          <p:nvSpPr>
            <p:cNvPr id="248862" name="Text Box 30">
              <a:extLst>
                <a:ext uri="{FF2B5EF4-FFF2-40B4-BE49-F238E27FC236}">
                  <a16:creationId xmlns:a16="http://schemas.microsoft.com/office/drawing/2014/main" id="{DE948FDD-C8A4-40D6-BEF3-EA8F5B2BC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8" y="2761"/>
              <a:ext cx="685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DNF</a:t>
              </a:r>
            </a:p>
          </p:txBody>
        </p:sp>
        <p:sp>
          <p:nvSpPr>
            <p:cNvPr id="248863" name="Text Box 31">
              <a:extLst>
                <a:ext uri="{FF2B5EF4-FFF2-40B4-BE49-F238E27FC236}">
                  <a16:creationId xmlns:a16="http://schemas.microsoft.com/office/drawing/2014/main" id="{3655D329-CB1B-4DAB-89E3-CFAF4B18D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4" y="2773"/>
              <a:ext cx="685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Specs</a:t>
              </a:r>
            </a:p>
          </p:txBody>
        </p:sp>
        <p:sp>
          <p:nvSpPr>
            <p:cNvPr id="248864" name="Text Box 32">
              <a:extLst>
                <a:ext uri="{FF2B5EF4-FFF2-40B4-BE49-F238E27FC236}">
                  <a16:creationId xmlns:a16="http://schemas.microsoft.com/office/drawing/2014/main" id="{4B2E05F4-34DC-47B9-A470-36F7DB375C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6" y="2335"/>
              <a:ext cx="685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FSMs</a:t>
              </a:r>
            </a:p>
          </p:txBody>
        </p:sp>
        <p:sp>
          <p:nvSpPr>
            <p:cNvPr id="248865" name="Text Box 33">
              <a:extLst>
                <a:ext uri="{FF2B5EF4-FFF2-40B4-BE49-F238E27FC236}">
                  <a16:creationId xmlns:a16="http://schemas.microsoft.com/office/drawing/2014/main" id="{C39EE329-87BB-45E6-B6C2-E3EC4DF35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" y="2348"/>
              <a:ext cx="685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19488" name="Line 34">
              <a:extLst>
                <a:ext uri="{FF2B5EF4-FFF2-40B4-BE49-F238E27FC236}">
                  <a16:creationId xmlns:a16="http://schemas.microsoft.com/office/drawing/2014/main" id="{EA1332D0-51B2-F974-945B-76030D82F6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9" y="1912"/>
              <a:ext cx="0" cy="1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9" name="Line 35">
              <a:extLst>
                <a:ext uri="{FF2B5EF4-FFF2-40B4-BE49-F238E27FC236}">
                  <a16:creationId xmlns:a16="http://schemas.microsoft.com/office/drawing/2014/main" id="{649D7BF3-9F59-B149-06E2-00BC1D4C51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3" y="2102"/>
              <a:ext cx="14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0" name="Line 36">
              <a:extLst>
                <a:ext uri="{FF2B5EF4-FFF2-40B4-BE49-F238E27FC236}">
                  <a16:creationId xmlns:a16="http://schemas.microsoft.com/office/drawing/2014/main" id="{A9C4AB01-C36B-B7E6-7F5E-57737BF1C2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95" y="2102"/>
              <a:ext cx="0" cy="2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1" name="Line 37">
              <a:extLst>
                <a:ext uri="{FF2B5EF4-FFF2-40B4-BE49-F238E27FC236}">
                  <a16:creationId xmlns:a16="http://schemas.microsoft.com/office/drawing/2014/main" id="{F882E9AF-14F9-C18A-0F8A-A5D8110335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9" y="2102"/>
              <a:ext cx="0" cy="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2" name="Line 38">
              <a:extLst>
                <a:ext uri="{FF2B5EF4-FFF2-40B4-BE49-F238E27FC236}">
                  <a16:creationId xmlns:a16="http://schemas.microsoft.com/office/drawing/2014/main" id="{3A8A5CD7-9E8F-C68E-3F38-3B257C06C4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7" y="2108"/>
              <a:ext cx="0" cy="6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3" name="Line 39">
              <a:extLst>
                <a:ext uri="{FF2B5EF4-FFF2-40B4-BE49-F238E27FC236}">
                  <a16:creationId xmlns:a16="http://schemas.microsoft.com/office/drawing/2014/main" id="{BB396FD3-68CD-C80E-A060-F3C6889B26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1" y="2102"/>
              <a:ext cx="0" cy="6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4" name="Text Box 40">
              <a:extLst>
                <a:ext uri="{FF2B5EF4-FFF2-40B4-BE49-F238E27FC236}">
                  <a16:creationId xmlns:a16="http://schemas.microsoft.com/office/drawing/2014/main" id="{C10772E4-F057-E886-E3D3-82E4AB08DD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9" y="1883"/>
              <a:ext cx="100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rgbClr val="FAFD00"/>
                  </a:solidFill>
                  <a:latin typeface="Comic Sans MS" panose="030F0702030302020204" pitchFamily="66" charset="0"/>
                </a:rPr>
                <a:t>Applied to</a:t>
              </a:r>
            </a:p>
          </p:txBody>
        </p:sp>
      </p:grpSp>
      <p:grpSp>
        <p:nvGrpSpPr>
          <p:cNvPr id="19466" name="Group 41">
            <a:extLst>
              <a:ext uri="{FF2B5EF4-FFF2-40B4-BE49-F238E27FC236}">
                <a16:creationId xmlns:a16="http://schemas.microsoft.com/office/drawing/2014/main" id="{410399AA-ECC0-B939-70B0-CE844D4C0C0D}"/>
              </a:ext>
            </a:extLst>
          </p:cNvPr>
          <p:cNvGrpSpPr>
            <a:grpSpLocks/>
          </p:cNvGrpSpPr>
          <p:nvPr/>
        </p:nvGrpSpPr>
        <p:grpSpPr bwMode="auto">
          <a:xfrm>
            <a:off x="5803900" y="3040063"/>
            <a:ext cx="3201988" cy="3489325"/>
            <a:chOff x="3656" y="1915"/>
            <a:chExt cx="2017" cy="2198"/>
          </a:xfrm>
        </p:grpSpPr>
        <p:sp>
          <p:nvSpPr>
            <p:cNvPr id="19471" name="AutoShape 42">
              <a:extLst>
                <a:ext uri="{FF2B5EF4-FFF2-40B4-BE49-F238E27FC236}">
                  <a16:creationId xmlns:a16="http://schemas.microsoft.com/office/drawing/2014/main" id="{D56AC2EB-88E3-8EFC-D99D-037605F19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6" y="3269"/>
              <a:ext cx="2017" cy="844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sz="2000">
                <a:solidFill>
                  <a:srgbClr val="FAFD00"/>
                </a:solidFill>
              </a:endParaRPr>
            </a:p>
          </p:txBody>
        </p:sp>
        <p:sp>
          <p:nvSpPr>
            <p:cNvPr id="248875" name="Text Box 43">
              <a:extLst>
                <a:ext uri="{FF2B5EF4-FFF2-40B4-BE49-F238E27FC236}">
                  <a16:creationId xmlns:a16="http://schemas.microsoft.com/office/drawing/2014/main" id="{CDCAC1A7-579D-4DDC-9C0B-B48CDC333F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8" y="3762"/>
              <a:ext cx="670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Input</a:t>
              </a:r>
            </a:p>
          </p:txBody>
        </p:sp>
        <p:sp>
          <p:nvSpPr>
            <p:cNvPr id="248876" name="Text Box 44">
              <a:extLst>
                <a:ext uri="{FF2B5EF4-FFF2-40B4-BE49-F238E27FC236}">
                  <a16:creationId xmlns:a16="http://schemas.microsoft.com/office/drawing/2014/main" id="{01D1C9B0-1620-4258-899D-3029B27A6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1" y="3352"/>
              <a:ext cx="670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Models</a:t>
              </a:r>
            </a:p>
          </p:txBody>
        </p:sp>
        <p:sp>
          <p:nvSpPr>
            <p:cNvPr id="248877" name="Text Box 45">
              <a:extLst>
                <a:ext uri="{FF2B5EF4-FFF2-40B4-BE49-F238E27FC236}">
                  <a16:creationId xmlns:a16="http://schemas.microsoft.com/office/drawing/2014/main" id="{49323E37-E4B6-44FD-971C-61FC58ACB9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5" y="3762"/>
              <a:ext cx="670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Integ</a:t>
              </a:r>
            </a:p>
          </p:txBody>
        </p:sp>
        <p:sp>
          <p:nvSpPr>
            <p:cNvPr id="248878" name="Text Box 46">
              <a:extLst>
                <a:ext uri="{FF2B5EF4-FFF2-40B4-BE49-F238E27FC236}">
                  <a16:creationId xmlns:a16="http://schemas.microsoft.com/office/drawing/2014/main" id="{6B3D4D2A-35BE-4016-B7FB-0AD1BBAB94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1" y="3351"/>
              <a:ext cx="670" cy="268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19476" name="Line 47">
              <a:extLst>
                <a:ext uri="{FF2B5EF4-FFF2-40B4-BE49-F238E27FC236}">
                  <a16:creationId xmlns:a16="http://schemas.microsoft.com/office/drawing/2014/main" id="{CB6234AC-BE15-5D8A-494B-E691E8A1CE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3099"/>
              <a:ext cx="12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Line 48">
              <a:extLst>
                <a:ext uri="{FF2B5EF4-FFF2-40B4-BE49-F238E27FC236}">
                  <a16:creationId xmlns:a16="http://schemas.microsoft.com/office/drawing/2014/main" id="{395EA6DD-FA22-99F3-9C64-8E4368DD24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6" y="3099"/>
              <a:ext cx="0" cy="2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8" name="Line 49">
              <a:extLst>
                <a:ext uri="{FF2B5EF4-FFF2-40B4-BE49-F238E27FC236}">
                  <a16:creationId xmlns:a16="http://schemas.microsoft.com/office/drawing/2014/main" id="{0386192D-9471-65B0-181A-D8303649CA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6" y="3099"/>
              <a:ext cx="0" cy="2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9" name="Line 50">
              <a:extLst>
                <a:ext uri="{FF2B5EF4-FFF2-40B4-BE49-F238E27FC236}">
                  <a16:creationId xmlns:a16="http://schemas.microsoft.com/office/drawing/2014/main" id="{B2CBC255-4EE8-C11E-91DB-6377BA87E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0" y="3105"/>
              <a:ext cx="0" cy="6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0" name="Line 51">
              <a:extLst>
                <a:ext uri="{FF2B5EF4-FFF2-40B4-BE49-F238E27FC236}">
                  <a16:creationId xmlns:a16="http://schemas.microsoft.com/office/drawing/2014/main" id="{FEC4EE6B-CB2D-DFFB-1E73-8B2D4F8FDD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3" y="3099"/>
              <a:ext cx="0" cy="6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1" name="Line 52">
              <a:extLst>
                <a:ext uri="{FF2B5EF4-FFF2-40B4-BE49-F238E27FC236}">
                  <a16:creationId xmlns:a16="http://schemas.microsoft.com/office/drawing/2014/main" id="{3B4723A3-4A42-0E88-67EF-611E256BB2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6" y="1915"/>
              <a:ext cx="0" cy="117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2" name="Text Box 53">
              <a:extLst>
                <a:ext uri="{FF2B5EF4-FFF2-40B4-BE49-F238E27FC236}">
                  <a16:creationId xmlns:a16="http://schemas.microsoft.com/office/drawing/2014/main" id="{9CAED613-830A-6E4C-A872-8B97AFE3A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3" y="2185"/>
              <a:ext cx="70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rgbClr val="FAFD00"/>
                  </a:solidFill>
                  <a:latin typeface="Comic Sans MS" panose="030F0702030302020204" pitchFamily="66" charset="0"/>
                </a:rPr>
                <a:t>Applied to</a:t>
              </a:r>
            </a:p>
          </p:txBody>
        </p:sp>
      </p:grpSp>
      <p:sp>
        <p:nvSpPr>
          <p:cNvPr id="248886" name="Rectangle 54">
            <a:extLst>
              <a:ext uri="{FF2B5EF4-FFF2-40B4-BE49-F238E27FC236}">
                <a16:creationId xmlns:a16="http://schemas.microsoft.com/office/drawing/2014/main" id="{A72B29EC-5DD8-391A-48D7-DA0D74AE4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2022475"/>
            <a:ext cx="1941513" cy="2949575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en-US" altLang="en-US" sz="2000">
              <a:solidFill>
                <a:srgbClr val="FAFD00"/>
              </a:solidFill>
            </a:endParaRPr>
          </a:p>
        </p:txBody>
      </p:sp>
      <p:sp>
        <p:nvSpPr>
          <p:cNvPr id="248887" name="Rectangle 55">
            <a:extLst>
              <a:ext uri="{FF2B5EF4-FFF2-40B4-BE49-F238E27FC236}">
                <a16:creationId xmlns:a16="http://schemas.microsoft.com/office/drawing/2014/main" id="{A4FA3521-EC6C-A518-E81F-A032C9DD2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4968875"/>
            <a:ext cx="9099550" cy="1716088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en-US" altLang="en-US" sz="2000">
              <a:solidFill>
                <a:srgbClr val="FAFD00"/>
              </a:solidFill>
            </a:endParaRPr>
          </a:p>
        </p:txBody>
      </p:sp>
      <p:sp>
        <p:nvSpPr>
          <p:cNvPr id="248888" name="Rectangle 56">
            <a:extLst>
              <a:ext uri="{FF2B5EF4-FFF2-40B4-BE49-F238E27FC236}">
                <a16:creationId xmlns:a16="http://schemas.microsoft.com/office/drawing/2014/main" id="{594022EC-8999-5C17-FEC9-A86906A98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0" y="2025650"/>
            <a:ext cx="3016250" cy="2949575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en-US" altLang="en-US" sz="2000">
              <a:solidFill>
                <a:srgbClr val="FAFD00"/>
              </a:solidFill>
            </a:endParaRPr>
          </a:p>
        </p:txBody>
      </p:sp>
      <p:sp>
        <p:nvSpPr>
          <p:cNvPr id="248889" name="Rectangle 57">
            <a:extLst>
              <a:ext uri="{FF2B5EF4-FFF2-40B4-BE49-F238E27FC236}">
                <a16:creationId xmlns:a16="http://schemas.microsoft.com/office/drawing/2014/main" id="{060EE63C-7D24-D8AA-9453-F30151ECB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8163" y="2043113"/>
            <a:ext cx="1782762" cy="1133475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en-US" altLang="en-US" sz="2000">
              <a:solidFill>
                <a:srgbClr val="FAFD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48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48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48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48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86" grpId="0" animBg="1"/>
      <p:bldP spid="248887" grpId="0" animBg="1"/>
      <p:bldP spid="248888" grpId="0" animBg="1"/>
      <p:bldP spid="24888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Date Placeholder 3">
            <a:extLst>
              <a:ext uri="{FF2B5EF4-FFF2-40B4-BE49-F238E27FC236}">
                <a16:creationId xmlns:a16="http://schemas.microsoft.com/office/drawing/2014/main" id="{BA1C6B92-2F02-79B7-B883-B35FA77ADF3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20483" name="Footer Placeholder 4">
            <a:extLst>
              <a:ext uri="{FF2B5EF4-FFF2-40B4-BE49-F238E27FC236}">
                <a16:creationId xmlns:a16="http://schemas.microsoft.com/office/drawing/2014/main" id="{4A391D05-7158-4F70-EBBE-438F80F7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20484" name="Slide Number Placeholder 5">
            <a:extLst>
              <a:ext uri="{FF2B5EF4-FFF2-40B4-BE49-F238E27FC236}">
                <a16:creationId xmlns:a16="http://schemas.microsoft.com/office/drawing/2014/main" id="{BAF2BF6E-1731-52A9-8B48-17AC5915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ABCC1DDC-B0B5-4D83-9763-84C5ABE65372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34FDFB0C-04E4-5BBE-C84F-2DC904DBF3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96838"/>
            <a:ext cx="7772400" cy="1076325"/>
          </a:xfrm>
        </p:spPr>
        <p:txBody>
          <a:bodyPr/>
          <a:lstStyle/>
          <a:p>
            <a:r>
              <a:rPr lang="en-US" altLang="en-US" sz="3200"/>
              <a:t>Covering Logic Expressions</a:t>
            </a:r>
            <a:br>
              <a:rPr lang="en-US" altLang="en-US" sz="3200"/>
            </a:br>
            <a:r>
              <a:rPr lang="en-US" altLang="en-US" sz="3200"/>
              <a:t>(3.1)</a:t>
            </a:r>
          </a:p>
        </p:txBody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99E03AB8-7033-A8F2-0BE4-7A28A93BAA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63" y="1182688"/>
            <a:ext cx="8956675" cy="5270500"/>
          </a:xfrm>
        </p:spPr>
        <p:txBody>
          <a:bodyPr/>
          <a:lstStyle/>
          <a:p>
            <a:r>
              <a:rPr lang="en-US" altLang="en-US"/>
              <a:t>Logic expressions show up in many situations</a:t>
            </a:r>
          </a:p>
          <a:p>
            <a:pPr lvl="1"/>
            <a:endParaRPr lang="en-US" altLang="en-US"/>
          </a:p>
          <a:p>
            <a:r>
              <a:rPr lang="en-US" altLang="en-US"/>
              <a:t>Covering logic expressions is required by the US Federal Aviation Administration for safety critical software</a:t>
            </a:r>
          </a:p>
          <a:p>
            <a:pPr lvl="1"/>
            <a:endParaRPr lang="en-US" altLang="en-US"/>
          </a:p>
          <a:p>
            <a:r>
              <a:rPr lang="en-US" altLang="en-US"/>
              <a:t>Logical expressions can come from many sources</a:t>
            </a:r>
          </a:p>
          <a:p>
            <a:pPr lvl="1"/>
            <a:r>
              <a:rPr lang="en-US" altLang="en-US"/>
              <a:t>Decisions in programs</a:t>
            </a:r>
          </a:p>
          <a:p>
            <a:pPr lvl="1"/>
            <a:r>
              <a:rPr lang="en-US" altLang="en-US"/>
              <a:t>FSMs and statecharts</a:t>
            </a:r>
          </a:p>
          <a:p>
            <a:pPr lvl="1"/>
            <a:r>
              <a:rPr lang="en-US" altLang="en-US"/>
              <a:t>Requirements</a:t>
            </a:r>
          </a:p>
          <a:p>
            <a:pPr lvl="1"/>
            <a:endParaRPr lang="en-US" altLang="en-US"/>
          </a:p>
          <a:p>
            <a:r>
              <a:rPr lang="en-US" altLang="en-US"/>
              <a:t>Tests are intended to choose some subset of the total number of truth assignments to the expressions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ate Placeholder 3">
            <a:extLst>
              <a:ext uri="{FF2B5EF4-FFF2-40B4-BE49-F238E27FC236}">
                <a16:creationId xmlns:a16="http://schemas.microsoft.com/office/drawing/2014/main" id="{501B0418-CCDC-7B69-C750-825F7847E3D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22531" name="Footer Placeholder 4">
            <a:extLst>
              <a:ext uri="{FF2B5EF4-FFF2-40B4-BE49-F238E27FC236}">
                <a16:creationId xmlns:a16="http://schemas.microsoft.com/office/drawing/2014/main" id="{8651686D-B497-1941-F744-966A53CC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22532" name="Slide Number Placeholder 5">
            <a:extLst>
              <a:ext uri="{FF2B5EF4-FFF2-40B4-BE49-F238E27FC236}">
                <a16:creationId xmlns:a16="http://schemas.microsoft.com/office/drawing/2014/main" id="{024F2722-8E0C-53F7-FBEA-CE6EC55D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C7BE4B95-CDA4-4BFF-9CF5-8C27C2A189C7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4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22533" name="Rectangle 2">
            <a:extLst>
              <a:ext uri="{FF2B5EF4-FFF2-40B4-BE49-F238E27FC236}">
                <a16:creationId xmlns:a16="http://schemas.microsoft.com/office/drawing/2014/main" id="{0413F9EC-0FA7-5F8A-E8BC-69EAFDEAE0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Logic Predicates and Clauses</a:t>
            </a:r>
          </a:p>
        </p:txBody>
      </p:sp>
      <p:sp>
        <p:nvSpPr>
          <p:cNvPr id="22534" name="Rectangle 3">
            <a:extLst>
              <a:ext uri="{FF2B5EF4-FFF2-40B4-BE49-F238E27FC236}">
                <a16:creationId xmlns:a16="http://schemas.microsoft.com/office/drawing/2014/main" id="{55D900C1-8D0B-FCC3-FC9C-C98DCBB0C6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A </a:t>
            </a:r>
            <a:r>
              <a:rPr lang="en-US" altLang="en-US" i="1">
                <a:solidFill>
                  <a:schemeClr val="tx2"/>
                </a:solidFill>
              </a:rPr>
              <a:t>predicate</a:t>
            </a:r>
            <a:r>
              <a:rPr lang="en-US" altLang="en-US"/>
              <a:t> is an expression that evaluates to a </a:t>
            </a:r>
            <a:r>
              <a:rPr lang="en-US" altLang="en-US">
                <a:solidFill>
                  <a:schemeClr val="tx2"/>
                </a:solidFill>
              </a:rPr>
              <a:t>boolean</a:t>
            </a:r>
            <a:r>
              <a:rPr lang="en-US" altLang="en-US"/>
              <a:t> value</a:t>
            </a:r>
          </a:p>
          <a:p>
            <a:pPr>
              <a:lnSpc>
                <a:spcPct val="80000"/>
              </a:lnSpc>
            </a:pPr>
            <a:r>
              <a:rPr lang="en-US" altLang="en-US"/>
              <a:t>Predicates can contain</a:t>
            </a:r>
          </a:p>
          <a:p>
            <a:pPr lvl="1">
              <a:lnSpc>
                <a:spcPct val="80000"/>
              </a:lnSpc>
            </a:pPr>
            <a:r>
              <a:rPr lang="en-US" altLang="en-US">
                <a:solidFill>
                  <a:schemeClr val="tx2"/>
                </a:solidFill>
              </a:rPr>
              <a:t>boolean variables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non-boolean variables that contain </a:t>
            </a:r>
            <a:r>
              <a:rPr lang="en-US" altLang="en-US">
                <a:solidFill>
                  <a:schemeClr val="tx2"/>
                </a:solidFill>
              </a:rPr>
              <a:t>&gt;, &lt;, ==, &gt;=, &lt;=, !=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boolean </a:t>
            </a:r>
            <a:r>
              <a:rPr lang="en-US" altLang="en-US">
                <a:solidFill>
                  <a:schemeClr val="tx2"/>
                </a:solidFill>
              </a:rPr>
              <a:t>function</a:t>
            </a:r>
            <a:r>
              <a:rPr lang="en-US" altLang="en-US"/>
              <a:t> calls</a:t>
            </a:r>
          </a:p>
          <a:p>
            <a:pPr>
              <a:lnSpc>
                <a:spcPct val="80000"/>
              </a:lnSpc>
            </a:pPr>
            <a:r>
              <a:rPr lang="en-US" altLang="en-US"/>
              <a:t>Internal structure is created by logical operators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chemeClr val="tx2"/>
                </a:solidFill>
                <a:cs typeface="Times New Roman" panose="02020603050405020304" pitchFamily="18" charset="0"/>
              </a:rPr>
              <a:t>¬</a:t>
            </a:r>
            <a:r>
              <a:rPr lang="en-US" altLang="en-US">
                <a:cs typeface="Times New Roman" panose="02020603050405020304" pitchFamily="18" charset="0"/>
              </a:rPr>
              <a:t> – the </a:t>
            </a:r>
            <a:r>
              <a:rPr lang="en-US" altLang="en-US" i="1">
                <a:cs typeface="Times New Roman" panose="02020603050405020304" pitchFamily="18" charset="0"/>
              </a:rPr>
              <a:t>negation</a:t>
            </a:r>
            <a:r>
              <a:rPr lang="en-US" altLang="en-US">
                <a:cs typeface="Times New Roman" panose="02020603050405020304" pitchFamily="18" charset="0"/>
              </a:rPr>
              <a:t> operator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en-US" sz="24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cs typeface="Times New Roman" panose="02020603050405020304" pitchFamily="18" charset="0"/>
              </a:rPr>
              <a:t>– the </a:t>
            </a:r>
            <a:r>
              <a:rPr lang="en-US" altLang="en-US" i="1">
                <a:cs typeface="Times New Roman" panose="02020603050405020304" pitchFamily="18" charset="0"/>
              </a:rPr>
              <a:t>and</a:t>
            </a:r>
            <a:r>
              <a:rPr lang="en-US" altLang="en-US">
                <a:cs typeface="Times New Roman" panose="02020603050405020304" pitchFamily="18" charset="0"/>
              </a:rPr>
              <a:t> operator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en-US" sz="240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>
                <a:cs typeface="Times New Roman" panose="02020603050405020304" pitchFamily="18" charset="0"/>
              </a:rPr>
              <a:t>– the </a:t>
            </a:r>
            <a:r>
              <a:rPr lang="en-US" altLang="en-US" i="1">
                <a:cs typeface="Times New Roman" panose="02020603050405020304" pitchFamily="18" charset="0"/>
              </a:rPr>
              <a:t>or</a:t>
            </a:r>
            <a:r>
              <a:rPr lang="en-US" altLang="en-US">
                <a:cs typeface="Times New Roman" panose="02020603050405020304" pitchFamily="18" charset="0"/>
              </a:rPr>
              <a:t> operator</a:t>
            </a:r>
          </a:p>
          <a:p>
            <a:pPr lvl="1">
              <a:lnSpc>
                <a:spcPct val="80000"/>
              </a:lnSpc>
            </a:pPr>
            <a:r>
              <a:rPr lang="en-US" altLang="en-US">
                <a:solidFill>
                  <a:schemeClr val="tx2"/>
                </a:solidFill>
                <a:latin typeface="Sylfaen" panose="010A0502050306030303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>
                <a:cs typeface="Times New Roman" panose="02020603050405020304" pitchFamily="18" charset="0"/>
              </a:rPr>
              <a:t>– </a:t>
            </a:r>
            <a:r>
              <a:rPr lang="en-US" altLang="en-US">
                <a:cs typeface="Times New Roman" panose="02020603050405020304" pitchFamily="18" charset="0"/>
                <a:sym typeface="Wingdings" panose="05000000000000000000" pitchFamily="2" charset="2"/>
              </a:rPr>
              <a:t>the </a:t>
            </a:r>
            <a:r>
              <a:rPr lang="en-US" altLang="en-US" i="1">
                <a:cs typeface="Times New Roman" panose="02020603050405020304" pitchFamily="18" charset="0"/>
                <a:sym typeface="Wingdings" panose="05000000000000000000" pitchFamily="2" charset="2"/>
              </a:rPr>
              <a:t>implication</a:t>
            </a:r>
            <a:r>
              <a:rPr lang="en-US" altLang="en-US">
                <a:cs typeface="Times New Roman" panose="02020603050405020304" pitchFamily="18" charset="0"/>
                <a:sym typeface="Wingdings" panose="05000000000000000000" pitchFamily="2" charset="2"/>
              </a:rPr>
              <a:t> operator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en-US">
                <a:cs typeface="Times New Roman" panose="02020603050405020304" pitchFamily="18" charset="0"/>
                <a:sym typeface="Wingdings" panose="05000000000000000000" pitchFamily="2" charset="2"/>
              </a:rPr>
              <a:t> – the </a:t>
            </a:r>
            <a:r>
              <a:rPr lang="en-US" altLang="en-US" i="1">
                <a:cs typeface="Times New Roman" panose="02020603050405020304" pitchFamily="18" charset="0"/>
                <a:sym typeface="Wingdings" panose="05000000000000000000" pitchFamily="2" charset="2"/>
              </a:rPr>
              <a:t>exclusive or</a:t>
            </a:r>
            <a:r>
              <a:rPr lang="en-US" altLang="en-US">
                <a:cs typeface="Times New Roman" panose="02020603050405020304" pitchFamily="18" charset="0"/>
                <a:sym typeface="Wingdings" panose="05000000000000000000" pitchFamily="2" charset="2"/>
              </a:rPr>
              <a:t> operator</a:t>
            </a:r>
            <a:endParaRPr lang="en-US" altLang="en-US" sz="240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80000"/>
              </a:lnSpc>
            </a:pPr>
            <a:r>
              <a:rPr lang="en-US" altLang="en-US">
                <a:solidFill>
                  <a:schemeClr val="tx2"/>
                </a:solidFill>
                <a:latin typeface="Sylfaen" panose="010A050205030603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>
                <a:solidFill>
                  <a:schemeClr val="tx2"/>
                </a:solidFill>
                <a:latin typeface="Sylfaen" panose="010A0502050306030303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en-US"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>
                <a:cs typeface="Times New Roman" panose="02020603050405020304" pitchFamily="18" charset="0"/>
              </a:rPr>
              <a:t>– </a:t>
            </a:r>
            <a:r>
              <a:rPr lang="en-US" altLang="en-US">
                <a:cs typeface="Times New Roman" panose="02020603050405020304" pitchFamily="18" charset="0"/>
                <a:sym typeface="Wingdings" panose="05000000000000000000" pitchFamily="2" charset="2"/>
              </a:rPr>
              <a:t>the </a:t>
            </a:r>
            <a:r>
              <a:rPr lang="en-US" altLang="en-US" i="1">
                <a:cs typeface="Times New Roman" panose="02020603050405020304" pitchFamily="18" charset="0"/>
                <a:sym typeface="Wingdings" panose="05000000000000000000" pitchFamily="2" charset="2"/>
              </a:rPr>
              <a:t>equivalence</a:t>
            </a:r>
            <a:r>
              <a:rPr lang="en-US" altLang="en-US">
                <a:cs typeface="Times New Roman" panose="02020603050405020304" pitchFamily="18" charset="0"/>
                <a:sym typeface="Wingdings" panose="05000000000000000000" pitchFamily="2" charset="2"/>
              </a:rPr>
              <a:t> operator</a:t>
            </a:r>
          </a:p>
          <a:p>
            <a:pPr>
              <a:lnSpc>
                <a:spcPct val="80000"/>
              </a:lnSpc>
            </a:pPr>
            <a:r>
              <a:rPr lang="en-US" altLang="en-US">
                <a:cs typeface="Times New Roman" panose="02020603050405020304" pitchFamily="18" charset="0"/>
              </a:rPr>
              <a:t>A </a:t>
            </a:r>
            <a:r>
              <a:rPr lang="en-US" altLang="en-US" i="1">
                <a:solidFill>
                  <a:schemeClr val="tx2"/>
                </a:solidFill>
                <a:cs typeface="Times New Roman" panose="02020603050405020304" pitchFamily="18" charset="0"/>
              </a:rPr>
              <a:t>clause</a:t>
            </a:r>
            <a:r>
              <a:rPr lang="en-US" altLang="en-US">
                <a:cs typeface="Times New Roman" panose="02020603050405020304" pitchFamily="18" charset="0"/>
              </a:rPr>
              <a:t> is a predicate with no logical operators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3">
            <a:extLst>
              <a:ext uri="{FF2B5EF4-FFF2-40B4-BE49-F238E27FC236}">
                <a16:creationId xmlns:a16="http://schemas.microsoft.com/office/drawing/2014/main" id="{76C2E99A-F7BC-27AA-7676-452F9F57245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24579" name="Footer Placeholder 4">
            <a:extLst>
              <a:ext uri="{FF2B5EF4-FFF2-40B4-BE49-F238E27FC236}">
                <a16:creationId xmlns:a16="http://schemas.microsoft.com/office/drawing/2014/main" id="{38F9D984-6BD2-BD97-DF25-622356B21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24580" name="Slide Number Placeholder 5">
            <a:extLst>
              <a:ext uri="{FF2B5EF4-FFF2-40B4-BE49-F238E27FC236}">
                <a16:creationId xmlns:a16="http://schemas.microsoft.com/office/drawing/2014/main" id="{10E1EE62-7074-0D61-000C-E8CAF022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D6AA81D8-1D40-4347-9B17-C6FBF97A4185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5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24581" name="Rectangle 2">
            <a:extLst>
              <a:ext uri="{FF2B5EF4-FFF2-40B4-BE49-F238E27FC236}">
                <a16:creationId xmlns:a16="http://schemas.microsoft.com/office/drawing/2014/main" id="{A8298C4C-F29B-C30F-1D07-7C601683CE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</a:t>
            </a:r>
          </a:p>
        </p:txBody>
      </p:sp>
      <p:sp>
        <p:nvSpPr>
          <p:cNvPr id="24582" name="Rectangle 3">
            <a:extLst>
              <a:ext uri="{FF2B5EF4-FFF2-40B4-BE49-F238E27FC236}">
                <a16:creationId xmlns:a16="http://schemas.microsoft.com/office/drawing/2014/main" id="{79B4C09A-6E7A-B21B-1AD7-3C0ECA6F9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1017588"/>
            <a:ext cx="8867775" cy="52530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(a </a:t>
            </a:r>
            <a:r>
              <a:rPr lang="en-US" altLang="en-US">
                <a:solidFill>
                  <a:schemeClr val="tx2"/>
                </a:solidFill>
              </a:rPr>
              <a:t>&lt;</a:t>
            </a:r>
            <a:r>
              <a:rPr lang="en-US" altLang="en-US"/>
              <a:t> b)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en-US"/>
              <a:t> f (z)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en-US"/>
              <a:t> D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en-US"/>
              <a:t>(m </a:t>
            </a:r>
            <a:r>
              <a:rPr lang="en-US" altLang="en-US">
                <a:solidFill>
                  <a:schemeClr val="tx2"/>
                </a:solidFill>
              </a:rPr>
              <a:t>&gt;=</a:t>
            </a:r>
            <a:r>
              <a:rPr lang="en-US" altLang="en-US"/>
              <a:t> n*o)</a:t>
            </a:r>
          </a:p>
          <a:p>
            <a:pPr>
              <a:lnSpc>
                <a:spcPct val="80000"/>
              </a:lnSpc>
            </a:pPr>
            <a:r>
              <a:rPr lang="en-US" altLang="en-US"/>
              <a:t>Four clauses: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(a </a:t>
            </a:r>
            <a:r>
              <a:rPr lang="en-US" altLang="en-US">
                <a:solidFill>
                  <a:schemeClr val="tx2"/>
                </a:solidFill>
              </a:rPr>
              <a:t>&lt;</a:t>
            </a:r>
            <a:r>
              <a:rPr lang="en-US" altLang="en-US"/>
              <a:t> b) – relational expression</a:t>
            </a:r>
            <a:endParaRPr lang="en-US" altLang="en-US">
              <a:solidFill>
                <a:schemeClr val="tx2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/>
              <a:t> f (z) – boolean-valued function</a:t>
            </a:r>
            <a:endParaRPr lang="en-US" altLang="en-US">
              <a:solidFill>
                <a:schemeClr val="tx2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/>
              <a:t> D – boolean variable</a:t>
            </a:r>
            <a:endParaRPr lang="en-US" altLang="en-US">
              <a:solidFill>
                <a:schemeClr val="tx2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/>
              <a:t> (m </a:t>
            </a:r>
            <a:r>
              <a:rPr lang="en-US" altLang="en-US">
                <a:solidFill>
                  <a:schemeClr val="tx2"/>
                </a:solidFill>
              </a:rPr>
              <a:t>&gt;=</a:t>
            </a:r>
            <a:r>
              <a:rPr lang="en-US" altLang="en-US"/>
              <a:t> n*o) – relational expression</a:t>
            </a:r>
          </a:p>
          <a:p>
            <a:pPr>
              <a:lnSpc>
                <a:spcPct val="80000"/>
              </a:lnSpc>
            </a:pPr>
            <a:r>
              <a:rPr lang="en-US" altLang="en-US"/>
              <a:t>Most predicates have few clauses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It would be nice to quantify that claim!</a:t>
            </a:r>
          </a:p>
          <a:p>
            <a:pPr>
              <a:lnSpc>
                <a:spcPct val="80000"/>
              </a:lnSpc>
            </a:pPr>
            <a:r>
              <a:rPr lang="en-US" altLang="en-US"/>
              <a:t>Sources of predicates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Decisions in programs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Guards in finite state machines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Decisions in UML activity graphs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Requirements, both formal and informal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SQL queries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ate Placeholder 3">
            <a:extLst>
              <a:ext uri="{FF2B5EF4-FFF2-40B4-BE49-F238E27FC236}">
                <a16:creationId xmlns:a16="http://schemas.microsoft.com/office/drawing/2014/main" id="{7D734FAC-006B-9B6C-4962-95511D3B2C4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26627" name="Footer Placeholder 4">
            <a:extLst>
              <a:ext uri="{FF2B5EF4-FFF2-40B4-BE49-F238E27FC236}">
                <a16:creationId xmlns:a16="http://schemas.microsoft.com/office/drawing/2014/main" id="{707E5CAB-4A9D-B1B3-29C8-FE1859168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26628" name="Slide Number Placeholder 5">
            <a:extLst>
              <a:ext uri="{FF2B5EF4-FFF2-40B4-BE49-F238E27FC236}">
                <a16:creationId xmlns:a16="http://schemas.microsoft.com/office/drawing/2014/main" id="{18B68955-70EC-BE5D-73D2-E77FCECC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002E50BE-E108-45B2-A38D-917825ED2E4E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6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197646" name="Oval 14">
            <a:extLst>
              <a:ext uri="{FF2B5EF4-FFF2-40B4-BE49-F238E27FC236}">
                <a16:creationId xmlns:a16="http://schemas.microsoft.com/office/drawing/2014/main" id="{D5F55C03-4107-C0B3-45EE-131F9300E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888" y="4713288"/>
            <a:ext cx="952500" cy="466725"/>
          </a:xfrm>
          <a:prstGeom prst="ellipse">
            <a:avLst/>
          </a:prstGeom>
          <a:solidFill>
            <a:srgbClr val="0066FF"/>
          </a:solidFill>
          <a:ln w="28575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en-US" altLang="en-US" sz="2000">
              <a:solidFill>
                <a:srgbClr val="FAFD00"/>
              </a:solidFill>
            </a:endParaRP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94736ECF-F2AF-D375-198F-5BB0113AB25C}"/>
              </a:ext>
            </a:extLst>
          </p:cNvPr>
          <p:cNvGrpSpPr>
            <a:grpSpLocks/>
          </p:cNvGrpSpPr>
          <p:nvPr/>
        </p:nvGrpSpPr>
        <p:grpSpPr bwMode="auto">
          <a:xfrm>
            <a:off x="2557463" y="1195388"/>
            <a:ext cx="6283325" cy="1436687"/>
            <a:chOff x="1611" y="753"/>
            <a:chExt cx="3958" cy="905"/>
          </a:xfrm>
        </p:grpSpPr>
        <p:sp>
          <p:nvSpPr>
            <p:cNvPr id="26634" name="Oval 9">
              <a:extLst>
                <a:ext uri="{FF2B5EF4-FFF2-40B4-BE49-F238E27FC236}">
                  <a16:creationId xmlns:a16="http://schemas.microsoft.com/office/drawing/2014/main" id="{E577A15F-3A65-4177-E62B-DC61DF6061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710281">
              <a:off x="2159" y="205"/>
              <a:ext cx="409" cy="1505"/>
            </a:xfrm>
            <a:prstGeom prst="ellipse">
              <a:avLst/>
            </a:prstGeom>
            <a:solidFill>
              <a:srgbClr val="0066FF"/>
            </a:solidFill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sz="2000">
                <a:solidFill>
                  <a:srgbClr val="FAFD00"/>
                </a:solidFill>
              </a:endParaRPr>
            </a:p>
          </p:txBody>
        </p:sp>
        <p:sp>
          <p:nvSpPr>
            <p:cNvPr id="26635" name="Line 10">
              <a:extLst>
                <a:ext uri="{FF2B5EF4-FFF2-40B4-BE49-F238E27FC236}">
                  <a16:creationId xmlns:a16="http://schemas.microsoft.com/office/drawing/2014/main" id="{21DB1C7D-5BC7-305B-E8F9-672B162BA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7" y="1022"/>
              <a:ext cx="12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6" name="Text Box 11">
              <a:extLst>
                <a:ext uri="{FF2B5EF4-FFF2-40B4-BE49-F238E27FC236}">
                  <a16:creationId xmlns:a16="http://schemas.microsoft.com/office/drawing/2014/main" id="{7640C3FF-C120-CFD4-D622-F6F6D44A9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0" y="1016"/>
              <a:ext cx="1609" cy="642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rgbClr val="FAFD00"/>
                  </a:solidFill>
                </a:rPr>
                <a:t>Humans have trouble translating from English to Logic</a:t>
              </a:r>
            </a:p>
          </p:txBody>
        </p:sp>
      </p:grpSp>
      <p:sp>
        <p:nvSpPr>
          <p:cNvPr id="26631" name="Rectangle 2">
            <a:extLst>
              <a:ext uri="{FF2B5EF4-FFF2-40B4-BE49-F238E27FC236}">
                <a16:creationId xmlns:a16="http://schemas.microsoft.com/office/drawing/2014/main" id="{728B662F-B801-0197-7C53-431B2B55A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Translating from English</a:t>
            </a:r>
          </a:p>
        </p:txBody>
      </p:sp>
      <p:sp>
        <p:nvSpPr>
          <p:cNvPr id="26632" name="Rectangle 3">
            <a:extLst>
              <a:ext uri="{FF2B5EF4-FFF2-40B4-BE49-F238E27FC236}">
                <a16:creationId xmlns:a16="http://schemas.microsoft.com/office/drawing/2014/main" id="{A6723FE2-7B37-7830-8535-8496FBEA5D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63" y="860425"/>
            <a:ext cx="8956675" cy="1192213"/>
          </a:xfrm>
        </p:spPr>
        <p:txBody>
          <a:bodyPr/>
          <a:lstStyle/>
          <a:p>
            <a:r>
              <a:rPr lang="en-US" altLang="en-US"/>
              <a:t>“I am interested in SWE 637 and CS 652”</a:t>
            </a:r>
          </a:p>
          <a:p>
            <a:r>
              <a:rPr lang="en-US" altLang="en-US" i="1"/>
              <a:t>course = swe637 </a:t>
            </a:r>
            <a:r>
              <a:rPr lang="en-US" altLang="en-US" i="1">
                <a:solidFill>
                  <a:schemeClr val="tx2"/>
                </a:solidFill>
              </a:rPr>
              <a:t>OR</a:t>
            </a:r>
            <a:r>
              <a:rPr lang="en-US" altLang="en-US" i="1"/>
              <a:t> course = cs652</a:t>
            </a:r>
            <a:endParaRPr lang="en-US" altLang="en-US"/>
          </a:p>
        </p:txBody>
      </p:sp>
      <p:sp>
        <p:nvSpPr>
          <p:cNvPr id="197645" name="Rectangle 13">
            <a:extLst>
              <a:ext uri="{FF2B5EF4-FFF2-40B4-BE49-F238E27FC236}">
                <a16:creationId xmlns:a16="http://schemas.microsoft.com/office/drawing/2014/main" id="{6C37D6D3-169D-4B77-3BE1-464C34920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3219450"/>
            <a:ext cx="8867775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“If you leave before 6:30 AM, take Braddock to 495, if you leave after 7:00 AM, take Prosperity to 50, then 50 to 495”</a:t>
            </a:r>
          </a:p>
          <a:p>
            <a:r>
              <a:rPr lang="en-US" altLang="en-US" sz="2000" i="1"/>
              <a:t>(time </a:t>
            </a:r>
            <a:r>
              <a:rPr lang="en-US" altLang="en-US" sz="2000" i="1">
                <a:solidFill>
                  <a:schemeClr val="tx2"/>
                </a:solidFill>
              </a:rPr>
              <a:t>&lt;</a:t>
            </a:r>
            <a:r>
              <a:rPr lang="en-US" altLang="en-US" sz="2000" i="1"/>
              <a:t> 6:30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000" i="1">
                <a:sym typeface="Wingdings" panose="05000000000000000000" pitchFamily="2" charset="2"/>
              </a:rPr>
              <a:t> path = Braddock) </a:t>
            </a:r>
            <a:r>
              <a:rPr lang="en-US" altLang="en-US" sz="20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  <a:sym typeface="Wingdings" panose="05000000000000000000" pitchFamily="2" charset="2"/>
              </a:rPr>
              <a:t> (</a:t>
            </a:r>
            <a:r>
              <a:rPr lang="en-US" altLang="en-US" sz="2000" i="1">
                <a:sym typeface="Wingdings" panose="05000000000000000000" pitchFamily="2" charset="2"/>
              </a:rPr>
              <a:t>time </a:t>
            </a:r>
            <a:r>
              <a:rPr lang="en-US" altLang="en-US" sz="2000" i="1">
                <a:solidFill>
                  <a:schemeClr val="tx2"/>
                </a:solidFill>
                <a:sym typeface="Wingdings" panose="05000000000000000000" pitchFamily="2" charset="2"/>
              </a:rPr>
              <a:t>&gt;</a:t>
            </a:r>
            <a:r>
              <a:rPr lang="en-US" altLang="en-US" sz="2000" i="1">
                <a:sym typeface="Wingdings" panose="05000000000000000000" pitchFamily="2" charset="2"/>
              </a:rPr>
              <a:t> 7:00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000" i="1">
                <a:sym typeface="Wingdings" panose="05000000000000000000" pitchFamily="2" charset="2"/>
              </a:rPr>
              <a:t> path </a:t>
            </a:r>
            <a:r>
              <a:rPr lang="en-US" altLang="en-US" sz="2000" i="1">
                <a:solidFill>
                  <a:schemeClr val="tx2"/>
                </a:solidFill>
                <a:sym typeface="Wingdings" panose="05000000000000000000" pitchFamily="2" charset="2"/>
              </a:rPr>
              <a:t>=</a:t>
            </a:r>
            <a:r>
              <a:rPr lang="en-US" altLang="en-US" sz="2000" i="1">
                <a:sym typeface="Wingdings" panose="05000000000000000000" pitchFamily="2" charset="2"/>
              </a:rPr>
              <a:t> Prosperity)</a:t>
            </a:r>
          </a:p>
          <a:p>
            <a:r>
              <a:rPr lang="en-US" altLang="en-US"/>
              <a:t>Hmm … this is incomplete !</a:t>
            </a:r>
          </a:p>
          <a:p>
            <a:r>
              <a:rPr lang="en-US" altLang="en-US" sz="2000" i="1"/>
              <a:t>(time </a:t>
            </a:r>
            <a:r>
              <a:rPr lang="en-US" altLang="en-US" sz="2000" i="1">
                <a:solidFill>
                  <a:schemeClr val="tx2"/>
                </a:solidFill>
              </a:rPr>
              <a:t>&lt;</a:t>
            </a:r>
            <a:r>
              <a:rPr lang="en-US" altLang="en-US" sz="2000" i="1"/>
              <a:t> 6:30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000" i="1">
                <a:sym typeface="Wingdings" panose="05000000000000000000" pitchFamily="2" charset="2"/>
              </a:rPr>
              <a:t> path = Braddock) </a:t>
            </a:r>
            <a:r>
              <a:rPr lang="en-US" altLang="en-US" sz="20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  <a:sym typeface="Wingdings" panose="05000000000000000000" pitchFamily="2" charset="2"/>
              </a:rPr>
              <a:t> (</a:t>
            </a:r>
            <a:r>
              <a:rPr lang="en-US" altLang="en-US" sz="2000" i="1">
                <a:sym typeface="Wingdings" panose="05000000000000000000" pitchFamily="2" charset="2"/>
              </a:rPr>
              <a:t>time </a:t>
            </a:r>
            <a:r>
              <a:rPr lang="en-US" altLang="en-US" sz="2000" i="1">
                <a:solidFill>
                  <a:schemeClr val="tx2"/>
                </a:solidFill>
                <a:sym typeface="Wingdings" panose="05000000000000000000" pitchFamily="2" charset="2"/>
              </a:rPr>
              <a:t>&gt;= 6:30</a:t>
            </a:r>
            <a:r>
              <a:rPr lang="en-US" altLang="en-US" sz="2000" i="1">
                <a:sym typeface="Wingdings" panose="05000000000000000000" pitchFamily="2" charset="2"/>
              </a:rPr>
              <a:t>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000" i="1">
                <a:sym typeface="Wingdings" panose="05000000000000000000" pitchFamily="2" charset="2"/>
              </a:rPr>
              <a:t> path </a:t>
            </a:r>
            <a:r>
              <a:rPr lang="en-US" altLang="en-US" sz="2000" i="1">
                <a:solidFill>
                  <a:schemeClr val="tx2"/>
                </a:solidFill>
                <a:sym typeface="Wingdings" panose="05000000000000000000" pitchFamily="2" charset="2"/>
              </a:rPr>
              <a:t>=</a:t>
            </a:r>
            <a:r>
              <a:rPr lang="en-US" altLang="en-US" sz="2000" i="1">
                <a:sym typeface="Wingdings" panose="05000000000000000000" pitchFamily="2" charset="2"/>
              </a:rPr>
              <a:t> Prosperity)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7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46" grpId="0" animBg="1"/>
      <p:bldP spid="19764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ate Placeholder 3">
            <a:extLst>
              <a:ext uri="{FF2B5EF4-FFF2-40B4-BE49-F238E27FC236}">
                <a16:creationId xmlns:a16="http://schemas.microsoft.com/office/drawing/2014/main" id="{94049378-02DF-B727-9F69-B24659E1F76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27651" name="Footer Placeholder 4">
            <a:extLst>
              <a:ext uri="{FF2B5EF4-FFF2-40B4-BE49-F238E27FC236}">
                <a16:creationId xmlns:a16="http://schemas.microsoft.com/office/drawing/2014/main" id="{ADAAA352-3E10-0F2E-50E7-B5EA2A190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27652" name="Slide Number Placeholder 5">
            <a:extLst>
              <a:ext uri="{FF2B5EF4-FFF2-40B4-BE49-F238E27FC236}">
                <a16:creationId xmlns:a16="http://schemas.microsoft.com/office/drawing/2014/main" id="{4592C27F-A776-1FBB-2DEA-84F8D8F27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2B378C45-5F45-4FF5-9105-212F97A5FCF7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7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27653" name="Rectangle 2">
            <a:extLst>
              <a:ext uri="{FF2B5EF4-FFF2-40B4-BE49-F238E27FC236}">
                <a16:creationId xmlns:a16="http://schemas.microsoft.com/office/drawing/2014/main" id="{08699D0D-3F27-4CC7-EF47-0322C3320A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00" y="46038"/>
            <a:ext cx="8951913" cy="1295400"/>
          </a:xfrm>
        </p:spPr>
        <p:txBody>
          <a:bodyPr/>
          <a:lstStyle/>
          <a:p>
            <a:r>
              <a:rPr lang="en-US" altLang="en-US" sz="3200"/>
              <a:t>Testing and Covering Predicates</a:t>
            </a:r>
            <a:br>
              <a:rPr lang="en-US" altLang="en-US" sz="3200"/>
            </a:br>
            <a:r>
              <a:rPr lang="en-US" altLang="en-US" sz="3200"/>
              <a:t>(3.2)</a:t>
            </a:r>
          </a:p>
        </p:txBody>
      </p:sp>
      <p:sp>
        <p:nvSpPr>
          <p:cNvPr id="27654" name="Rectangle 3">
            <a:extLst>
              <a:ext uri="{FF2B5EF4-FFF2-40B4-BE49-F238E27FC236}">
                <a16:creationId xmlns:a16="http://schemas.microsoft.com/office/drawing/2014/main" id="{1BB1781C-D987-2DCC-8187-FB16C3BDB2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63" y="1563688"/>
            <a:ext cx="8956675" cy="4202112"/>
          </a:xfrm>
        </p:spPr>
        <p:txBody>
          <a:bodyPr/>
          <a:lstStyle/>
          <a:p>
            <a:r>
              <a:rPr lang="en-US" altLang="en-US"/>
              <a:t>We use predicates in testing as follows :</a:t>
            </a:r>
          </a:p>
          <a:p>
            <a:pPr lvl="1"/>
            <a:r>
              <a:rPr lang="en-US" altLang="en-US"/>
              <a:t>Developing a model of the software as one or more predicates</a:t>
            </a:r>
          </a:p>
          <a:p>
            <a:pPr lvl="1"/>
            <a:r>
              <a:rPr lang="en-US" altLang="en-US"/>
              <a:t>Requiring tests to satisfy some combination of clauses</a:t>
            </a:r>
          </a:p>
          <a:p>
            <a:pPr lvl="1"/>
            <a:endParaRPr lang="en-US" altLang="en-US"/>
          </a:p>
          <a:p>
            <a:r>
              <a:rPr lang="en-US" altLang="en-US"/>
              <a:t>Abbreviations:</a:t>
            </a:r>
          </a:p>
          <a:p>
            <a:pPr lvl="1"/>
            <a:r>
              <a:rPr lang="en-US" altLang="en-US" i="1">
                <a:solidFill>
                  <a:schemeClr val="tx2"/>
                </a:solidFill>
              </a:rPr>
              <a:t>P</a:t>
            </a:r>
            <a:r>
              <a:rPr lang="en-US" altLang="en-US"/>
              <a:t> is the set of predicates</a:t>
            </a:r>
          </a:p>
          <a:p>
            <a:pPr lvl="1"/>
            <a:r>
              <a:rPr lang="en-US" altLang="en-US" i="1">
                <a:solidFill>
                  <a:schemeClr val="tx2"/>
                </a:solidFill>
              </a:rPr>
              <a:t>p</a:t>
            </a:r>
            <a:r>
              <a:rPr lang="en-US" altLang="en-US"/>
              <a:t> is a single predicate in </a:t>
            </a:r>
            <a:r>
              <a:rPr lang="en-US" altLang="en-US" i="1">
                <a:solidFill>
                  <a:schemeClr val="tx2"/>
                </a:solidFill>
              </a:rPr>
              <a:t>P</a:t>
            </a:r>
          </a:p>
          <a:p>
            <a:pPr lvl="1"/>
            <a:r>
              <a:rPr lang="en-US" altLang="en-US" i="1">
                <a:solidFill>
                  <a:schemeClr val="tx2"/>
                </a:solidFill>
              </a:rPr>
              <a:t>C</a:t>
            </a:r>
            <a:r>
              <a:rPr lang="en-US" altLang="en-US"/>
              <a:t> is the set of clauses in </a:t>
            </a:r>
            <a:r>
              <a:rPr lang="en-US" altLang="en-US" i="1">
                <a:solidFill>
                  <a:schemeClr val="tx2"/>
                </a:solidFill>
              </a:rPr>
              <a:t>P</a:t>
            </a:r>
          </a:p>
          <a:p>
            <a:pPr lvl="1"/>
            <a:r>
              <a:rPr lang="en-US" altLang="en-US" i="1">
                <a:solidFill>
                  <a:schemeClr val="tx2"/>
                </a:solidFill>
              </a:rPr>
              <a:t>C</a:t>
            </a:r>
            <a:r>
              <a:rPr lang="en-US" altLang="en-US" sz="2400" i="1" baseline="-25000">
                <a:solidFill>
                  <a:schemeClr val="tx2"/>
                </a:solidFill>
              </a:rPr>
              <a:t>p</a:t>
            </a:r>
            <a:r>
              <a:rPr lang="en-US" altLang="en-US"/>
              <a:t> is the set of clauses in predicate </a:t>
            </a:r>
            <a:r>
              <a:rPr lang="en-US" altLang="en-US" i="1">
                <a:solidFill>
                  <a:schemeClr val="tx2"/>
                </a:solidFill>
              </a:rPr>
              <a:t>p</a:t>
            </a:r>
          </a:p>
          <a:p>
            <a:pPr lvl="1"/>
            <a:r>
              <a:rPr lang="en-US" altLang="en-US" i="1">
                <a:solidFill>
                  <a:schemeClr val="tx2"/>
                </a:solidFill>
              </a:rPr>
              <a:t>c </a:t>
            </a:r>
            <a:r>
              <a:rPr lang="en-US" altLang="en-US"/>
              <a:t>is a single clause in </a:t>
            </a:r>
            <a:r>
              <a:rPr lang="en-US" altLang="en-US" i="1">
                <a:solidFill>
                  <a:schemeClr val="tx2"/>
                </a:solidFill>
              </a:rPr>
              <a:t>C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3">
            <a:extLst>
              <a:ext uri="{FF2B5EF4-FFF2-40B4-BE49-F238E27FC236}">
                <a16:creationId xmlns:a16="http://schemas.microsoft.com/office/drawing/2014/main" id="{DB7CAB36-70C5-17A7-ACA2-509D017BE29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29699" name="Footer Placeholder 4">
            <a:extLst>
              <a:ext uri="{FF2B5EF4-FFF2-40B4-BE49-F238E27FC236}">
                <a16:creationId xmlns:a16="http://schemas.microsoft.com/office/drawing/2014/main" id="{459769C7-8838-EA2A-90D2-246A4623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29700" name="Slide Number Placeholder 5">
            <a:extLst>
              <a:ext uri="{FF2B5EF4-FFF2-40B4-BE49-F238E27FC236}">
                <a16:creationId xmlns:a16="http://schemas.microsoft.com/office/drawing/2014/main" id="{E15914DE-796F-425C-7A1B-3EAC73FF0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C4B856F3-623C-4843-AE37-CCA1163FD9A4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8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29701" name="Rectangle 2">
            <a:extLst>
              <a:ext uri="{FF2B5EF4-FFF2-40B4-BE49-F238E27FC236}">
                <a16:creationId xmlns:a16="http://schemas.microsoft.com/office/drawing/2014/main" id="{4FAA42EE-3C8B-7E1D-9D5A-4048F9D28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6038"/>
            <a:ext cx="7772400" cy="720725"/>
          </a:xfrm>
        </p:spPr>
        <p:txBody>
          <a:bodyPr/>
          <a:lstStyle/>
          <a:p>
            <a:r>
              <a:rPr lang="en-US" altLang="en-US"/>
              <a:t>Predicate and Clause Coverage</a:t>
            </a:r>
          </a:p>
        </p:txBody>
      </p:sp>
      <p:sp>
        <p:nvSpPr>
          <p:cNvPr id="29702" name="Rectangle 3">
            <a:extLst>
              <a:ext uri="{FF2B5EF4-FFF2-40B4-BE49-F238E27FC236}">
                <a16:creationId xmlns:a16="http://schemas.microsoft.com/office/drawing/2014/main" id="{41C7061C-110B-A402-D80E-0DA26ABFAF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63" y="1052513"/>
            <a:ext cx="8956675" cy="814387"/>
          </a:xfrm>
        </p:spPr>
        <p:txBody>
          <a:bodyPr/>
          <a:lstStyle/>
          <a:p>
            <a:r>
              <a:rPr lang="en-US" altLang="en-US"/>
              <a:t>The first (and simplest) two criteria require that each predicate and each clause be evaluated to both true and false</a:t>
            </a:r>
          </a:p>
        </p:txBody>
      </p:sp>
      <p:sp>
        <p:nvSpPr>
          <p:cNvPr id="203780" name="Text Box 4">
            <a:extLst>
              <a:ext uri="{FF2B5EF4-FFF2-40B4-BE49-F238E27FC236}">
                <a16:creationId xmlns:a16="http://schemas.microsoft.com/office/drawing/2014/main" id="{856116CE-520C-4576-B0DC-CBA8A370E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297113"/>
            <a:ext cx="8262938" cy="841375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Predicate Coverage (PC)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For each </a:t>
            </a:r>
            <a:r>
              <a:rPr lang="en-US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TR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contains two requirements: </a:t>
            </a:r>
            <a:r>
              <a:rPr lang="en-US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evaluates to true, and </a:t>
            </a:r>
            <a:r>
              <a:rPr lang="en-US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evaluates to false.</a:t>
            </a:r>
          </a:p>
        </p:txBody>
      </p:sp>
      <p:sp>
        <p:nvSpPr>
          <p:cNvPr id="203781" name="Text Box 5">
            <a:extLst>
              <a:ext uri="{FF2B5EF4-FFF2-40B4-BE49-F238E27FC236}">
                <a16:creationId xmlns:a16="http://schemas.microsoft.com/office/drawing/2014/main" id="{76C77E66-950E-4FD0-915E-22C827DDB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8" y="5037138"/>
            <a:ext cx="8262937" cy="841375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Clause Coverage (CC)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For each </a:t>
            </a:r>
            <a:r>
              <a:rPr lang="en-US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TR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contains two requirements: </a:t>
            </a:r>
            <a:r>
              <a:rPr lang="en-US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evaluates to true, and </a:t>
            </a:r>
            <a:r>
              <a:rPr lang="en-US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evaluates to false.</a:t>
            </a:r>
          </a:p>
        </p:txBody>
      </p:sp>
      <p:sp>
        <p:nvSpPr>
          <p:cNvPr id="203782" name="Rectangle 6">
            <a:extLst>
              <a:ext uri="{FF2B5EF4-FFF2-40B4-BE49-F238E27FC236}">
                <a16:creationId xmlns:a16="http://schemas.microsoft.com/office/drawing/2014/main" id="{B56C5C20-1A53-FAF1-E05C-22B598F7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3416300"/>
            <a:ext cx="8867775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When predicates come from conditions on edges, this is equivalent to edge coverage</a:t>
            </a:r>
          </a:p>
          <a:p>
            <a:r>
              <a:rPr lang="en-US" altLang="en-US"/>
              <a:t>PC does not evaluate all the clauses, so 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3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3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80" grpId="0" animBg="1" autoUpdateAnimBg="0"/>
      <p:bldP spid="203781" grpId="0" animBg="1" autoUpdateAnimBg="0"/>
      <p:bldP spid="203782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Date Placeholder 3">
            <a:extLst>
              <a:ext uri="{FF2B5EF4-FFF2-40B4-BE49-F238E27FC236}">
                <a16:creationId xmlns:a16="http://schemas.microsoft.com/office/drawing/2014/main" id="{D1EFDF27-0DFE-6E39-5B76-0CABE23E404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31747" name="Footer Placeholder 4">
            <a:extLst>
              <a:ext uri="{FF2B5EF4-FFF2-40B4-BE49-F238E27FC236}">
                <a16:creationId xmlns:a16="http://schemas.microsoft.com/office/drawing/2014/main" id="{D55351E2-33D2-626A-4D2C-FDAB680EC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31748" name="Slide Number Placeholder 5">
            <a:extLst>
              <a:ext uri="{FF2B5EF4-FFF2-40B4-BE49-F238E27FC236}">
                <a16:creationId xmlns:a16="http://schemas.microsoft.com/office/drawing/2014/main" id="{1639342B-05AF-FE27-BE74-CB6C1806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FC8D6CFA-8A3D-4DC6-84AD-6D348E21A24C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9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31749" name="Rectangle 2">
            <a:extLst>
              <a:ext uri="{FF2B5EF4-FFF2-40B4-BE49-F238E27FC236}">
                <a16:creationId xmlns:a16="http://schemas.microsoft.com/office/drawing/2014/main" id="{193AEECC-08A4-E840-4620-EC92166DCA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Predicate Coverage Example</a:t>
            </a:r>
          </a:p>
        </p:txBody>
      </p:sp>
      <p:sp>
        <p:nvSpPr>
          <p:cNvPr id="31750" name="Rectangle 4">
            <a:extLst>
              <a:ext uri="{FF2B5EF4-FFF2-40B4-BE49-F238E27FC236}">
                <a16:creationId xmlns:a16="http://schemas.microsoft.com/office/drawing/2014/main" id="{68F4972B-05D6-396A-C470-26998763C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1085850"/>
            <a:ext cx="8867775" cy="90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/>
              <a:t>((a </a:t>
            </a:r>
            <a:r>
              <a:rPr lang="en-US" altLang="en-US">
                <a:solidFill>
                  <a:schemeClr val="tx2"/>
                </a:solidFill>
              </a:rPr>
              <a:t>&lt;</a:t>
            </a:r>
            <a:r>
              <a:rPr lang="en-US" altLang="en-US"/>
              <a:t> b)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en-US"/>
              <a:t> D)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en-US"/>
              <a:t>(m </a:t>
            </a:r>
            <a:r>
              <a:rPr lang="en-US" altLang="en-US">
                <a:solidFill>
                  <a:schemeClr val="tx2"/>
                </a:solidFill>
              </a:rPr>
              <a:t>&gt;=</a:t>
            </a:r>
            <a:r>
              <a:rPr lang="en-US" altLang="en-US"/>
              <a:t> n*o)</a:t>
            </a:r>
          </a:p>
          <a:p>
            <a:pPr algn="ctr">
              <a:buFontTx/>
              <a:buNone/>
            </a:pPr>
            <a:r>
              <a:rPr lang="en-US" altLang="en-US"/>
              <a:t>predicate coverage</a:t>
            </a:r>
          </a:p>
        </p:txBody>
      </p:sp>
      <p:sp>
        <p:nvSpPr>
          <p:cNvPr id="206853" name="Text Box 5">
            <a:extLst>
              <a:ext uri="{FF2B5EF4-FFF2-40B4-BE49-F238E27FC236}">
                <a16:creationId xmlns:a16="http://schemas.microsoft.com/office/drawing/2014/main" id="{3912C02F-2DF7-496D-3C62-C9B03D1CD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5663" y="2097088"/>
            <a:ext cx="4822825" cy="1765300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 u="sng">
                <a:solidFill>
                  <a:srgbClr val="FAFD00"/>
                </a:solidFill>
              </a:rPr>
              <a:t>Predicate = true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a = 5, b = 10, D = true, m = 1, n = 1, o = 1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= (5 </a:t>
            </a:r>
            <a:r>
              <a:rPr lang="en-US" altLang="en-US" sz="2000">
                <a:solidFill>
                  <a:schemeClr val="tx2"/>
                </a:solidFill>
              </a:rPr>
              <a:t>&lt;</a:t>
            </a:r>
            <a:r>
              <a:rPr lang="en-US" altLang="en-US" sz="2000"/>
              <a:t> 10)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true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 </a:t>
            </a:r>
            <a:r>
              <a:rPr lang="en-US" altLang="en-US" sz="2000"/>
              <a:t>(1 </a:t>
            </a:r>
            <a:r>
              <a:rPr lang="en-US" altLang="en-US" sz="2000">
                <a:solidFill>
                  <a:schemeClr val="tx2"/>
                </a:solidFill>
              </a:rPr>
              <a:t>&gt;=</a:t>
            </a:r>
            <a:r>
              <a:rPr lang="en-US" altLang="en-US" sz="2000"/>
              <a:t> 1*1)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= true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true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</a:rPr>
              <a:t>  </a:t>
            </a:r>
            <a:r>
              <a:rPr lang="en-US" altLang="en-US" sz="2000"/>
              <a:t>TRUE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= true</a:t>
            </a:r>
          </a:p>
        </p:txBody>
      </p:sp>
      <p:sp>
        <p:nvSpPr>
          <p:cNvPr id="206854" name="Text Box 6">
            <a:extLst>
              <a:ext uri="{FF2B5EF4-FFF2-40B4-BE49-F238E27FC236}">
                <a16:creationId xmlns:a16="http://schemas.microsoft.com/office/drawing/2014/main" id="{1E01701E-D9CF-B98E-7328-2C20858B7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4406900"/>
            <a:ext cx="4822825" cy="1765300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 u="sng">
                <a:solidFill>
                  <a:srgbClr val="FAFD00"/>
                </a:solidFill>
              </a:rPr>
              <a:t>Predicate = false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a = 10, b = 5, D = false, m = 1, n = 1, o = 1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= (10 </a:t>
            </a:r>
            <a:r>
              <a:rPr lang="en-US" altLang="en-US" sz="2000">
                <a:solidFill>
                  <a:schemeClr val="tx2"/>
                </a:solidFill>
              </a:rPr>
              <a:t>&lt;</a:t>
            </a:r>
            <a:r>
              <a:rPr lang="en-US" altLang="en-US" sz="2000"/>
              <a:t> 5)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false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 </a:t>
            </a:r>
            <a:r>
              <a:rPr lang="en-US" altLang="en-US" sz="2000"/>
              <a:t>(1 </a:t>
            </a:r>
            <a:r>
              <a:rPr lang="en-US" altLang="en-US" sz="2000">
                <a:solidFill>
                  <a:schemeClr val="tx2"/>
                </a:solidFill>
              </a:rPr>
              <a:t>&gt;=</a:t>
            </a:r>
            <a:r>
              <a:rPr lang="en-US" altLang="en-US" sz="2000"/>
              <a:t> 1*1)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= false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false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TRUE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= false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685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6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068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068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68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068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685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06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068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068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068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068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3" grpId="0" build="p" animBg="1"/>
      <p:bldP spid="206854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Date Placeholder 3">
            <a:extLst>
              <a:ext uri="{FF2B5EF4-FFF2-40B4-BE49-F238E27FC236}">
                <a16:creationId xmlns:a16="http://schemas.microsoft.com/office/drawing/2014/main" id="{DD665AE5-36F0-4CD0-B9E4-04E1F8662B7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33795" name="Footer Placeholder 4">
            <a:extLst>
              <a:ext uri="{FF2B5EF4-FFF2-40B4-BE49-F238E27FC236}">
                <a16:creationId xmlns:a16="http://schemas.microsoft.com/office/drawing/2014/main" id="{924FFD93-6C60-35CC-5396-83471009B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33796" name="Slide Number Placeholder 5">
            <a:extLst>
              <a:ext uri="{FF2B5EF4-FFF2-40B4-BE49-F238E27FC236}">
                <a16:creationId xmlns:a16="http://schemas.microsoft.com/office/drawing/2014/main" id="{E29D496C-7DD8-D03E-5BF7-F6B0156C1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5E441CD5-0139-496D-9ECE-C3CF096AF15A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10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33797" name="Rectangle 2">
            <a:extLst>
              <a:ext uri="{FF2B5EF4-FFF2-40B4-BE49-F238E27FC236}">
                <a16:creationId xmlns:a16="http://schemas.microsoft.com/office/drawing/2014/main" id="{59C77767-8759-19A3-F144-D0B21B33E4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Clause Coverage Example</a:t>
            </a:r>
          </a:p>
        </p:txBody>
      </p:sp>
      <p:sp>
        <p:nvSpPr>
          <p:cNvPr id="33798" name="Rectangle 3">
            <a:extLst>
              <a:ext uri="{FF2B5EF4-FFF2-40B4-BE49-F238E27FC236}">
                <a16:creationId xmlns:a16="http://schemas.microsoft.com/office/drawing/2014/main" id="{9C4FD69D-B1BB-866D-1CDC-541DDB612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1085850"/>
            <a:ext cx="8867775" cy="90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/>
              <a:t>((a </a:t>
            </a:r>
            <a:r>
              <a:rPr lang="en-US" altLang="en-US">
                <a:solidFill>
                  <a:schemeClr val="tx2"/>
                </a:solidFill>
              </a:rPr>
              <a:t>&lt;</a:t>
            </a:r>
            <a:r>
              <a:rPr lang="en-US" altLang="en-US"/>
              <a:t> b)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en-US"/>
              <a:t> D)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en-US"/>
              <a:t>(m </a:t>
            </a:r>
            <a:r>
              <a:rPr lang="en-US" altLang="en-US">
                <a:solidFill>
                  <a:schemeClr val="tx2"/>
                </a:solidFill>
              </a:rPr>
              <a:t>&gt;=</a:t>
            </a:r>
            <a:r>
              <a:rPr lang="en-US" altLang="en-US"/>
              <a:t> n*o)</a:t>
            </a:r>
          </a:p>
          <a:p>
            <a:pPr algn="ctr">
              <a:buFontTx/>
              <a:buNone/>
            </a:pPr>
            <a:r>
              <a:rPr lang="en-US" altLang="en-US"/>
              <a:t>Clause coverage</a:t>
            </a:r>
          </a:p>
        </p:txBody>
      </p:sp>
      <p:sp>
        <p:nvSpPr>
          <p:cNvPr id="215045" name="Text Box 5">
            <a:extLst>
              <a:ext uri="{FF2B5EF4-FFF2-40B4-BE49-F238E27FC236}">
                <a16:creationId xmlns:a16="http://schemas.microsoft.com/office/drawing/2014/main" id="{1BA6C9F2-A0F9-3178-02A2-180EA759B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4751388"/>
            <a:ext cx="5395913" cy="1339850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457200" indent="-45720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en-US" sz="2000" u="sng">
                <a:solidFill>
                  <a:srgbClr val="FAFD00"/>
                </a:solidFill>
              </a:rPr>
              <a:t>Two tests</a:t>
            </a:r>
          </a:p>
          <a:p>
            <a:pPr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endParaRPr lang="en-US" altLang="en-US" sz="2000"/>
          </a:p>
          <a:p>
            <a:pPr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endParaRPr lang="en-US" altLang="en-US" sz="2000"/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19DB7CFD-F0E7-708E-9F3E-F61FDAD6DA87}"/>
              </a:ext>
            </a:extLst>
          </p:cNvPr>
          <p:cNvGrpSpPr>
            <a:grpSpLocks/>
          </p:cNvGrpSpPr>
          <p:nvPr/>
        </p:nvGrpSpPr>
        <p:grpSpPr bwMode="auto">
          <a:xfrm>
            <a:off x="1606550" y="2266950"/>
            <a:ext cx="3424238" cy="884238"/>
            <a:chOff x="399" y="1345"/>
            <a:chExt cx="2157" cy="557"/>
          </a:xfrm>
        </p:grpSpPr>
        <p:sp>
          <p:nvSpPr>
            <p:cNvPr id="33819" name="Text Box 4">
              <a:extLst>
                <a:ext uri="{FF2B5EF4-FFF2-40B4-BE49-F238E27FC236}">
                  <a16:creationId xmlns:a16="http://schemas.microsoft.com/office/drawing/2014/main" id="{1AE440DC-D634-2727-454D-BB080AF0B7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" y="1345"/>
              <a:ext cx="1059" cy="556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 u="sng">
                  <a:solidFill>
                    <a:srgbClr val="FAFD00"/>
                  </a:solidFill>
                </a:rPr>
                <a:t>(a &lt; b) = true</a:t>
              </a:r>
            </a:p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/>
                <a:t>a = 5, b = 10</a:t>
              </a:r>
            </a:p>
          </p:txBody>
        </p:sp>
        <p:sp>
          <p:nvSpPr>
            <p:cNvPr id="33820" name="Text Box 6">
              <a:extLst>
                <a:ext uri="{FF2B5EF4-FFF2-40B4-BE49-F238E27FC236}">
                  <a16:creationId xmlns:a16="http://schemas.microsoft.com/office/drawing/2014/main" id="{5A14BDB1-7C7C-EF42-6675-EFFAB1A2E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3" y="1346"/>
              <a:ext cx="1103" cy="556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 u="sng">
                  <a:solidFill>
                    <a:srgbClr val="FAFD00"/>
                  </a:solidFill>
                </a:rPr>
                <a:t>(a &lt; b) = false</a:t>
              </a:r>
            </a:p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/>
                <a:t>a = 10, b = 5</a:t>
              </a:r>
            </a:p>
          </p:txBody>
        </p:sp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3A503907-975A-1753-51AB-88395BD831A5}"/>
              </a:ext>
            </a:extLst>
          </p:cNvPr>
          <p:cNvGrpSpPr>
            <a:grpSpLocks/>
          </p:cNvGrpSpPr>
          <p:nvPr/>
        </p:nvGrpSpPr>
        <p:grpSpPr bwMode="auto">
          <a:xfrm>
            <a:off x="5189538" y="2266950"/>
            <a:ext cx="2346325" cy="884238"/>
            <a:chOff x="1943" y="1504"/>
            <a:chExt cx="1478" cy="557"/>
          </a:xfrm>
        </p:grpSpPr>
        <p:sp>
          <p:nvSpPr>
            <p:cNvPr id="33817" name="Text Box 7">
              <a:extLst>
                <a:ext uri="{FF2B5EF4-FFF2-40B4-BE49-F238E27FC236}">
                  <a16:creationId xmlns:a16="http://schemas.microsoft.com/office/drawing/2014/main" id="{D08C9EC9-55E5-5BF9-9681-5D0F5A31C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3" y="1504"/>
              <a:ext cx="741" cy="556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 u="sng">
                  <a:solidFill>
                    <a:srgbClr val="FAFD00"/>
                  </a:solidFill>
                </a:rPr>
                <a:t>D = true</a:t>
              </a:r>
            </a:p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/>
                <a:t>D = true</a:t>
              </a:r>
            </a:p>
          </p:txBody>
        </p:sp>
        <p:sp>
          <p:nvSpPr>
            <p:cNvPr id="33818" name="Text Box 8">
              <a:extLst>
                <a:ext uri="{FF2B5EF4-FFF2-40B4-BE49-F238E27FC236}">
                  <a16:creationId xmlns:a16="http://schemas.microsoft.com/office/drawing/2014/main" id="{4AA81804-C257-21B1-BC3A-DDF186E975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0" y="1505"/>
              <a:ext cx="741" cy="556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 u="sng">
                  <a:solidFill>
                    <a:srgbClr val="FAFD00"/>
                  </a:solidFill>
                </a:rPr>
                <a:t>D = false</a:t>
              </a:r>
            </a:p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/>
                <a:t>D = false</a:t>
              </a:r>
            </a:p>
          </p:txBody>
        </p:sp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06A55841-2424-C379-D008-82A6E45DDC1F}"/>
              </a:ext>
            </a:extLst>
          </p:cNvPr>
          <p:cNvGrpSpPr>
            <a:grpSpLocks/>
          </p:cNvGrpSpPr>
          <p:nvPr/>
        </p:nvGrpSpPr>
        <p:grpSpPr bwMode="auto">
          <a:xfrm>
            <a:off x="2420938" y="3408363"/>
            <a:ext cx="4300537" cy="884237"/>
            <a:chOff x="1985" y="2077"/>
            <a:chExt cx="2709" cy="557"/>
          </a:xfrm>
        </p:grpSpPr>
        <p:sp>
          <p:nvSpPr>
            <p:cNvPr id="33815" name="Text Box 11">
              <a:extLst>
                <a:ext uri="{FF2B5EF4-FFF2-40B4-BE49-F238E27FC236}">
                  <a16:creationId xmlns:a16="http://schemas.microsoft.com/office/drawing/2014/main" id="{68EF67FD-FA60-126C-66A5-3C94A83530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5" y="2078"/>
              <a:ext cx="1361" cy="556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 u="sng">
                  <a:solidFill>
                    <a:srgbClr val="FAFD00"/>
                  </a:solidFill>
                </a:rPr>
                <a:t>m &gt;= n*o = true</a:t>
              </a:r>
            </a:p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/>
                <a:t>m = 1, n = 1, o = 1</a:t>
              </a:r>
            </a:p>
          </p:txBody>
        </p:sp>
        <p:sp>
          <p:nvSpPr>
            <p:cNvPr id="33816" name="Text Box 12">
              <a:extLst>
                <a:ext uri="{FF2B5EF4-FFF2-40B4-BE49-F238E27FC236}">
                  <a16:creationId xmlns:a16="http://schemas.microsoft.com/office/drawing/2014/main" id="{4AE268AD-BC78-EE1B-2457-2C85FAE5E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3" y="2077"/>
              <a:ext cx="1361" cy="556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 u="sng">
                  <a:solidFill>
                    <a:srgbClr val="FAFD00"/>
                  </a:solidFill>
                </a:rPr>
                <a:t>m &gt;= n*o = false</a:t>
              </a:r>
            </a:p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/>
                <a:t>m = 1, n = 2, o = 2</a:t>
              </a:r>
            </a:p>
          </p:txBody>
        </p:sp>
      </p:grpSp>
      <p:grpSp>
        <p:nvGrpSpPr>
          <p:cNvPr id="5" name="Group 26">
            <a:extLst>
              <a:ext uri="{FF2B5EF4-FFF2-40B4-BE49-F238E27FC236}">
                <a16:creationId xmlns:a16="http://schemas.microsoft.com/office/drawing/2014/main" id="{C9CCA272-F461-7FB9-E9BC-356C81ED5743}"/>
              </a:ext>
            </a:extLst>
          </p:cNvPr>
          <p:cNvGrpSpPr>
            <a:grpSpLocks/>
          </p:cNvGrpSpPr>
          <p:nvPr/>
        </p:nvGrpSpPr>
        <p:grpSpPr bwMode="auto">
          <a:xfrm>
            <a:off x="330200" y="3163888"/>
            <a:ext cx="6884988" cy="2444750"/>
            <a:chOff x="208" y="1993"/>
            <a:chExt cx="4337" cy="1540"/>
          </a:xfrm>
        </p:grpSpPr>
        <p:cxnSp>
          <p:nvCxnSpPr>
            <p:cNvPr id="33810" name="AutoShape 15">
              <a:extLst>
                <a:ext uri="{FF2B5EF4-FFF2-40B4-BE49-F238E27FC236}">
                  <a16:creationId xmlns:a16="http://schemas.microsoft.com/office/drawing/2014/main" id="{1DE4AEA8-371E-E4CD-DEA2-A36B46405C62}"/>
                </a:ext>
              </a:extLst>
            </p:cNvPr>
            <p:cNvCxnSpPr>
              <a:cxnSpLocks noChangeShapeType="1"/>
              <a:stCxn id="33819" idx="2"/>
              <a:endCxn id="33814" idx="1"/>
            </p:cNvCxnSpPr>
            <p:nvPr/>
          </p:nvCxnSpPr>
          <p:spPr bwMode="auto">
            <a:xfrm rot="5400000">
              <a:off x="669" y="2536"/>
              <a:ext cx="1415" cy="330"/>
            </a:xfrm>
            <a:prstGeom prst="curvedConnector4">
              <a:avLst>
                <a:gd name="adj1" fmla="val 45231"/>
                <a:gd name="adj2" fmla="val 182727"/>
              </a:avLst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1" name="AutoShape 16">
              <a:extLst>
                <a:ext uri="{FF2B5EF4-FFF2-40B4-BE49-F238E27FC236}">
                  <a16:creationId xmlns:a16="http://schemas.microsoft.com/office/drawing/2014/main" id="{8D5C74C3-C9E2-3E44-FC59-504F0846127A}"/>
                </a:ext>
              </a:extLst>
            </p:cNvPr>
            <p:cNvCxnSpPr>
              <a:cxnSpLocks noChangeShapeType="1"/>
              <a:stCxn id="33817" idx="2"/>
              <a:endCxn id="33814" idx="1"/>
            </p:cNvCxnSpPr>
            <p:nvPr/>
          </p:nvCxnSpPr>
          <p:spPr bwMode="auto">
            <a:xfrm rot="5400000">
              <a:off x="1718" y="1487"/>
              <a:ext cx="1415" cy="2428"/>
            </a:xfrm>
            <a:prstGeom prst="curvedConnector4">
              <a:avLst>
                <a:gd name="adj1" fmla="val 45231"/>
                <a:gd name="adj2" fmla="val 109139"/>
              </a:avLst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2" name="AutoShape 17">
              <a:extLst>
                <a:ext uri="{FF2B5EF4-FFF2-40B4-BE49-F238E27FC236}">
                  <a16:creationId xmlns:a16="http://schemas.microsoft.com/office/drawing/2014/main" id="{25A725F1-0A07-AD2B-A0D6-3AE2C89D77AC}"/>
                </a:ext>
              </a:extLst>
            </p:cNvPr>
            <p:cNvCxnSpPr>
              <a:cxnSpLocks noChangeShapeType="1"/>
              <a:stCxn id="33815" idx="2"/>
              <a:endCxn id="33814" idx="1"/>
            </p:cNvCxnSpPr>
            <p:nvPr/>
          </p:nvCxnSpPr>
          <p:spPr bwMode="auto">
            <a:xfrm rot="5400000">
              <a:off x="1361" y="2564"/>
              <a:ext cx="695" cy="994"/>
            </a:xfrm>
            <a:prstGeom prst="curvedConnector4">
              <a:avLst>
                <a:gd name="adj1" fmla="val 40287"/>
                <a:gd name="adj2" fmla="val 114486"/>
              </a:avLst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13" name="Text Box 18">
              <a:extLst>
                <a:ext uri="{FF2B5EF4-FFF2-40B4-BE49-F238E27FC236}">
                  <a16:creationId xmlns:a16="http://schemas.microsoft.com/office/drawing/2014/main" id="{7ECAB4FE-A4BF-46F9-3592-69811DF6DE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" y="3175"/>
              <a:ext cx="8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rgbClr val="FAFD00"/>
                  </a:solidFill>
                </a:rPr>
                <a:t>true cases</a:t>
              </a:r>
            </a:p>
          </p:txBody>
        </p:sp>
        <p:sp>
          <p:nvSpPr>
            <p:cNvPr id="33814" name="Text Box 20">
              <a:extLst>
                <a:ext uri="{FF2B5EF4-FFF2-40B4-BE49-F238E27FC236}">
                  <a16:creationId xmlns:a16="http://schemas.microsoft.com/office/drawing/2014/main" id="{88C083C2-5C1C-6717-AB75-076FA2401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2" y="3283"/>
              <a:ext cx="33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/>
                <a:t>1) a = 5, b = 10, D = true, m = 1, n = 1, o = 1</a:t>
              </a:r>
            </a:p>
          </p:txBody>
        </p:sp>
      </p:grpSp>
      <p:grpSp>
        <p:nvGrpSpPr>
          <p:cNvPr id="6" name="Group 25">
            <a:extLst>
              <a:ext uri="{FF2B5EF4-FFF2-40B4-BE49-F238E27FC236}">
                <a16:creationId xmlns:a16="http://schemas.microsoft.com/office/drawing/2014/main" id="{01F45CF7-0F4A-6B30-01A5-C45AF39EA2F6}"/>
              </a:ext>
            </a:extLst>
          </p:cNvPr>
          <p:cNvGrpSpPr>
            <a:grpSpLocks/>
          </p:cNvGrpSpPr>
          <p:nvPr/>
        </p:nvGrpSpPr>
        <p:grpSpPr bwMode="auto">
          <a:xfrm>
            <a:off x="1924050" y="3165475"/>
            <a:ext cx="6624638" cy="2903538"/>
            <a:chOff x="1212" y="1994"/>
            <a:chExt cx="4173" cy="1829"/>
          </a:xfrm>
        </p:grpSpPr>
        <p:sp>
          <p:nvSpPr>
            <p:cNvPr id="33805" name="Text Box 19">
              <a:extLst>
                <a:ext uri="{FF2B5EF4-FFF2-40B4-BE49-F238E27FC236}">
                  <a16:creationId xmlns:a16="http://schemas.microsoft.com/office/drawing/2014/main" id="{DE6C6136-4F5F-90F8-D080-FD045F30C7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1" y="2544"/>
              <a:ext cx="8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rgbClr val="FAFD00"/>
                  </a:solidFill>
                </a:rPr>
                <a:t>false cases</a:t>
              </a:r>
            </a:p>
          </p:txBody>
        </p:sp>
        <p:sp>
          <p:nvSpPr>
            <p:cNvPr id="33806" name="Text Box 21">
              <a:extLst>
                <a:ext uri="{FF2B5EF4-FFF2-40B4-BE49-F238E27FC236}">
                  <a16:creationId xmlns:a16="http://schemas.microsoft.com/office/drawing/2014/main" id="{FF4AEBDB-9A7C-A98A-46DD-393530755F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2" y="3573"/>
              <a:ext cx="3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/>
                <a:t>2) a = 10, b = 5, D = false, m = 1, n = 2, o = 2</a:t>
              </a:r>
            </a:p>
          </p:txBody>
        </p:sp>
        <p:cxnSp>
          <p:nvCxnSpPr>
            <p:cNvPr id="33807" name="AutoShape 22">
              <a:extLst>
                <a:ext uri="{FF2B5EF4-FFF2-40B4-BE49-F238E27FC236}">
                  <a16:creationId xmlns:a16="http://schemas.microsoft.com/office/drawing/2014/main" id="{175D34DF-A45F-7D57-1EBE-1391DF3B02A2}"/>
                </a:ext>
              </a:extLst>
            </p:cNvPr>
            <p:cNvCxnSpPr>
              <a:cxnSpLocks noChangeShapeType="1"/>
              <a:stCxn id="33820" idx="2"/>
              <a:endCxn id="33806" idx="3"/>
            </p:cNvCxnSpPr>
            <p:nvPr/>
          </p:nvCxnSpPr>
          <p:spPr bwMode="auto">
            <a:xfrm rot="16200000" flipH="1">
              <a:off x="2744" y="1868"/>
              <a:ext cx="1704" cy="1956"/>
            </a:xfrm>
            <a:prstGeom prst="curvedConnector4">
              <a:avLst>
                <a:gd name="adj1" fmla="val 46069"/>
                <a:gd name="adj2" fmla="val 123875"/>
              </a:avLst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08" name="AutoShape 23">
              <a:extLst>
                <a:ext uri="{FF2B5EF4-FFF2-40B4-BE49-F238E27FC236}">
                  <a16:creationId xmlns:a16="http://schemas.microsoft.com/office/drawing/2014/main" id="{82B49992-E80E-BCAE-BDB1-DACFA453B330}"/>
                </a:ext>
              </a:extLst>
            </p:cNvPr>
            <p:cNvCxnSpPr>
              <a:cxnSpLocks noChangeShapeType="1"/>
              <a:stCxn id="33818" idx="2"/>
              <a:endCxn id="33806" idx="3"/>
            </p:cNvCxnSpPr>
            <p:nvPr/>
          </p:nvCxnSpPr>
          <p:spPr bwMode="auto">
            <a:xfrm rot="16200000" flipH="1">
              <a:off x="3624" y="2747"/>
              <a:ext cx="1704" cy="197"/>
            </a:xfrm>
            <a:prstGeom prst="curvedConnector4">
              <a:avLst>
                <a:gd name="adj1" fmla="val 46069"/>
                <a:gd name="adj2" fmla="val 359389"/>
              </a:avLst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09" name="AutoShape 24">
              <a:extLst>
                <a:ext uri="{FF2B5EF4-FFF2-40B4-BE49-F238E27FC236}">
                  <a16:creationId xmlns:a16="http://schemas.microsoft.com/office/drawing/2014/main" id="{E4C6093B-04D8-2642-FBDA-0C5227A51775}"/>
                </a:ext>
              </a:extLst>
            </p:cNvPr>
            <p:cNvCxnSpPr>
              <a:cxnSpLocks noChangeShapeType="1"/>
              <a:stCxn id="33816" idx="2"/>
              <a:endCxn id="33806" idx="3"/>
            </p:cNvCxnSpPr>
            <p:nvPr/>
          </p:nvCxnSpPr>
          <p:spPr bwMode="auto">
            <a:xfrm rot="16200000" flipH="1">
              <a:off x="3571" y="2695"/>
              <a:ext cx="986" cy="1020"/>
            </a:xfrm>
            <a:prstGeom prst="curvedConnector4">
              <a:avLst>
                <a:gd name="adj1" fmla="val 25556"/>
                <a:gd name="adj2" fmla="val 134509"/>
              </a:avLst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Date Placeholder 3">
            <a:extLst>
              <a:ext uri="{FF2B5EF4-FFF2-40B4-BE49-F238E27FC236}">
                <a16:creationId xmlns:a16="http://schemas.microsoft.com/office/drawing/2014/main" id="{207E91D3-B249-2AFE-7559-A3036236CFE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34819" name="Footer Placeholder 4">
            <a:extLst>
              <a:ext uri="{FF2B5EF4-FFF2-40B4-BE49-F238E27FC236}">
                <a16:creationId xmlns:a16="http://schemas.microsoft.com/office/drawing/2014/main" id="{EBC4892C-695A-4109-063E-05C366978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34820" name="Slide Number Placeholder 5">
            <a:extLst>
              <a:ext uri="{FF2B5EF4-FFF2-40B4-BE49-F238E27FC236}">
                <a16:creationId xmlns:a16="http://schemas.microsoft.com/office/drawing/2014/main" id="{FB37A78F-F31E-5ECD-EDB0-95218E134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64DADEB0-EAEB-449D-A42C-35A23298CB97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11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34821" name="Rectangle 2">
            <a:extLst>
              <a:ext uri="{FF2B5EF4-FFF2-40B4-BE49-F238E27FC236}">
                <a16:creationId xmlns:a16="http://schemas.microsoft.com/office/drawing/2014/main" id="{4F9D1012-5206-33A8-629D-9C61D3BB8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Problems with PC and CC</a:t>
            </a:r>
          </a:p>
        </p:txBody>
      </p:sp>
      <p:sp>
        <p:nvSpPr>
          <p:cNvPr id="34822" name="Rectangle 3">
            <a:extLst>
              <a:ext uri="{FF2B5EF4-FFF2-40B4-BE49-F238E27FC236}">
                <a16:creationId xmlns:a16="http://schemas.microsoft.com/office/drawing/2014/main" id="{E880C693-7D16-F5EC-BA4A-CA4FAFF8B3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63" y="1628775"/>
            <a:ext cx="8956675" cy="4824413"/>
          </a:xfrm>
        </p:spPr>
        <p:txBody>
          <a:bodyPr/>
          <a:lstStyle/>
          <a:p>
            <a:r>
              <a:rPr lang="en-US" altLang="en-US"/>
              <a:t>PC does not fully exercise all the clauses, especially in the presence of short circuit evaluation</a:t>
            </a:r>
          </a:p>
          <a:p>
            <a:pPr lvl="1"/>
            <a:endParaRPr lang="en-US" altLang="en-US"/>
          </a:p>
          <a:p>
            <a:r>
              <a:rPr lang="en-US" altLang="en-US"/>
              <a:t>CC does not always ensure PC</a:t>
            </a:r>
          </a:p>
          <a:p>
            <a:pPr lvl="1"/>
            <a:r>
              <a:rPr lang="en-US" altLang="en-US"/>
              <a:t>That is, we can satisfy CC without causing the predicate to be both true and false</a:t>
            </a:r>
          </a:p>
          <a:p>
            <a:pPr lvl="1"/>
            <a:r>
              <a:rPr lang="en-US" altLang="en-US"/>
              <a:t>This is definitely </a:t>
            </a:r>
            <a:r>
              <a:rPr lang="en-US" altLang="en-US" u="sng"/>
              <a:t>not</a:t>
            </a:r>
            <a:r>
              <a:rPr lang="en-US" altLang="en-US"/>
              <a:t> what we want !</a:t>
            </a:r>
          </a:p>
          <a:p>
            <a:pPr lvl="1"/>
            <a:endParaRPr lang="en-US" altLang="en-US"/>
          </a:p>
          <a:p>
            <a:r>
              <a:rPr lang="en-US" altLang="en-US"/>
              <a:t>The simplest solution is to test all combinations …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Date Placeholder 4">
            <a:extLst>
              <a:ext uri="{FF2B5EF4-FFF2-40B4-BE49-F238E27FC236}">
                <a16:creationId xmlns:a16="http://schemas.microsoft.com/office/drawing/2014/main" id="{F8585D94-4DF1-5306-A146-D926B14D519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36867" name="Footer Placeholder 5">
            <a:extLst>
              <a:ext uri="{FF2B5EF4-FFF2-40B4-BE49-F238E27FC236}">
                <a16:creationId xmlns:a16="http://schemas.microsoft.com/office/drawing/2014/main" id="{962E1E24-3237-3787-D950-21E3B2558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36868" name="Slide Number Placeholder 6">
            <a:extLst>
              <a:ext uri="{FF2B5EF4-FFF2-40B4-BE49-F238E27FC236}">
                <a16:creationId xmlns:a16="http://schemas.microsoft.com/office/drawing/2014/main" id="{C299ABA2-2A86-CEA9-1200-28EBFD82A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5A2CD578-1886-4472-835B-988689596F9F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12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A9DC5FF6-6A87-05EC-A792-5BA327E04D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Combinatorial Coverage</a:t>
            </a:r>
          </a:p>
        </p:txBody>
      </p:sp>
      <p:sp>
        <p:nvSpPr>
          <p:cNvPr id="36870" name="Rectangle 3">
            <a:extLst>
              <a:ext uri="{FF2B5EF4-FFF2-40B4-BE49-F238E27FC236}">
                <a16:creationId xmlns:a16="http://schemas.microsoft.com/office/drawing/2014/main" id="{A7D23C6E-98EE-B9CA-C196-0ECE61F326E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38113" y="974725"/>
            <a:ext cx="8515350" cy="846138"/>
          </a:xfrm>
        </p:spPr>
        <p:txBody>
          <a:bodyPr/>
          <a:lstStyle/>
          <a:p>
            <a:r>
              <a:rPr lang="en-US" altLang="en-US"/>
              <a:t>CoC requires every possible combination</a:t>
            </a:r>
          </a:p>
          <a:p>
            <a:r>
              <a:rPr lang="en-US" altLang="en-US"/>
              <a:t>Sometimes called Multiple Condition Coverage</a:t>
            </a:r>
          </a:p>
        </p:txBody>
      </p:sp>
      <p:sp>
        <p:nvSpPr>
          <p:cNvPr id="208900" name="Text Box 4">
            <a:extLst>
              <a:ext uri="{FF2B5EF4-FFF2-40B4-BE49-F238E27FC236}">
                <a16:creationId xmlns:a16="http://schemas.microsoft.com/office/drawing/2014/main" id="{4101DDFA-DA21-4510-8B22-E21E5B441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1931988"/>
            <a:ext cx="8262938" cy="1206500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Combinatorial Coverage (CoC)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For each </a:t>
            </a:r>
            <a:r>
              <a:rPr lang="en-US" sz="2400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sz="2400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TR has test requirements for the clauses in </a:t>
            </a:r>
            <a:r>
              <a:rPr lang="en-US" sz="2400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to evaluate to each possible combination of truth values.</a:t>
            </a:r>
          </a:p>
        </p:txBody>
      </p:sp>
      <p:graphicFrame>
        <p:nvGraphicFramePr>
          <p:cNvPr id="209118" name="Group 222">
            <a:extLst>
              <a:ext uri="{FF2B5EF4-FFF2-40B4-BE49-F238E27FC236}">
                <a16:creationId xmlns:a16="http://schemas.microsoft.com/office/drawing/2014/main" id="{221EB960-6211-4FD6-94CF-75BD5BDFEB7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189038" y="3360738"/>
          <a:ext cx="6561137" cy="3346450"/>
        </p:xfrm>
        <a:graphic>
          <a:graphicData uri="http://schemas.openxmlformats.org/drawingml/2006/table">
            <a:tbl>
              <a:tblPr/>
              <a:tblGrid>
                <a:gridCol w="57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5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 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 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&gt;=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n*o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((a 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b)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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D)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 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(m 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&gt;=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n*o)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9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0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Date Placeholder 3">
            <a:extLst>
              <a:ext uri="{FF2B5EF4-FFF2-40B4-BE49-F238E27FC236}">
                <a16:creationId xmlns:a16="http://schemas.microsoft.com/office/drawing/2014/main" id="{B5CE369F-8AD2-A652-B601-A701A259213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38915" name="Footer Placeholder 4">
            <a:extLst>
              <a:ext uri="{FF2B5EF4-FFF2-40B4-BE49-F238E27FC236}">
                <a16:creationId xmlns:a16="http://schemas.microsoft.com/office/drawing/2014/main" id="{2D71DC90-9511-C01D-40BB-8695A5F06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38916" name="Slide Number Placeholder 5">
            <a:extLst>
              <a:ext uri="{FF2B5EF4-FFF2-40B4-BE49-F238E27FC236}">
                <a16:creationId xmlns:a16="http://schemas.microsoft.com/office/drawing/2014/main" id="{2D21541A-4F5A-951C-CFBD-09C2D7B3E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3B0BD592-168A-4FD2-BFC1-647381FB4A0C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13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9DE35668-559D-58D0-95E8-ED47580345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Combinatorial Coverage</a:t>
            </a:r>
          </a:p>
        </p:txBody>
      </p:sp>
      <p:sp>
        <p:nvSpPr>
          <p:cNvPr id="38918" name="Rectangle 3">
            <a:extLst>
              <a:ext uri="{FF2B5EF4-FFF2-40B4-BE49-F238E27FC236}">
                <a16:creationId xmlns:a16="http://schemas.microsoft.com/office/drawing/2014/main" id="{EF2CE8B3-A828-3D44-9C61-FF3D3392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63" y="860425"/>
            <a:ext cx="8956675" cy="641350"/>
          </a:xfrm>
        </p:spPr>
        <p:txBody>
          <a:bodyPr/>
          <a:lstStyle/>
          <a:p>
            <a:r>
              <a:rPr lang="en-US" altLang="en-US"/>
              <a:t>This is simple, neat, clean, and comprehensive …</a:t>
            </a:r>
          </a:p>
        </p:txBody>
      </p:sp>
      <p:sp>
        <p:nvSpPr>
          <p:cNvPr id="209924" name="Rectangle 4">
            <a:extLst>
              <a:ext uri="{FF2B5EF4-FFF2-40B4-BE49-F238E27FC236}">
                <a16:creationId xmlns:a16="http://schemas.microsoft.com/office/drawing/2014/main" id="{1819223B-D377-A37E-8065-1A98398D1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1577975"/>
            <a:ext cx="8867775" cy="218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But quite expensive!</a:t>
            </a:r>
          </a:p>
          <a:p>
            <a:r>
              <a:rPr lang="en-US" altLang="en-US" i="1">
                <a:solidFill>
                  <a:schemeClr val="tx2"/>
                </a:solidFill>
              </a:rPr>
              <a:t>2</a:t>
            </a:r>
            <a:r>
              <a:rPr lang="en-US" altLang="en-US" i="1" baseline="30000">
                <a:solidFill>
                  <a:schemeClr val="tx2"/>
                </a:solidFill>
              </a:rPr>
              <a:t>N</a:t>
            </a:r>
            <a:r>
              <a:rPr lang="en-US" altLang="en-US"/>
              <a:t> tests, where </a:t>
            </a:r>
            <a:r>
              <a:rPr lang="en-US" altLang="en-US" i="1">
                <a:solidFill>
                  <a:schemeClr val="tx2"/>
                </a:solidFill>
              </a:rPr>
              <a:t>N</a:t>
            </a:r>
            <a:r>
              <a:rPr lang="en-US" altLang="en-US"/>
              <a:t> is the number of clauses</a:t>
            </a:r>
          </a:p>
          <a:p>
            <a:pPr lvl="1"/>
            <a:r>
              <a:rPr lang="en-US" altLang="en-US"/>
              <a:t>Impractical for predicates with more than 3 or 4 clauses</a:t>
            </a:r>
          </a:p>
          <a:p>
            <a:r>
              <a:rPr lang="en-US" altLang="en-US"/>
              <a:t>The literature has lots of suggestions – some confusing</a:t>
            </a:r>
          </a:p>
          <a:p>
            <a:r>
              <a:rPr lang="en-US" altLang="en-US"/>
              <a:t>The general idea is simple:</a:t>
            </a:r>
          </a:p>
        </p:txBody>
      </p:sp>
      <p:sp>
        <p:nvSpPr>
          <p:cNvPr id="209925" name="Text Box 5">
            <a:extLst>
              <a:ext uri="{FF2B5EF4-FFF2-40B4-BE49-F238E27FC236}">
                <a16:creationId xmlns:a16="http://schemas.microsoft.com/office/drawing/2014/main" id="{F92351D2-C8F0-2C07-585E-08F2719A8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363" y="3906838"/>
            <a:ext cx="7408862" cy="485775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457200" indent="-45720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en-US">
                <a:solidFill>
                  <a:srgbClr val="FAFD00"/>
                </a:solidFill>
              </a:rPr>
              <a:t>Test each clause independently from the other clauses</a:t>
            </a:r>
            <a:endParaRPr lang="en-US" altLang="en-US"/>
          </a:p>
        </p:txBody>
      </p:sp>
      <p:sp>
        <p:nvSpPr>
          <p:cNvPr id="209926" name="Rectangle 6">
            <a:extLst>
              <a:ext uri="{FF2B5EF4-FFF2-40B4-BE49-F238E27FC236}">
                <a16:creationId xmlns:a16="http://schemas.microsoft.com/office/drawing/2014/main" id="{8B73336D-831B-461E-C549-21F5ADB9D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4567238"/>
            <a:ext cx="8867775" cy="145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Getting the details right is hard</a:t>
            </a:r>
          </a:p>
          <a:p>
            <a:r>
              <a:rPr lang="en-US" altLang="en-US"/>
              <a:t>What exactly does “independently” mean ?</a:t>
            </a:r>
          </a:p>
          <a:p>
            <a:r>
              <a:rPr lang="en-US" altLang="en-US"/>
              <a:t>The book presents this idea as “</a:t>
            </a:r>
            <a:r>
              <a:rPr lang="en-US" altLang="en-US" i="1" u="sng">
                <a:solidFill>
                  <a:schemeClr val="tx2"/>
                </a:solidFill>
              </a:rPr>
              <a:t>making clauses active</a:t>
            </a:r>
            <a:r>
              <a:rPr lang="en-US" altLang="en-US"/>
              <a:t>” 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0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4" grpId="0" build="p"/>
      <p:bldP spid="209925" grpId="0" animBg="1"/>
      <p:bldP spid="20992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Date Placeholder 3">
            <a:extLst>
              <a:ext uri="{FF2B5EF4-FFF2-40B4-BE49-F238E27FC236}">
                <a16:creationId xmlns:a16="http://schemas.microsoft.com/office/drawing/2014/main" id="{18718400-9F03-B180-A42F-27F8B8471C3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40963" name="Footer Placeholder 4">
            <a:extLst>
              <a:ext uri="{FF2B5EF4-FFF2-40B4-BE49-F238E27FC236}">
                <a16:creationId xmlns:a16="http://schemas.microsoft.com/office/drawing/2014/main" id="{F1B2BF12-5849-DFA9-DDD0-37C812B1E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40964" name="Slide Number Placeholder 5">
            <a:extLst>
              <a:ext uri="{FF2B5EF4-FFF2-40B4-BE49-F238E27FC236}">
                <a16:creationId xmlns:a16="http://schemas.microsoft.com/office/drawing/2014/main" id="{17131E7D-6698-5300-54AC-947C7175D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B854A4E7-0A6D-45AC-9109-639C10462910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14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40965" name="Rectangle 2">
            <a:extLst>
              <a:ext uri="{FF2B5EF4-FFF2-40B4-BE49-F238E27FC236}">
                <a16:creationId xmlns:a16="http://schemas.microsoft.com/office/drawing/2014/main" id="{762B5D06-5477-859A-E7A7-18B1B4C126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Active Clauses</a:t>
            </a:r>
          </a:p>
        </p:txBody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4C626EB9-0ECD-F89F-A930-E785C6E55D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785813"/>
            <a:ext cx="8867775" cy="3303587"/>
          </a:xfrm>
        </p:spPr>
        <p:txBody>
          <a:bodyPr/>
          <a:lstStyle/>
          <a:p>
            <a:r>
              <a:rPr lang="en-US" altLang="en-US"/>
              <a:t>Clause coverage has a </a:t>
            </a:r>
            <a:r>
              <a:rPr lang="en-US" altLang="en-US" u="sng">
                <a:solidFill>
                  <a:schemeClr val="tx2"/>
                </a:solidFill>
              </a:rPr>
              <a:t>weakness</a:t>
            </a:r>
            <a:r>
              <a:rPr lang="en-US" altLang="en-US"/>
              <a:t> : The values do not always make a difference</a:t>
            </a:r>
          </a:p>
          <a:p>
            <a:r>
              <a:rPr lang="en-US" altLang="en-US"/>
              <a:t>Consider the first test for </a:t>
            </a:r>
            <a:r>
              <a:rPr lang="en-US" altLang="en-US">
                <a:solidFill>
                  <a:schemeClr val="tx2"/>
                </a:solidFill>
              </a:rPr>
              <a:t>clause coverage</a:t>
            </a:r>
            <a:r>
              <a:rPr lang="en-US" altLang="en-US"/>
              <a:t>, which caused each clause to be true:</a:t>
            </a:r>
          </a:p>
          <a:p>
            <a:pPr lvl="1"/>
            <a:r>
              <a:rPr lang="en-US" altLang="en-US" i="1"/>
              <a:t>(5 </a:t>
            </a:r>
            <a:r>
              <a:rPr lang="en-US" altLang="en-US" i="1">
                <a:solidFill>
                  <a:schemeClr val="tx2"/>
                </a:solidFill>
              </a:rPr>
              <a:t>&lt;</a:t>
            </a:r>
            <a:r>
              <a:rPr lang="en-US" altLang="en-US" i="1"/>
              <a:t> 10) </a:t>
            </a:r>
            <a:r>
              <a:rPr lang="en-US" altLang="en-US" sz="24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en-US" i="1"/>
              <a:t> true </a:t>
            </a:r>
            <a:r>
              <a:rPr lang="en-US" altLang="en-US" sz="24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en-US" i="1"/>
              <a:t>(1 </a:t>
            </a:r>
            <a:r>
              <a:rPr lang="en-US" altLang="en-US" i="1">
                <a:solidFill>
                  <a:schemeClr val="tx2"/>
                </a:solidFill>
              </a:rPr>
              <a:t>&gt;=</a:t>
            </a:r>
            <a:r>
              <a:rPr lang="en-US" altLang="en-US" i="1"/>
              <a:t> 1*1)</a:t>
            </a:r>
          </a:p>
          <a:p>
            <a:r>
              <a:rPr lang="en-US" altLang="en-US"/>
              <a:t>Only the first clause </a:t>
            </a:r>
            <a:r>
              <a:rPr lang="en-US" altLang="en-US" i="1" u="sng">
                <a:solidFill>
                  <a:schemeClr val="tx2"/>
                </a:solidFill>
              </a:rPr>
              <a:t>counts</a:t>
            </a:r>
            <a:r>
              <a:rPr lang="en-US" altLang="en-US"/>
              <a:t> !</a:t>
            </a:r>
          </a:p>
          <a:p>
            <a:r>
              <a:rPr lang="en-US" altLang="en-US"/>
              <a:t>To really test the results of a clause, the clause should be the </a:t>
            </a:r>
            <a:r>
              <a:rPr lang="en-US" altLang="en-US" u="sng">
                <a:solidFill>
                  <a:schemeClr val="tx2"/>
                </a:solidFill>
              </a:rPr>
              <a:t>determining factor</a:t>
            </a:r>
            <a:r>
              <a:rPr lang="en-US" altLang="en-US"/>
              <a:t> in the value of the predicate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53E3CDE2-B6AC-734A-B507-83236977F188}"/>
              </a:ext>
            </a:extLst>
          </p:cNvPr>
          <p:cNvGrpSpPr>
            <a:grpSpLocks/>
          </p:cNvGrpSpPr>
          <p:nvPr/>
        </p:nvGrpSpPr>
        <p:grpSpPr bwMode="auto">
          <a:xfrm>
            <a:off x="158750" y="3997325"/>
            <a:ext cx="8697913" cy="1947863"/>
            <a:chOff x="100" y="2734"/>
            <a:chExt cx="5479" cy="1227"/>
          </a:xfrm>
        </p:grpSpPr>
        <p:sp>
          <p:nvSpPr>
            <p:cNvPr id="40969" name="Text Box 4">
              <a:extLst>
                <a:ext uri="{FF2B5EF4-FFF2-40B4-BE49-F238E27FC236}">
                  <a16:creationId xmlns:a16="http://schemas.microsoft.com/office/drawing/2014/main" id="{68D64AC4-0A59-67AA-6884-FD9B09195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" y="2734"/>
              <a:ext cx="1485" cy="306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457200" indent="-457200"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u="sng">
                  <a:solidFill>
                    <a:schemeClr val="tx2"/>
                  </a:solidFill>
                </a:rPr>
                <a:t>Determination</a:t>
              </a:r>
              <a:r>
                <a:rPr lang="en-US" altLang="en-US"/>
                <a:t> :</a:t>
              </a:r>
            </a:p>
          </p:txBody>
        </p:sp>
        <p:sp>
          <p:nvSpPr>
            <p:cNvPr id="40970" name="Text Box 7">
              <a:extLst>
                <a:ext uri="{FF2B5EF4-FFF2-40B4-BE49-F238E27FC236}">
                  <a16:creationId xmlns:a16="http://schemas.microsoft.com/office/drawing/2014/main" id="{F796B7DF-846B-5B22-6742-AC4F72944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8" y="2734"/>
              <a:ext cx="4011" cy="1227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/>
                <a:t>A clause </a:t>
              </a:r>
              <a:r>
                <a:rPr lang="en-US" altLang="en-US" sz="3200" i="1"/>
                <a:t>c</a:t>
              </a:r>
              <a:r>
                <a:rPr lang="en-US" altLang="en-US" sz="3200" i="1" baseline="-25000"/>
                <a:t>i</a:t>
              </a:r>
              <a:r>
                <a:rPr lang="en-US" altLang="en-US"/>
                <a:t> in predicate </a:t>
              </a:r>
              <a:r>
                <a:rPr lang="en-US" altLang="en-US" i="1"/>
                <a:t>p</a:t>
              </a:r>
              <a:r>
                <a:rPr lang="en-US" altLang="en-US"/>
                <a:t>, called the </a:t>
              </a:r>
              <a:r>
                <a:rPr lang="en-US" altLang="en-US" u="sng"/>
                <a:t>major clause</a:t>
              </a:r>
              <a:r>
                <a:rPr lang="en-US" altLang="en-US"/>
                <a:t>, </a:t>
              </a:r>
              <a:r>
                <a:rPr lang="en-US" altLang="en-US" u="sng">
                  <a:solidFill>
                    <a:schemeClr val="tx2"/>
                  </a:solidFill>
                </a:rPr>
                <a:t>determines</a:t>
              </a:r>
              <a:r>
                <a:rPr lang="en-US" altLang="en-US"/>
                <a:t> </a:t>
              </a:r>
              <a:r>
                <a:rPr lang="en-US" altLang="en-US" i="1"/>
                <a:t>p</a:t>
              </a:r>
              <a:r>
                <a:rPr lang="en-US" altLang="en-US"/>
                <a:t> if and only if the values of the remaining </a:t>
              </a:r>
              <a:r>
                <a:rPr lang="en-US" altLang="en-US" u="sng"/>
                <a:t>minor clauses</a:t>
              </a:r>
              <a:r>
                <a:rPr lang="en-US" altLang="en-US"/>
                <a:t> </a:t>
              </a:r>
              <a:r>
                <a:rPr lang="en-US" altLang="en-US" sz="3200"/>
                <a:t>c</a:t>
              </a:r>
              <a:r>
                <a:rPr lang="en-US" altLang="en-US" sz="3200" baseline="-25000"/>
                <a:t>j</a:t>
              </a:r>
              <a:r>
                <a:rPr lang="en-US" altLang="en-US"/>
                <a:t> are such that changing </a:t>
              </a:r>
              <a:r>
                <a:rPr lang="en-US" altLang="en-US" sz="3200" i="1"/>
                <a:t>c</a:t>
              </a:r>
              <a:r>
                <a:rPr lang="en-US" altLang="en-US" sz="3200" i="1" baseline="-25000"/>
                <a:t>i</a:t>
              </a:r>
              <a:r>
                <a:rPr lang="en-US" altLang="en-US"/>
                <a:t> changes the value of </a:t>
              </a:r>
              <a:r>
                <a:rPr lang="en-US" altLang="en-US" i="1"/>
                <a:t>p</a:t>
              </a:r>
            </a:p>
          </p:txBody>
        </p:sp>
      </p:grpSp>
      <p:sp>
        <p:nvSpPr>
          <p:cNvPr id="210954" name="Rectangle 10">
            <a:extLst>
              <a:ext uri="{FF2B5EF4-FFF2-40B4-BE49-F238E27FC236}">
                <a16:creationId xmlns:a16="http://schemas.microsoft.com/office/drawing/2014/main" id="{18FC4C48-EABE-3234-E383-D204412A0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5929313"/>
            <a:ext cx="8867775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This is considered to </a:t>
            </a:r>
            <a:r>
              <a:rPr lang="en-US" altLang="en-US" i="1">
                <a:solidFill>
                  <a:schemeClr val="tx2"/>
                </a:solidFill>
              </a:rPr>
              <a:t>make the clause active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10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 build="p"/>
      <p:bldP spid="21095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Date Placeholder 3">
            <a:extLst>
              <a:ext uri="{FF2B5EF4-FFF2-40B4-BE49-F238E27FC236}">
                <a16:creationId xmlns:a16="http://schemas.microsoft.com/office/drawing/2014/main" id="{B7CA77E0-D800-6E4B-1BE1-677BE1DC19B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41987" name="Footer Placeholder 4">
            <a:extLst>
              <a:ext uri="{FF2B5EF4-FFF2-40B4-BE49-F238E27FC236}">
                <a16:creationId xmlns:a16="http://schemas.microsoft.com/office/drawing/2014/main" id="{0C17F063-771A-A057-648E-07264B51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41988" name="Slide Number Placeholder 5">
            <a:extLst>
              <a:ext uri="{FF2B5EF4-FFF2-40B4-BE49-F238E27FC236}">
                <a16:creationId xmlns:a16="http://schemas.microsoft.com/office/drawing/2014/main" id="{8E39BF5E-C7C7-9422-EF7F-748B7D23B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5157909E-0437-45BD-B13B-2A7F44176002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15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41989" name="Rectangle 2">
            <a:extLst>
              <a:ext uri="{FF2B5EF4-FFF2-40B4-BE49-F238E27FC236}">
                <a16:creationId xmlns:a16="http://schemas.microsoft.com/office/drawing/2014/main" id="{E48319F7-086F-92E3-6D52-393C22306A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Determining Predicates</a:t>
            </a:r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C30DDB82-CD4A-6767-5050-42522DB8CC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63" y="3678238"/>
            <a:ext cx="8956675" cy="2774950"/>
          </a:xfrm>
        </p:spPr>
        <p:txBody>
          <a:bodyPr/>
          <a:lstStyle/>
          <a:p>
            <a:r>
              <a:rPr lang="en-US" altLang="en-US" u="sng">
                <a:solidFill>
                  <a:schemeClr val="tx2"/>
                </a:solidFill>
              </a:rPr>
              <a:t>Goal</a:t>
            </a:r>
            <a:r>
              <a:rPr lang="en-US" altLang="en-US"/>
              <a:t> : Find tests for each clause when the clause determines the value of the predicate</a:t>
            </a:r>
          </a:p>
          <a:p>
            <a:r>
              <a:rPr lang="en-US" altLang="en-US"/>
              <a:t>This is formalized in </a:t>
            </a:r>
            <a:r>
              <a:rPr lang="en-US" altLang="en-US">
                <a:solidFill>
                  <a:schemeClr val="tx2"/>
                </a:solidFill>
              </a:rPr>
              <a:t>several criteria</a:t>
            </a:r>
            <a:r>
              <a:rPr lang="en-US" altLang="en-US"/>
              <a:t> that have subtle, but very important, differences</a:t>
            </a:r>
          </a:p>
        </p:txBody>
      </p:sp>
      <p:sp>
        <p:nvSpPr>
          <p:cNvPr id="212997" name="Text Box 5">
            <a:extLst>
              <a:ext uri="{FF2B5EF4-FFF2-40B4-BE49-F238E27FC236}">
                <a16:creationId xmlns:a16="http://schemas.microsoft.com/office/drawing/2014/main" id="{072F730D-0C99-8FC8-F39D-ED3C947DD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158875"/>
            <a:ext cx="3498850" cy="1797050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en-US" sz="2000" u="sng">
                <a:solidFill>
                  <a:srgbClr val="FAFD00"/>
                </a:solidFill>
              </a:rPr>
              <a:t>P = A </a:t>
            </a:r>
            <a:r>
              <a:rPr lang="en-US" altLang="en-US" sz="2000" u="sng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 u="sng">
                <a:solidFill>
                  <a:srgbClr val="FAFD00"/>
                </a:solidFill>
              </a:rPr>
              <a:t> B</a:t>
            </a:r>
          </a:p>
          <a:p>
            <a:pPr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en-US" sz="2000"/>
              <a:t>if </a:t>
            </a:r>
            <a:r>
              <a:rPr lang="en-US" altLang="en-US" sz="2000" i="1">
                <a:solidFill>
                  <a:schemeClr val="tx2"/>
                </a:solidFill>
              </a:rPr>
              <a:t>B = true</a:t>
            </a:r>
            <a:r>
              <a:rPr lang="en-US" altLang="en-US" sz="2000"/>
              <a:t>, </a:t>
            </a:r>
            <a:r>
              <a:rPr lang="en-US" altLang="en-US" sz="2000" i="1"/>
              <a:t>p</a:t>
            </a:r>
            <a:r>
              <a:rPr lang="en-US" altLang="en-US" sz="2000"/>
              <a:t> is always true.</a:t>
            </a:r>
          </a:p>
          <a:p>
            <a:pPr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en-US" sz="2000"/>
              <a:t>so if </a:t>
            </a:r>
            <a:r>
              <a:rPr lang="en-US" altLang="en-US" sz="2000" i="1">
                <a:solidFill>
                  <a:schemeClr val="tx2"/>
                </a:solidFill>
              </a:rPr>
              <a:t>B = false</a:t>
            </a:r>
            <a:r>
              <a:rPr lang="en-US" altLang="en-US" sz="2000"/>
              <a:t>, </a:t>
            </a:r>
            <a:r>
              <a:rPr lang="en-US" altLang="en-US" sz="2000" i="1"/>
              <a:t>A</a:t>
            </a:r>
            <a:r>
              <a:rPr lang="en-US" altLang="en-US" sz="2000"/>
              <a:t> determines </a:t>
            </a:r>
            <a:r>
              <a:rPr lang="en-US" altLang="en-US" sz="2000" i="1"/>
              <a:t>p</a:t>
            </a:r>
            <a:r>
              <a:rPr lang="en-US" altLang="en-US" sz="2000"/>
              <a:t>.</a:t>
            </a:r>
          </a:p>
          <a:p>
            <a:pPr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en-US" sz="2000"/>
              <a:t>if </a:t>
            </a:r>
            <a:r>
              <a:rPr lang="en-US" altLang="en-US" sz="2000" i="1">
                <a:solidFill>
                  <a:schemeClr val="tx2"/>
                </a:solidFill>
              </a:rPr>
              <a:t>A = false</a:t>
            </a:r>
            <a:r>
              <a:rPr lang="en-US" altLang="en-US" sz="2000"/>
              <a:t>, </a:t>
            </a:r>
            <a:r>
              <a:rPr lang="en-US" altLang="en-US" sz="2000" i="1"/>
              <a:t>B</a:t>
            </a:r>
            <a:r>
              <a:rPr lang="en-US" altLang="en-US" sz="2000"/>
              <a:t> determines </a:t>
            </a:r>
            <a:r>
              <a:rPr lang="en-US" altLang="en-US" sz="2000" i="1"/>
              <a:t>p</a:t>
            </a:r>
            <a:r>
              <a:rPr lang="en-US" altLang="en-US" sz="2000"/>
              <a:t>.</a:t>
            </a:r>
          </a:p>
        </p:txBody>
      </p:sp>
      <p:sp>
        <p:nvSpPr>
          <p:cNvPr id="212999" name="Text Box 7">
            <a:extLst>
              <a:ext uri="{FF2B5EF4-FFF2-40B4-BE49-F238E27FC236}">
                <a16:creationId xmlns:a16="http://schemas.microsoft.com/office/drawing/2014/main" id="{D788B46E-C1DA-D2DF-EC12-EAC3819CE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775" y="1158875"/>
            <a:ext cx="3498850" cy="1797050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en-US" sz="2000" u="sng">
                <a:solidFill>
                  <a:srgbClr val="FAFD00"/>
                </a:solidFill>
              </a:rPr>
              <a:t>P = A </a:t>
            </a:r>
            <a:r>
              <a:rPr lang="en-US" altLang="en-US" sz="2000" u="sng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 u="sng">
                <a:solidFill>
                  <a:srgbClr val="FAFD00"/>
                </a:solidFill>
              </a:rPr>
              <a:t> B</a:t>
            </a:r>
          </a:p>
          <a:p>
            <a:pPr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en-US" sz="2000"/>
              <a:t>if </a:t>
            </a:r>
            <a:r>
              <a:rPr lang="en-US" altLang="en-US" sz="2000" i="1">
                <a:solidFill>
                  <a:schemeClr val="tx2"/>
                </a:solidFill>
              </a:rPr>
              <a:t>B = false</a:t>
            </a:r>
            <a:r>
              <a:rPr lang="en-US" altLang="en-US" sz="2000"/>
              <a:t>, </a:t>
            </a:r>
            <a:r>
              <a:rPr lang="en-US" altLang="en-US" sz="2000" i="1"/>
              <a:t>p</a:t>
            </a:r>
            <a:r>
              <a:rPr lang="en-US" altLang="en-US" sz="2000"/>
              <a:t> is always false.</a:t>
            </a:r>
          </a:p>
          <a:p>
            <a:pPr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en-US" sz="2000"/>
              <a:t>so if </a:t>
            </a:r>
            <a:r>
              <a:rPr lang="en-US" altLang="en-US" sz="2000" i="1">
                <a:solidFill>
                  <a:schemeClr val="tx2"/>
                </a:solidFill>
              </a:rPr>
              <a:t>B = true</a:t>
            </a:r>
            <a:r>
              <a:rPr lang="en-US" altLang="en-US" sz="2000"/>
              <a:t>, </a:t>
            </a:r>
            <a:r>
              <a:rPr lang="en-US" altLang="en-US" sz="2000" i="1"/>
              <a:t>A</a:t>
            </a:r>
            <a:r>
              <a:rPr lang="en-US" altLang="en-US" sz="2000"/>
              <a:t> determines </a:t>
            </a:r>
            <a:r>
              <a:rPr lang="en-US" altLang="en-US" sz="2000" i="1"/>
              <a:t>p</a:t>
            </a:r>
            <a:r>
              <a:rPr lang="en-US" altLang="en-US" sz="2000"/>
              <a:t>.</a:t>
            </a:r>
          </a:p>
          <a:p>
            <a:pPr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en-US" sz="2000"/>
              <a:t>if </a:t>
            </a:r>
            <a:r>
              <a:rPr lang="en-US" altLang="en-US" sz="2000" i="1">
                <a:solidFill>
                  <a:schemeClr val="tx2"/>
                </a:solidFill>
              </a:rPr>
              <a:t>A = true</a:t>
            </a:r>
            <a:r>
              <a:rPr lang="en-US" altLang="en-US" sz="2000"/>
              <a:t>, </a:t>
            </a:r>
            <a:r>
              <a:rPr lang="en-US" altLang="en-US" sz="2000" i="1"/>
              <a:t>B</a:t>
            </a:r>
            <a:r>
              <a:rPr lang="en-US" altLang="en-US" sz="2000"/>
              <a:t> determines </a:t>
            </a:r>
            <a:r>
              <a:rPr lang="en-US" altLang="en-US" sz="2000" i="1"/>
              <a:t>p</a:t>
            </a:r>
            <a:r>
              <a:rPr lang="en-US" altLang="en-US" sz="2000"/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build="p"/>
      <p:bldP spid="212997" grpId="0" animBg="1"/>
      <p:bldP spid="21299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Date Placeholder 3">
            <a:extLst>
              <a:ext uri="{FF2B5EF4-FFF2-40B4-BE49-F238E27FC236}">
                <a16:creationId xmlns:a16="http://schemas.microsoft.com/office/drawing/2014/main" id="{625E0EFA-C314-244D-26DB-E44A331E846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44035" name="Footer Placeholder 4">
            <a:extLst>
              <a:ext uri="{FF2B5EF4-FFF2-40B4-BE49-F238E27FC236}">
                <a16:creationId xmlns:a16="http://schemas.microsoft.com/office/drawing/2014/main" id="{992A24B4-9B98-86F4-804C-16E045106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44036" name="Slide Number Placeholder 5">
            <a:extLst>
              <a:ext uri="{FF2B5EF4-FFF2-40B4-BE49-F238E27FC236}">
                <a16:creationId xmlns:a16="http://schemas.microsoft.com/office/drawing/2014/main" id="{9574BE10-41EB-C2D6-EFEA-A9FBB6272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B89B2DAE-F6D6-4E27-9B2C-9387C68955E6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16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C1B2E0BE-713F-37D7-6337-56EC538C7278}"/>
              </a:ext>
            </a:extLst>
          </p:cNvPr>
          <p:cNvGrpSpPr>
            <a:grpSpLocks/>
          </p:cNvGrpSpPr>
          <p:nvPr/>
        </p:nvGrpSpPr>
        <p:grpSpPr bwMode="auto">
          <a:xfrm>
            <a:off x="673100" y="2641600"/>
            <a:ext cx="2771775" cy="2254250"/>
            <a:chOff x="1332" y="2184"/>
            <a:chExt cx="1746" cy="1420"/>
          </a:xfrm>
        </p:grpSpPr>
        <p:sp>
          <p:nvSpPr>
            <p:cNvPr id="44052" name="Text Box 5">
              <a:extLst>
                <a:ext uri="{FF2B5EF4-FFF2-40B4-BE49-F238E27FC236}">
                  <a16:creationId xmlns:a16="http://schemas.microsoft.com/office/drawing/2014/main" id="{942B8E14-7BE8-CEA9-19F6-A9BA7FDC3C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5" y="2184"/>
              <a:ext cx="1743" cy="1420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457200" indent="-457200"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 u="sng">
                  <a:solidFill>
                    <a:srgbClr val="FAFD00"/>
                  </a:solidFill>
                </a:rPr>
                <a:t>p = a </a:t>
              </a:r>
              <a:r>
                <a:rPr lang="en-US" altLang="en-US" sz="2000" u="sng">
                  <a:solidFill>
                    <a:schemeClr val="tx2"/>
                  </a:solidFill>
                  <a:sym typeface="Symbol" panose="05050102010706020507" pitchFamily="18" charset="2"/>
                </a:rPr>
                <a:t></a:t>
              </a:r>
              <a:r>
                <a:rPr lang="en-US" altLang="en-US" sz="2000" u="sng">
                  <a:solidFill>
                    <a:srgbClr val="FAFD00"/>
                  </a:solidFill>
                </a:rPr>
                <a:t> b</a:t>
              </a:r>
            </a:p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AutoNum type="arabicParenR"/>
              </a:pPr>
              <a:r>
                <a:rPr lang="en-US" altLang="en-US" sz="2000">
                  <a:solidFill>
                    <a:schemeClr val="tx2"/>
                  </a:solidFill>
                </a:rPr>
                <a:t>a = true</a:t>
              </a:r>
              <a:r>
                <a:rPr lang="en-US" altLang="en-US" sz="2000"/>
                <a:t>, b = false</a:t>
              </a:r>
            </a:p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AutoNum type="arabicParenR"/>
              </a:pPr>
              <a:r>
                <a:rPr lang="en-US" altLang="en-US" sz="2000">
                  <a:solidFill>
                    <a:schemeClr val="tx2"/>
                  </a:solidFill>
                </a:rPr>
                <a:t>a = false</a:t>
              </a:r>
              <a:r>
                <a:rPr lang="en-US" altLang="en-US" sz="2000"/>
                <a:t>, b = false</a:t>
              </a:r>
            </a:p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AutoNum type="arabicParenR"/>
              </a:pPr>
              <a:r>
                <a:rPr lang="en-US" altLang="en-US" sz="2000"/>
                <a:t>a = false, </a:t>
              </a:r>
              <a:r>
                <a:rPr lang="en-US" altLang="en-US" sz="2000">
                  <a:solidFill>
                    <a:schemeClr val="tx2"/>
                  </a:solidFill>
                </a:rPr>
                <a:t>b = true</a:t>
              </a:r>
            </a:p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AutoNum type="arabicParenR"/>
              </a:pPr>
              <a:r>
                <a:rPr lang="en-US" altLang="en-US" sz="2000"/>
                <a:t>a = false, </a:t>
              </a:r>
              <a:r>
                <a:rPr lang="en-US" altLang="en-US" sz="2000">
                  <a:solidFill>
                    <a:schemeClr val="tx2"/>
                  </a:solidFill>
                </a:rPr>
                <a:t>b = false</a:t>
              </a:r>
            </a:p>
          </p:txBody>
        </p:sp>
        <p:sp>
          <p:nvSpPr>
            <p:cNvPr id="44053" name="Line 6">
              <a:extLst>
                <a:ext uri="{FF2B5EF4-FFF2-40B4-BE49-F238E27FC236}">
                  <a16:creationId xmlns:a16="http://schemas.microsoft.com/office/drawing/2014/main" id="{5FA096DA-C9DD-5453-1563-8E4B234A6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2" y="3039"/>
              <a:ext cx="174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038" name="Rectangle 2">
            <a:extLst>
              <a:ext uri="{FF2B5EF4-FFF2-40B4-BE49-F238E27FC236}">
                <a16:creationId xmlns:a16="http://schemas.microsoft.com/office/drawing/2014/main" id="{DEB62D98-4CCA-6909-290B-BF18128785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Active Clause Coverage</a:t>
            </a:r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B00E4421-6A4E-0633-DEF2-B38BB17746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5081588"/>
            <a:ext cx="8867775" cy="1371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This is a form of </a:t>
            </a:r>
            <a:r>
              <a:rPr lang="en-US" altLang="en-US">
                <a:solidFill>
                  <a:schemeClr val="tx2"/>
                </a:solidFill>
              </a:rPr>
              <a:t>MCDC</a:t>
            </a:r>
            <a:r>
              <a:rPr lang="en-US" altLang="en-US"/>
              <a:t>, which is required by the FAA for safety critical software</a:t>
            </a:r>
          </a:p>
          <a:p>
            <a:pPr>
              <a:lnSpc>
                <a:spcPct val="80000"/>
              </a:lnSpc>
            </a:pPr>
            <a:r>
              <a:rPr lang="en-US" altLang="en-US" u="sng">
                <a:solidFill>
                  <a:schemeClr val="tx2"/>
                </a:solidFill>
              </a:rPr>
              <a:t>Ambiguity</a:t>
            </a:r>
            <a:r>
              <a:rPr lang="en-US" altLang="en-US"/>
              <a:t> : Do the minor clauses have to have the </a:t>
            </a:r>
            <a:r>
              <a:rPr lang="en-US" altLang="en-US">
                <a:solidFill>
                  <a:schemeClr val="tx2"/>
                </a:solidFill>
              </a:rPr>
              <a:t>same values</a:t>
            </a:r>
            <a:r>
              <a:rPr lang="en-US" altLang="en-US"/>
              <a:t> when the major clause is true and false?</a:t>
            </a:r>
          </a:p>
        </p:txBody>
      </p:sp>
      <p:sp>
        <p:nvSpPr>
          <p:cNvPr id="214020" name="Text Box 4">
            <a:extLst>
              <a:ext uri="{FF2B5EF4-FFF2-40B4-BE49-F238E27FC236}">
                <a16:creationId xmlns:a16="http://schemas.microsoft.com/office/drawing/2014/main" id="{8D7674CA-F50D-4874-B8C7-F30AB762D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781050"/>
            <a:ext cx="8262938" cy="1816100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Active Clause Coverage (ACC)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For each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and each major clause </a:t>
            </a:r>
            <a:r>
              <a:rPr lang="en-US" sz="28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32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choose minor clauses </a:t>
            </a:r>
            <a:r>
              <a:rPr lang="en-US" sz="32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32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 != </a:t>
            </a:r>
            <a:r>
              <a:rPr lang="en-US" sz="240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so that </a:t>
            </a:r>
            <a:r>
              <a:rPr lang="en-US" sz="32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32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determines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 TR has two requirements for each </a:t>
            </a:r>
            <a:r>
              <a:rPr lang="en-US" sz="28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32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 </a:t>
            </a:r>
            <a:r>
              <a:rPr lang="en-US" sz="28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32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8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evaluates to true and </a:t>
            </a:r>
            <a:r>
              <a:rPr lang="en-US" sz="28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32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evaluates to false.</a:t>
            </a:r>
          </a:p>
        </p:txBody>
      </p:sp>
      <p:grpSp>
        <p:nvGrpSpPr>
          <p:cNvPr id="3" name="Group 12">
            <a:extLst>
              <a:ext uri="{FF2B5EF4-FFF2-40B4-BE49-F238E27FC236}">
                <a16:creationId xmlns:a16="http://schemas.microsoft.com/office/drawing/2014/main" id="{548E3292-BEE8-7B71-9D45-925CC8A8F162}"/>
              </a:ext>
            </a:extLst>
          </p:cNvPr>
          <p:cNvGrpSpPr>
            <a:grpSpLocks/>
          </p:cNvGrpSpPr>
          <p:nvPr/>
        </p:nvGrpSpPr>
        <p:grpSpPr bwMode="auto">
          <a:xfrm>
            <a:off x="455613" y="4452938"/>
            <a:ext cx="4951412" cy="485775"/>
            <a:chOff x="1195" y="3335"/>
            <a:chExt cx="3119" cy="306"/>
          </a:xfrm>
        </p:grpSpPr>
        <p:sp>
          <p:nvSpPr>
            <p:cNvPr id="44050" name="Line 9">
              <a:extLst>
                <a:ext uri="{FF2B5EF4-FFF2-40B4-BE49-F238E27FC236}">
                  <a16:creationId xmlns:a16="http://schemas.microsoft.com/office/drawing/2014/main" id="{15A8CFEB-B36A-752C-B8E1-97CA37A45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5" y="3488"/>
              <a:ext cx="2139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1" name="Text Box 10">
              <a:extLst>
                <a:ext uri="{FF2B5EF4-FFF2-40B4-BE49-F238E27FC236}">
                  <a16:creationId xmlns:a16="http://schemas.microsoft.com/office/drawing/2014/main" id="{359A08EF-B25F-6B0A-63F0-FCB6EF035D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1" y="3335"/>
              <a:ext cx="1003" cy="306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457200" indent="-457200"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</a:rPr>
                <a:t>Duplicate</a:t>
              </a:r>
            </a:p>
          </p:txBody>
        </p:sp>
      </p:grpSp>
      <p:grpSp>
        <p:nvGrpSpPr>
          <p:cNvPr id="4" name="Group 19">
            <a:extLst>
              <a:ext uri="{FF2B5EF4-FFF2-40B4-BE49-F238E27FC236}">
                <a16:creationId xmlns:a16="http://schemas.microsoft.com/office/drawing/2014/main" id="{3F6C9398-BF07-5C68-3A97-3011F298A356}"/>
              </a:ext>
            </a:extLst>
          </p:cNvPr>
          <p:cNvGrpSpPr>
            <a:grpSpLocks/>
          </p:cNvGrpSpPr>
          <p:nvPr/>
        </p:nvGrpSpPr>
        <p:grpSpPr bwMode="auto">
          <a:xfrm>
            <a:off x="1057275" y="2890838"/>
            <a:ext cx="5214938" cy="1185862"/>
            <a:chOff x="666" y="1821"/>
            <a:chExt cx="3285" cy="747"/>
          </a:xfrm>
        </p:grpSpPr>
        <p:sp>
          <p:nvSpPr>
            <p:cNvPr id="44047" name="Line 10">
              <a:extLst>
                <a:ext uri="{FF2B5EF4-FFF2-40B4-BE49-F238E27FC236}">
                  <a16:creationId xmlns:a16="http://schemas.microsoft.com/office/drawing/2014/main" id="{AE465EC1-21D4-6462-155F-191FE7E830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4" y="1951"/>
              <a:ext cx="1195" cy="21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8" name="Text Box 11">
              <a:extLst>
                <a:ext uri="{FF2B5EF4-FFF2-40B4-BE49-F238E27FC236}">
                  <a16:creationId xmlns:a16="http://schemas.microsoft.com/office/drawing/2014/main" id="{6C6E27F7-1EDA-A0A0-0696-F3710BD60B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8" y="1821"/>
              <a:ext cx="1273" cy="258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rgbClr val="FAFD00"/>
                  </a:solidFill>
                </a:rPr>
                <a:t>a is major clause</a:t>
              </a:r>
            </a:p>
          </p:txBody>
        </p:sp>
        <p:sp>
          <p:nvSpPr>
            <p:cNvPr id="44049" name="Oval 9">
              <a:extLst>
                <a:ext uri="{FF2B5EF4-FFF2-40B4-BE49-F238E27FC236}">
                  <a16:creationId xmlns:a16="http://schemas.microsoft.com/office/drawing/2014/main" id="{61F4522A-B000-C10F-26F9-AB2667ACE67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710281">
              <a:off x="752" y="1834"/>
              <a:ext cx="648" cy="819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sz="2000">
                <a:solidFill>
                  <a:srgbClr val="FAFD00"/>
                </a:solidFill>
              </a:endParaRPr>
            </a:p>
          </p:txBody>
        </p:sp>
      </p:grpSp>
      <p:grpSp>
        <p:nvGrpSpPr>
          <p:cNvPr id="5" name="Group 20">
            <a:extLst>
              <a:ext uri="{FF2B5EF4-FFF2-40B4-BE49-F238E27FC236}">
                <a16:creationId xmlns:a16="http://schemas.microsoft.com/office/drawing/2014/main" id="{CCABFB9D-4C5C-2DD8-4200-324069471F30}"/>
              </a:ext>
            </a:extLst>
          </p:cNvPr>
          <p:cNvGrpSpPr>
            <a:grpSpLocks/>
          </p:cNvGrpSpPr>
          <p:nvPr/>
        </p:nvGrpSpPr>
        <p:grpSpPr bwMode="auto">
          <a:xfrm>
            <a:off x="2062163" y="3790950"/>
            <a:ext cx="5214937" cy="1185863"/>
            <a:chOff x="666" y="1821"/>
            <a:chExt cx="3285" cy="747"/>
          </a:xfrm>
        </p:grpSpPr>
        <p:sp>
          <p:nvSpPr>
            <p:cNvPr id="44044" name="Line 10">
              <a:extLst>
                <a:ext uri="{FF2B5EF4-FFF2-40B4-BE49-F238E27FC236}">
                  <a16:creationId xmlns:a16="http://schemas.microsoft.com/office/drawing/2014/main" id="{63E8C41F-1C52-137A-E113-B05E26AFE5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4" y="1951"/>
              <a:ext cx="1195" cy="21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5" name="Text Box 11">
              <a:extLst>
                <a:ext uri="{FF2B5EF4-FFF2-40B4-BE49-F238E27FC236}">
                  <a16:creationId xmlns:a16="http://schemas.microsoft.com/office/drawing/2014/main" id="{F44897A9-884E-8D62-B625-57B02598E3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8" y="1821"/>
              <a:ext cx="1273" cy="258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rgbClr val="FAFD00"/>
                  </a:solidFill>
                </a:rPr>
                <a:t>b is major clause</a:t>
              </a:r>
            </a:p>
          </p:txBody>
        </p:sp>
        <p:sp>
          <p:nvSpPr>
            <p:cNvPr id="44046" name="Oval 9">
              <a:extLst>
                <a:ext uri="{FF2B5EF4-FFF2-40B4-BE49-F238E27FC236}">
                  <a16:creationId xmlns:a16="http://schemas.microsoft.com/office/drawing/2014/main" id="{80E29F67-F818-9719-5905-740F3D4ADB3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710281">
              <a:off x="752" y="1834"/>
              <a:ext cx="648" cy="819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sz="2000">
                <a:solidFill>
                  <a:srgbClr val="FAFD00"/>
                </a:solidFill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9" grpId="0" build="p"/>
      <p:bldP spid="214020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Date Placeholder 3">
            <a:extLst>
              <a:ext uri="{FF2B5EF4-FFF2-40B4-BE49-F238E27FC236}">
                <a16:creationId xmlns:a16="http://schemas.microsoft.com/office/drawing/2014/main" id="{595DD740-33CE-8814-6420-D0382024B5D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45059" name="Footer Placeholder 4">
            <a:extLst>
              <a:ext uri="{FF2B5EF4-FFF2-40B4-BE49-F238E27FC236}">
                <a16:creationId xmlns:a16="http://schemas.microsoft.com/office/drawing/2014/main" id="{348A0171-DD96-4928-778E-44C9354D4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45060" name="Slide Number Placeholder 5">
            <a:extLst>
              <a:ext uri="{FF2B5EF4-FFF2-40B4-BE49-F238E27FC236}">
                <a16:creationId xmlns:a16="http://schemas.microsoft.com/office/drawing/2014/main" id="{873180D0-8EFB-67B7-488A-A23589615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10E1A412-F723-4B89-9174-AD50059043F5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17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47F40E01-70CF-F9AF-2E57-2890D2E3A6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Resolving the Ambiguity</a:t>
            </a:r>
          </a:p>
        </p:txBody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2BA1DE61-2125-0A08-0D7C-4C4B0C5A1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63" y="3381375"/>
            <a:ext cx="8956675" cy="3071813"/>
          </a:xfrm>
        </p:spPr>
        <p:txBody>
          <a:bodyPr/>
          <a:lstStyle/>
          <a:p>
            <a:r>
              <a:rPr lang="en-US" altLang="en-US"/>
              <a:t>This question caused </a:t>
            </a:r>
            <a:r>
              <a:rPr lang="en-US" altLang="en-US">
                <a:solidFill>
                  <a:schemeClr val="tx2"/>
                </a:solidFill>
              </a:rPr>
              <a:t>confusion</a:t>
            </a:r>
            <a:r>
              <a:rPr lang="en-US" altLang="en-US"/>
              <a:t> among testers for years</a:t>
            </a:r>
          </a:p>
          <a:p>
            <a:r>
              <a:rPr lang="en-US" altLang="en-US"/>
              <a:t>Considering this carefully leads to </a:t>
            </a:r>
            <a:r>
              <a:rPr lang="en-US" altLang="en-US">
                <a:solidFill>
                  <a:schemeClr val="tx2"/>
                </a:solidFill>
              </a:rPr>
              <a:t>three</a:t>
            </a:r>
            <a:r>
              <a:rPr lang="en-US" altLang="en-US"/>
              <a:t> separate criteria :</a:t>
            </a:r>
          </a:p>
          <a:p>
            <a:pPr lvl="1"/>
            <a:r>
              <a:rPr lang="en-US" altLang="en-US"/>
              <a:t>Minor clauses </a:t>
            </a:r>
            <a:r>
              <a:rPr lang="en-US" altLang="en-US" u="sng">
                <a:solidFill>
                  <a:schemeClr val="tx2"/>
                </a:solidFill>
              </a:rPr>
              <a:t>do not</a:t>
            </a:r>
            <a:r>
              <a:rPr lang="en-US" altLang="en-US"/>
              <a:t> need to be the same</a:t>
            </a:r>
          </a:p>
          <a:p>
            <a:pPr lvl="1"/>
            <a:r>
              <a:rPr lang="en-US" altLang="en-US"/>
              <a:t>Minor clauses </a:t>
            </a:r>
            <a:r>
              <a:rPr lang="en-US" altLang="en-US" u="sng">
                <a:solidFill>
                  <a:schemeClr val="tx2"/>
                </a:solidFill>
              </a:rPr>
              <a:t>do</a:t>
            </a:r>
            <a:r>
              <a:rPr lang="en-US" altLang="en-US"/>
              <a:t> need to be the same</a:t>
            </a:r>
          </a:p>
          <a:p>
            <a:pPr lvl="1"/>
            <a:r>
              <a:rPr lang="en-US" altLang="en-US"/>
              <a:t>Minor clauses </a:t>
            </a:r>
            <a:r>
              <a:rPr lang="en-US" altLang="en-US" u="sng">
                <a:solidFill>
                  <a:schemeClr val="tx2"/>
                </a:solidFill>
              </a:rPr>
              <a:t>force the predicate</a:t>
            </a:r>
            <a:r>
              <a:rPr lang="en-US" altLang="en-US"/>
              <a:t> to become both true and false</a:t>
            </a:r>
          </a:p>
        </p:txBody>
      </p:sp>
      <p:sp>
        <p:nvSpPr>
          <p:cNvPr id="45063" name="Text Box 5">
            <a:extLst>
              <a:ext uri="{FF2B5EF4-FFF2-40B4-BE49-F238E27FC236}">
                <a16:creationId xmlns:a16="http://schemas.microsoft.com/office/drawing/2014/main" id="{08047559-DAAB-DCF9-773F-B6180B451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" y="954088"/>
            <a:ext cx="3279775" cy="1797050"/>
          </a:xfrm>
          <a:prstGeom prst="rect">
            <a:avLst/>
          </a:prstGeom>
          <a:solidFill>
            <a:srgbClr val="0033CC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457200" indent="-45720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en-US" sz="2000" u="sng">
                <a:solidFill>
                  <a:srgbClr val="FAFD00"/>
                </a:solidFill>
              </a:rPr>
              <a:t>p = a </a:t>
            </a:r>
            <a:r>
              <a:rPr lang="en-US" altLang="en-US" sz="2000" u="sng">
                <a:solidFill>
                  <a:schemeClr val="tx2"/>
                </a:solidFill>
                <a:sym typeface="Symbol" panose="05050102010706020507" pitchFamily="18" charset="2"/>
              </a:rPr>
              <a:t> </a:t>
            </a:r>
            <a:r>
              <a:rPr lang="en-US" altLang="en-US" sz="2000" u="sng">
                <a:solidFill>
                  <a:srgbClr val="FAFD00"/>
                </a:solidFill>
              </a:rPr>
              <a:t>(b </a:t>
            </a:r>
            <a:r>
              <a:rPr lang="en-US" altLang="en-US" sz="2000" u="sng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 u="sng">
                <a:solidFill>
                  <a:srgbClr val="FAFD00"/>
                </a:solidFill>
              </a:rPr>
              <a:t> c)</a:t>
            </a:r>
          </a:p>
          <a:p>
            <a:pPr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en-US" sz="2000"/>
              <a:t>Major clause : </a:t>
            </a:r>
            <a:r>
              <a:rPr lang="en-US" altLang="en-US" sz="2000">
                <a:solidFill>
                  <a:schemeClr val="tx2"/>
                </a:solidFill>
              </a:rPr>
              <a:t>a</a:t>
            </a:r>
          </a:p>
          <a:p>
            <a:pPr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a</a:t>
            </a:r>
            <a:r>
              <a:rPr lang="en-US" altLang="en-US" sz="2000"/>
              <a:t> = true, b = false, c = true</a:t>
            </a:r>
          </a:p>
          <a:p>
            <a:pPr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a</a:t>
            </a:r>
            <a:r>
              <a:rPr lang="en-US" altLang="en-US" sz="2000"/>
              <a:t> = false, b = false, c = false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68ED8A33-2395-4832-AFCA-12639C587DB7}"/>
              </a:ext>
            </a:extLst>
          </p:cNvPr>
          <p:cNvGrpSpPr>
            <a:grpSpLocks/>
          </p:cNvGrpSpPr>
          <p:nvPr/>
        </p:nvGrpSpPr>
        <p:grpSpPr bwMode="auto">
          <a:xfrm>
            <a:off x="2528888" y="1670050"/>
            <a:ext cx="4911725" cy="1081088"/>
            <a:chOff x="1593" y="1052"/>
            <a:chExt cx="3094" cy="681"/>
          </a:xfrm>
        </p:grpSpPr>
        <p:grpSp>
          <p:nvGrpSpPr>
            <p:cNvPr id="45065" name="Group 11">
              <a:extLst>
                <a:ext uri="{FF2B5EF4-FFF2-40B4-BE49-F238E27FC236}">
                  <a16:creationId xmlns:a16="http://schemas.microsoft.com/office/drawing/2014/main" id="{8CB49064-452F-2858-1C85-174124B871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93" y="1202"/>
              <a:ext cx="1532" cy="531"/>
              <a:chOff x="1593" y="1202"/>
              <a:chExt cx="1532" cy="531"/>
            </a:xfrm>
          </p:grpSpPr>
          <p:sp>
            <p:nvSpPr>
              <p:cNvPr id="45067" name="Oval 7">
                <a:extLst>
                  <a:ext uri="{FF2B5EF4-FFF2-40B4-BE49-F238E27FC236}">
                    <a16:creationId xmlns:a16="http://schemas.microsoft.com/office/drawing/2014/main" id="{479B4B39-6566-C63E-051F-5E3B89FD3A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3" y="1474"/>
                <a:ext cx="777" cy="259"/>
              </a:xfrm>
              <a:prstGeom prst="ellipse">
                <a:avLst/>
              </a:prstGeom>
              <a:solidFill>
                <a:srgbClr val="0033CC"/>
              </a:solidFill>
              <a:ln w="28575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SzPct val="85000"/>
                  <a:buChar char="•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000">
                  <a:solidFill>
                    <a:srgbClr val="FAFD00"/>
                  </a:solidFill>
                </a:endParaRPr>
              </a:p>
            </p:txBody>
          </p:sp>
          <p:sp>
            <p:nvSpPr>
              <p:cNvPr id="45068" name="Text Box 8">
                <a:extLst>
                  <a:ext uri="{FF2B5EF4-FFF2-40B4-BE49-F238E27FC236}">
                    <a16:creationId xmlns:a16="http://schemas.microsoft.com/office/drawing/2014/main" id="{0C3EBA42-1BAE-A2B0-F928-6A9620DD76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1478"/>
                <a:ext cx="69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SzPct val="85000"/>
                  <a:buChar char="•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2000">
                    <a:solidFill>
                      <a:schemeClr val="tx2"/>
                    </a:solidFill>
                  </a:rPr>
                  <a:t>c = false</a:t>
                </a:r>
              </a:p>
            </p:txBody>
          </p:sp>
          <p:sp>
            <p:nvSpPr>
              <p:cNvPr id="45069" name="Line 10">
                <a:extLst>
                  <a:ext uri="{FF2B5EF4-FFF2-40B4-BE49-F238E27FC236}">
                    <a16:creationId xmlns:a16="http://schemas.microsoft.com/office/drawing/2014/main" id="{AFABA2F9-A1D4-25F5-D2E4-4CD888DF74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62" y="1202"/>
                <a:ext cx="763" cy="404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5066" name="Text Box 14">
              <a:extLst>
                <a:ext uri="{FF2B5EF4-FFF2-40B4-BE49-F238E27FC236}">
                  <a16:creationId xmlns:a16="http://schemas.microsoft.com/office/drawing/2014/main" id="{68A4B0AF-A5AA-DD26-AED4-F3D1C1D475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0" y="1052"/>
              <a:ext cx="1557" cy="306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457200" indent="-457200"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</a:rPr>
                <a:t>Is this allowed ?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1" grpId="0" build="p" bldLvl="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Date Placeholder 3">
            <a:extLst>
              <a:ext uri="{FF2B5EF4-FFF2-40B4-BE49-F238E27FC236}">
                <a16:creationId xmlns:a16="http://schemas.microsoft.com/office/drawing/2014/main" id="{4782B39A-3E36-B051-E17B-9191A00C2F5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46083" name="Footer Placeholder 4">
            <a:extLst>
              <a:ext uri="{FF2B5EF4-FFF2-40B4-BE49-F238E27FC236}">
                <a16:creationId xmlns:a16="http://schemas.microsoft.com/office/drawing/2014/main" id="{5069B58D-0E17-2A2C-5F8F-140A19C2B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46084" name="Slide Number Placeholder 5">
            <a:extLst>
              <a:ext uri="{FF2B5EF4-FFF2-40B4-BE49-F238E27FC236}">
                <a16:creationId xmlns:a16="http://schemas.microsoft.com/office/drawing/2014/main" id="{20C5D79C-43EA-04E4-410B-5B744A50A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9557A72C-D76F-4CC2-B440-5A4F63DF7D4D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18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76D194ED-1F7F-4998-2C29-7290099F8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General Active Clause Coverage</a:t>
            </a:r>
          </a:p>
        </p:txBody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935E590E-DBE7-CF76-90AA-EEB9698AE3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63" y="4067175"/>
            <a:ext cx="8956675" cy="2386013"/>
          </a:xfrm>
        </p:spPr>
        <p:txBody>
          <a:bodyPr/>
          <a:lstStyle/>
          <a:p>
            <a:r>
              <a:rPr lang="en-US" altLang="en-US"/>
              <a:t>This is </a:t>
            </a:r>
            <a:r>
              <a:rPr lang="en-US" altLang="en-US" u="sng">
                <a:solidFill>
                  <a:schemeClr val="tx2"/>
                </a:solidFill>
              </a:rPr>
              <a:t>complicated</a:t>
            </a:r>
            <a:r>
              <a:rPr lang="en-US" altLang="en-US"/>
              <a:t> !</a:t>
            </a:r>
          </a:p>
          <a:p>
            <a:r>
              <a:rPr lang="en-US" altLang="en-US"/>
              <a:t>It is possible to satisfy GACC </a:t>
            </a:r>
            <a:r>
              <a:rPr lang="en-US" altLang="en-US" u="sng"/>
              <a:t>without satisfying</a:t>
            </a:r>
            <a:r>
              <a:rPr lang="en-US" altLang="en-US"/>
              <a:t> predicate coverage</a:t>
            </a:r>
          </a:p>
          <a:p>
            <a:r>
              <a:rPr lang="en-US" altLang="en-US"/>
              <a:t>We </a:t>
            </a:r>
            <a:r>
              <a:rPr lang="en-US" altLang="en-US" u="sng">
                <a:solidFill>
                  <a:schemeClr val="tx2"/>
                </a:solidFill>
              </a:rPr>
              <a:t>really want</a:t>
            </a:r>
            <a:r>
              <a:rPr lang="en-US" altLang="en-US"/>
              <a:t> to cause predicates to be both true and false !</a:t>
            </a:r>
          </a:p>
        </p:txBody>
      </p:sp>
      <p:sp>
        <p:nvSpPr>
          <p:cNvPr id="218116" name="Text Box 4">
            <a:extLst>
              <a:ext uri="{FF2B5EF4-FFF2-40B4-BE49-F238E27FC236}">
                <a16:creationId xmlns:a16="http://schemas.microsoft.com/office/drawing/2014/main" id="{8FC40743-753D-4201-875E-B4D6AC841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931863"/>
            <a:ext cx="8262938" cy="2678112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General Active Clause Coverage (GACC)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For each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and each major clause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choose minor clauses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 != </a:t>
            </a:r>
            <a:r>
              <a:rPr lang="en-US" sz="240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so that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determines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 TR has two requirements for each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evaluates to true and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evaluates to false.  The values chosen for the minor clauses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 </a:t>
            </a: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need to be the same when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is true as when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is false, that is,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 true) = 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 false)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for all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OR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 true) != 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 false) for all 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5" grpId="0" build="p"/>
      <p:bldP spid="218116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Date Placeholder 3">
            <a:extLst>
              <a:ext uri="{FF2B5EF4-FFF2-40B4-BE49-F238E27FC236}">
                <a16:creationId xmlns:a16="http://schemas.microsoft.com/office/drawing/2014/main" id="{079B6137-02E1-12C6-F089-4904A30969A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48131" name="Footer Placeholder 4">
            <a:extLst>
              <a:ext uri="{FF2B5EF4-FFF2-40B4-BE49-F238E27FC236}">
                <a16:creationId xmlns:a16="http://schemas.microsoft.com/office/drawing/2014/main" id="{22B4CCA9-80ED-0F2B-40C8-2329B4F77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48132" name="Slide Number Placeholder 5">
            <a:extLst>
              <a:ext uri="{FF2B5EF4-FFF2-40B4-BE49-F238E27FC236}">
                <a16:creationId xmlns:a16="http://schemas.microsoft.com/office/drawing/2014/main" id="{26652E4D-C0B4-8D67-5776-8136A7E6C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2A5EE976-4F17-4C07-8515-D1C83AF88A34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19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48133" name="Rectangle 2">
            <a:extLst>
              <a:ext uri="{FF2B5EF4-FFF2-40B4-BE49-F238E27FC236}">
                <a16:creationId xmlns:a16="http://schemas.microsoft.com/office/drawing/2014/main" id="{3699142B-C177-10E3-9041-3E15601CED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Restricted Active Clause Coverage</a:t>
            </a: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5A6ED0E8-97CD-F037-A8BA-D4E565A5A5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63" y="4181475"/>
            <a:ext cx="8956675" cy="2271713"/>
          </a:xfrm>
        </p:spPr>
        <p:txBody>
          <a:bodyPr/>
          <a:lstStyle/>
          <a:p>
            <a:r>
              <a:rPr lang="en-US" altLang="en-US"/>
              <a:t>This has been a </a:t>
            </a:r>
            <a:r>
              <a:rPr lang="en-US" altLang="en-US">
                <a:solidFill>
                  <a:schemeClr val="tx2"/>
                </a:solidFill>
              </a:rPr>
              <a:t>common interpretation</a:t>
            </a:r>
            <a:r>
              <a:rPr lang="en-US" altLang="en-US"/>
              <a:t> by aviation developers</a:t>
            </a:r>
          </a:p>
          <a:p>
            <a:r>
              <a:rPr lang="en-US" altLang="en-US"/>
              <a:t>RACC often leads to </a:t>
            </a:r>
            <a:r>
              <a:rPr lang="en-US" altLang="en-US">
                <a:solidFill>
                  <a:schemeClr val="tx2"/>
                </a:solidFill>
              </a:rPr>
              <a:t>infeasible test requirements</a:t>
            </a:r>
          </a:p>
          <a:p>
            <a:r>
              <a:rPr lang="en-US" altLang="en-US"/>
              <a:t>There is </a:t>
            </a:r>
            <a:r>
              <a:rPr lang="en-US" altLang="en-US">
                <a:solidFill>
                  <a:schemeClr val="tx2"/>
                </a:solidFill>
              </a:rPr>
              <a:t>no logical reason</a:t>
            </a:r>
            <a:r>
              <a:rPr lang="en-US" altLang="en-US"/>
              <a:t> for such a restriction</a:t>
            </a:r>
          </a:p>
        </p:txBody>
      </p:sp>
      <p:sp>
        <p:nvSpPr>
          <p:cNvPr id="222212" name="Text Box 4">
            <a:extLst>
              <a:ext uri="{FF2B5EF4-FFF2-40B4-BE49-F238E27FC236}">
                <a16:creationId xmlns:a16="http://schemas.microsoft.com/office/drawing/2014/main" id="{C75CEB5F-E448-49AE-B66B-386C4CFEC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931863"/>
            <a:ext cx="8262938" cy="2678112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Restricted Active Clause Coverage (RACC)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For each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and each major clause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choose minor clauses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 != </a:t>
            </a:r>
            <a:r>
              <a:rPr lang="en-US" sz="240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so that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determines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 TR has two requirements for each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evaluates to true and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evaluates to false.  The values chosen for the minor clauses </a:t>
            </a:r>
            <a:r>
              <a:rPr lang="en-US" sz="2400" b="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cj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must be the same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when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is true as when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is false, that is, it is required that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 true) = 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 false)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for all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 build="p"/>
      <p:bldP spid="222212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Date Placeholder 3">
            <a:extLst>
              <a:ext uri="{FF2B5EF4-FFF2-40B4-BE49-F238E27FC236}">
                <a16:creationId xmlns:a16="http://schemas.microsoft.com/office/drawing/2014/main" id="{684A367E-4026-EF21-533A-1504AE09DA1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50179" name="Footer Placeholder 4">
            <a:extLst>
              <a:ext uri="{FF2B5EF4-FFF2-40B4-BE49-F238E27FC236}">
                <a16:creationId xmlns:a16="http://schemas.microsoft.com/office/drawing/2014/main" id="{04055991-3472-436A-4FA1-488EEDFD2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50180" name="Slide Number Placeholder 5">
            <a:extLst>
              <a:ext uri="{FF2B5EF4-FFF2-40B4-BE49-F238E27FC236}">
                <a16:creationId xmlns:a16="http://schemas.microsoft.com/office/drawing/2014/main" id="{6B803026-2D30-05EF-6340-55421E995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C59E1D3-C5DF-4B2C-BF2C-A5DF3BCA943B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20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50181" name="Rectangle 2">
            <a:extLst>
              <a:ext uri="{FF2B5EF4-FFF2-40B4-BE49-F238E27FC236}">
                <a16:creationId xmlns:a16="http://schemas.microsoft.com/office/drawing/2014/main" id="{31FE6574-85DF-86E5-9DE1-7B409F527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Correlated Active Clause Coverage</a:t>
            </a:r>
          </a:p>
        </p:txBody>
      </p:sp>
      <p:sp>
        <p:nvSpPr>
          <p:cNvPr id="228355" name="Rectangle 3">
            <a:extLst>
              <a:ext uri="{FF2B5EF4-FFF2-40B4-BE49-F238E27FC236}">
                <a16:creationId xmlns:a16="http://schemas.microsoft.com/office/drawing/2014/main" id="{7ABB5740-D5AE-F5AA-9CD8-62B9BDBDDF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63" y="4181475"/>
            <a:ext cx="8956675" cy="2271713"/>
          </a:xfrm>
        </p:spPr>
        <p:txBody>
          <a:bodyPr/>
          <a:lstStyle/>
          <a:p>
            <a:r>
              <a:rPr lang="en-US" altLang="en-US"/>
              <a:t>A </a:t>
            </a:r>
            <a:r>
              <a:rPr lang="en-US" altLang="en-US">
                <a:solidFill>
                  <a:schemeClr val="tx2"/>
                </a:solidFill>
              </a:rPr>
              <a:t>more recent</a:t>
            </a:r>
            <a:r>
              <a:rPr lang="en-US" altLang="en-US"/>
              <a:t> interpretation</a:t>
            </a:r>
          </a:p>
          <a:p>
            <a:r>
              <a:rPr lang="en-US" altLang="en-US">
                <a:solidFill>
                  <a:schemeClr val="tx2"/>
                </a:solidFill>
              </a:rPr>
              <a:t>Implicitly</a:t>
            </a:r>
            <a:r>
              <a:rPr lang="en-US" altLang="en-US"/>
              <a:t> allows minor clauses to have different values</a:t>
            </a:r>
          </a:p>
          <a:p>
            <a:r>
              <a:rPr lang="en-US" altLang="en-US"/>
              <a:t>Explicitly satisfies (</a:t>
            </a:r>
            <a:r>
              <a:rPr lang="en-US" altLang="en-US">
                <a:solidFill>
                  <a:schemeClr val="tx2"/>
                </a:solidFill>
              </a:rPr>
              <a:t>subsumes</a:t>
            </a:r>
            <a:r>
              <a:rPr lang="en-US" altLang="en-US"/>
              <a:t>) predicate coverage</a:t>
            </a:r>
          </a:p>
        </p:txBody>
      </p:sp>
      <p:sp>
        <p:nvSpPr>
          <p:cNvPr id="228356" name="Text Box 4">
            <a:extLst>
              <a:ext uri="{FF2B5EF4-FFF2-40B4-BE49-F238E27FC236}">
                <a16:creationId xmlns:a16="http://schemas.microsoft.com/office/drawing/2014/main" id="{3C2F83DD-C2B4-4552-87A4-EE3060481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931863"/>
            <a:ext cx="8262938" cy="2678112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Correlated Active Clause Coverage (CACC)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For each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and each major clause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choose minor clauses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 != </a:t>
            </a:r>
            <a:r>
              <a:rPr lang="en-US" sz="240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so that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determines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 TR has two requirements for each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evaluates to true and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evaluates to false.  The values chosen for the minor clauses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must </a:t>
            </a: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cause </a:t>
            </a:r>
            <a:r>
              <a:rPr lang="en-US" sz="2400" i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to be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true for one value of the major clause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and false for the other, that is, it is required that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p(c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= true) != p(c</a:t>
            </a:r>
            <a:r>
              <a:rPr lang="en-US" sz="28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= false)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 build="p"/>
      <p:bldP spid="228356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9F3D62CB-032E-A048-0A70-F4C54F3587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CACC and RACC</a:t>
            </a:r>
          </a:p>
        </p:txBody>
      </p:sp>
      <p:sp>
        <p:nvSpPr>
          <p:cNvPr id="52227" name="Date Placeholder 2">
            <a:extLst>
              <a:ext uri="{FF2B5EF4-FFF2-40B4-BE49-F238E27FC236}">
                <a16:creationId xmlns:a16="http://schemas.microsoft.com/office/drawing/2014/main" id="{04586B75-DD09-625B-F881-14B6B6F6D13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52228" name="Footer Placeholder 3">
            <a:extLst>
              <a:ext uri="{FF2B5EF4-FFF2-40B4-BE49-F238E27FC236}">
                <a16:creationId xmlns:a16="http://schemas.microsoft.com/office/drawing/2014/main" id="{45C02838-A93A-91F1-65DF-3CCCA4C62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52229" name="Slide Number Placeholder 4">
            <a:extLst>
              <a:ext uri="{FF2B5EF4-FFF2-40B4-BE49-F238E27FC236}">
                <a16:creationId xmlns:a16="http://schemas.microsoft.com/office/drawing/2014/main" id="{B7B150DA-9BB1-709B-9A98-9B6206D0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CFB5AB0B-A050-48CD-B71E-AB5BB98D0A40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21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graphicFrame>
        <p:nvGraphicFramePr>
          <p:cNvPr id="6" name="Group 185">
            <a:extLst>
              <a:ext uri="{FF2B5EF4-FFF2-40B4-BE49-F238E27FC236}">
                <a16:creationId xmlns:a16="http://schemas.microsoft.com/office/drawing/2014/main" id="{BCED1E07-C4C3-449C-B82D-223F0F1179F1}"/>
              </a:ext>
            </a:extLst>
          </p:cNvPr>
          <p:cNvGraphicFramePr>
            <a:graphicFrameLocks/>
          </p:cNvGraphicFramePr>
          <p:nvPr/>
        </p:nvGraphicFramePr>
        <p:xfrm>
          <a:off x="93663" y="860425"/>
          <a:ext cx="4100512" cy="3632200"/>
        </p:xfrm>
        <a:graphic>
          <a:graphicData uri="http://schemas.openxmlformats.org/drawingml/2006/table">
            <a:tbl>
              <a:tblPr/>
              <a:tblGrid>
                <a:gridCol w="449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2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 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(b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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 c)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7" name="Group 27">
            <a:extLst>
              <a:ext uri="{FF2B5EF4-FFF2-40B4-BE49-F238E27FC236}">
                <a16:creationId xmlns:a16="http://schemas.microsoft.com/office/drawing/2014/main" id="{1BC11283-BF1C-8F2D-8843-D3F3311E1547}"/>
              </a:ext>
            </a:extLst>
          </p:cNvPr>
          <p:cNvGrpSpPr>
            <a:grpSpLocks/>
          </p:cNvGrpSpPr>
          <p:nvPr/>
        </p:nvGrpSpPr>
        <p:grpSpPr bwMode="auto">
          <a:xfrm>
            <a:off x="552450" y="862013"/>
            <a:ext cx="514350" cy="3632200"/>
            <a:chOff x="552048" y="862193"/>
            <a:chExt cx="514350" cy="3631858"/>
          </a:xfrm>
        </p:grpSpPr>
        <p:sp>
          <p:nvSpPr>
            <p:cNvPr id="52367" name="Rectangle 167">
              <a:extLst>
                <a:ext uri="{FF2B5EF4-FFF2-40B4-BE49-F238E27FC236}">
                  <a16:creationId xmlns:a16="http://schemas.microsoft.com/office/drawing/2014/main" id="{EB2AF0B6-AD98-4BB3-AEC3-1F2AF930A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48" y="862193"/>
              <a:ext cx="514350" cy="3631858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sz="2000">
                <a:solidFill>
                  <a:srgbClr val="FAFD00"/>
                </a:solidFill>
              </a:endParaRPr>
            </a:p>
          </p:txBody>
        </p:sp>
        <p:sp>
          <p:nvSpPr>
            <p:cNvPr id="52368" name="Line 168">
              <a:extLst>
                <a:ext uri="{FF2B5EF4-FFF2-40B4-BE49-F238E27FC236}">
                  <a16:creationId xmlns:a16="http://schemas.microsoft.com/office/drawing/2014/main" id="{A5DB1AAE-9C79-847F-9ED4-4EE4F01745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11" y="1312051"/>
              <a:ext cx="5048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69" name="Line 170">
              <a:extLst>
                <a:ext uri="{FF2B5EF4-FFF2-40B4-BE49-F238E27FC236}">
                  <a16:creationId xmlns:a16="http://schemas.microsoft.com/office/drawing/2014/main" id="{A6B697AD-75C5-1EE3-065D-9202304D20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11" y="2912801"/>
              <a:ext cx="5048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70" name="Text Box 171">
              <a:extLst>
                <a:ext uri="{FF2B5EF4-FFF2-40B4-BE49-F238E27FC236}">
                  <a16:creationId xmlns:a16="http://schemas.microsoft.com/office/drawing/2014/main" id="{6D7BB531-69A2-F789-E6F9-74C66B1751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337" y="1339644"/>
              <a:ext cx="333375" cy="1538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T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T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T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T</a:t>
              </a:r>
            </a:p>
          </p:txBody>
        </p:sp>
        <p:sp>
          <p:nvSpPr>
            <p:cNvPr id="52371" name="Text Box 172">
              <a:extLst>
                <a:ext uri="{FF2B5EF4-FFF2-40B4-BE49-F238E27FC236}">
                  <a16:creationId xmlns:a16="http://schemas.microsoft.com/office/drawing/2014/main" id="{A7BEA1C2-C865-EFD4-ACCB-7B60F1BCF0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386" y="2936048"/>
              <a:ext cx="333375" cy="1538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F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F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F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F</a:t>
              </a:r>
            </a:p>
          </p:txBody>
        </p:sp>
        <p:sp>
          <p:nvSpPr>
            <p:cNvPr id="52372" name="Text Box 174">
              <a:extLst>
                <a:ext uri="{FF2B5EF4-FFF2-40B4-BE49-F238E27FC236}">
                  <a16:creationId xmlns:a16="http://schemas.microsoft.com/office/drawing/2014/main" id="{97589BCA-C9A9-E69D-DB4E-619A5E8689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33" y="909469"/>
              <a:ext cx="333375" cy="3046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a</a:t>
              </a:r>
            </a:p>
          </p:txBody>
        </p:sp>
      </p:grpSp>
      <p:grpSp>
        <p:nvGrpSpPr>
          <p:cNvPr id="8" name="Group 179">
            <a:extLst>
              <a:ext uri="{FF2B5EF4-FFF2-40B4-BE49-F238E27FC236}">
                <a16:creationId xmlns:a16="http://schemas.microsoft.com/office/drawing/2014/main" id="{AE2298D9-4D39-1A87-145A-6E5AE3BE111E}"/>
              </a:ext>
            </a:extLst>
          </p:cNvPr>
          <p:cNvGrpSpPr>
            <a:grpSpLocks/>
          </p:cNvGrpSpPr>
          <p:nvPr/>
        </p:nvGrpSpPr>
        <p:grpSpPr bwMode="auto">
          <a:xfrm>
            <a:off x="265113" y="4351338"/>
            <a:ext cx="2640012" cy="1173162"/>
            <a:chOff x="167" y="2435"/>
            <a:chExt cx="1663" cy="739"/>
          </a:xfrm>
        </p:grpSpPr>
        <p:sp>
          <p:nvSpPr>
            <p:cNvPr id="52365" name="Text Box 177">
              <a:extLst>
                <a:ext uri="{FF2B5EF4-FFF2-40B4-BE49-F238E27FC236}">
                  <a16:creationId xmlns:a16="http://schemas.microsoft.com/office/drawing/2014/main" id="{E3E4FEA5-06E4-9773-8969-5CD33C0AB8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" y="2612"/>
              <a:ext cx="1663" cy="562"/>
            </a:xfrm>
            <a:prstGeom prst="rect">
              <a:avLst/>
            </a:prstGeom>
            <a:solidFill>
              <a:srgbClr val="0033CC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rgbClr val="FAFD00"/>
                  </a:solidFill>
                </a:rPr>
                <a:t>major clause</a:t>
              </a:r>
            </a:p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</a:rPr>
                <a:t>P</a:t>
              </a:r>
              <a:r>
                <a:rPr lang="en-US" altLang="en-US" sz="3200" baseline="-25000">
                  <a:solidFill>
                    <a:schemeClr val="tx2"/>
                  </a:solidFill>
                </a:rPr>
                <a:t>a</a:t>
              </a:r>
              <a:r>
                <a:rPr lang="en-US" altLang="en-US" sz="2000">
                  <a:solidFill>
                    <a:schemeClr val="tx2"/>
                  </a:solidFill>
                </a:rPr>
                <a:t> : b=true or c = true</a:t>
              </a:r>
            </a:p>
          </p:txBody>
        </p:sp>
        <p:sp>
          <p:nvSpPr>
            <p:cNvPr id="52366" name="Line 178">
              <a:extLst>
                <a:ext uri="{FF2B5EF4-FFF2-40B4-BE49-F238E27FC236}">
                  <a16:creationId xmlns:a16="http://schemas.microsoft.com/office/drawing/2014/main" id="{AE5B17A6-E70D-D79D-347C-46457BD1FA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6" y="2435"/>
              <a:ext cx="88" cy="173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7E04184D-5E2E-610B-CACE-DB45429B9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87438"/>
            <a:ext cx="3668713" cy="1517650"/>
          </a:xfrm>
          <a:prstGeom prst="ellipse">
            <a:avLst/>
          </a:prstGeom>
          <a:noFill/>
          <a:ln w="57150" algn="ctr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en-US" altLang="en-US" sz="2000">
              <a:solidFill>
                <a:srgbClr val="FAFD00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CF00DB8-35E7-9B3C-765F-758350863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22563"/>
            <a:ext cx="3668713" cy="1516062"/>
          </a:xfrm>
          <a:prstGeom prst="ellipse">
            <a:avLst/>
          </a:prstGeom>
          <a:noFill/>
          <a:ln w="57150" algn="ctr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en-US" altLang="en-US" sz="2000">
              <a:solidFill>
                <a:srgbClr val="FAFD00"/>
              </a:solidFill>
            </a:endParaRPr>
          </a:p>
        </p:txBody>
      </p:sp>
      <p:grpSp>
        <p:nvGrpSpPr>
          <p:cNvPr id="9" name="Group 183">
            <a:extLst>
              <a:ext uri="{FF2B5EF4-FFF2-40B4-BE49-F238E27FC236}">
                <a16:creationId xmlns:a16="http://schemas.microsoft.com/office/drawing/2014/main" id="{5013B38E-A61A-597F-7ADD-D957E47EA289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4119563"/>
            <a:ext cx="4057650" cy="2465387"/>
            <a:chOff x="216" y="2333"/>
            <a:chExt cx="2556" cy="1553"/>
          </a:xfrm>
        </p:grpSpPr>
        <p:sp>
          <p:nvSpPr>
            <p:cNvPr id="52363" name="Text Box 109">
              <a:extLst>
                <a:ext uri="{FF2B5EF4-FFF2-40B4-BE49-F238E27FC236}">
                  <a16:creationId xmlns:a16="http://schemas.microsoft.com/office/drawing/2014/main" id="{07FDBA5F-2B6A-DB62-536A-628847B553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" y="3234"/>
              <a:ext cx="2556" cy="652"/>
            </a:xfrm>
            <a:prstGeom prst="rect">
              <a:avLst/>
            </a:prstGeom>
            <a:solidFill>
              <a:srgbClr val="0033CC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rgbClr val="FAFD00"/>
                  </a:solidFill>
                </a:rPr>
                <a:t>CACC </a:t>
              </a:r>
              <a:r>
                <a:rPr lang="en-US" altLang="en-US" sz="2000">
                  <a:solidFill>
                    <a:schemeClr val="tx2"/>
                  </a:solidFill>
                </a:rPr>
                <a:t>can be satisfied by choosing any of rows 1, 2, 3 AND any of rows 5, 6, 7 – a total of nine pairs</a:t>
              </a:r>
            </a:p>
          </p:txBody>
        </p:sp>
        <p:sp>
          <p:nvSpPr>
            <p:cNvPr id="52364" name="Line 110">
              <a:extLst>
                <a:ext uri="{FF2B5EF4-FFF2-40B4-BE49-F238E27FC236}">
                  <a16:creationId xmlns:a16="http://schemas.microsoft.com/office/drawing/2014/main" id="{6C68B854-A0A4-6034-BBCB-9EC8145658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98" y="2333"/>
              <a:ext cx="207" cy="899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37" name="Group 185">
            <a:extLst>
              <a:ext uri="{FF2B5EF4-FFF2-40B4-BE49-F238E27FC236}">
                <a16:creationId xmlns:a16="http://schemas.microsoft.com/office/drawing/2014/main" id="{B254BFAE-0F5F-400C-9C16-B76CBDF49538}"/>
              </a:ext>
            </a:extLst>
          </p:cNvPr>
          <p:cNvGraphicFramePr>
            <a:graphicFrameLocks/>
          </p:cNvGraphicFramePr>
          <p:nvPr/>
        </p:nvGraphicFramePr>
        <p:xfrm>
          <a:off x="4887913" y="862013"/>
          <a:ext cx="4100512" cy="3632200"/>
        </p:xfrm>
        <a:graphic>
          <a:graphicData uri="http://schemas.openxmlformats.org/drawingml/2006/table">
            <a:tbl>
              <a:tblPr/>
              <a:tblGrid>
                <a:gridCol w="449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2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 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(b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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 c)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0" name="Group 37">
            <a:extLst>
              <a:ext uri="{FF2B5EF4-FFF2-40B4-BE49-F238E27FC236}">
                <a16:creationId xmlns:a16="http://schemas.microsoft.com/office/drawing/2014/main" id="{4926DF4D-AB70-AA8B-5847-1CF54DF2E425}"/>
              </a:ext>
            </a:extLst>
          </p:cNvPr>
          <p:cNvGrpSpPr>
            <a:grpSpLocks/>
          </p:cNvGrpSpPr>
          <p:nvPr/>
        </p:nvGrpSpPr>
        <p:grpSpPr bwMode="auto">
          <a:xfrm>
            <a:off x="5330825" y="866775"/>
            <a:ext cx="514350" cy="3627438"/>
            <a:chOff x="552048" y="865190"/>
            <a:chExt cx="514350" cy="3626932"/>
          </a:xfrm>
        </p:grpSpPr>
        <p:sp>
          <p:nvSpPr>
            <p:cNvPr id="52357" name="Rectangle 167">
              <a:extLst>
                <a:ext uri="{FF2B5EF4-FFF2-40B4-BE49-F238E27FC236}">
                  <a16:creationId xmlns:a16="http://schemas.microsoft.com/office/drawing/2014/main" id="{85DED8D2-E960-08DB-9924-0C463F186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48" y="865190"/>
              <a:ext cx="514350" cy="3626932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sz="2000">
                <a:solidFill>
                  <a:srgbClr val="FAFD00"/>
                </a:solidFill>
              </a:endParaRPr>
            </a:p>
          </p:txBody>
        </p:sp>
        <p:sp>
          <p:nvSpPr>
            <p:cNvPr id="52358" name="Line 168">
              <a:extLst>
                <a:ext uri="{FF2B5EF4-FFF2-40B4-BE49-F238E27FC236}">
                  <a16:creationId xmlns:a16="http://schemas.microsoft.com/office/drawing/2014/main" id="{1FB6CD53-D55F-7673-FE55-B6EA3FB6A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11" y="1312051"/>
              <a:ext cx="5048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59" name="Line 170">
              <a:extLst>
                <a:ext uri="{FF2B5EF4-FFF2-40B4-BE49-F238E27FC236}">
                  <a16:creationId xmlns:a16="http://schemas.microsoft.com/office/drawing/2014/main" id="{733FF24A-DAD6-F6D0-DF88-7FDB11208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11" y="2912801"/>
              <a:ext cx="5048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60" name="Text Box 171">
              <a:extLst>
                <a:ext uri="{FF2B5EF4-FFF2-40B4-BE49-F238E27FC236}">
                  <a16:creationId xmlns:a16="http://schemas.microsoft.com/office/drawing/2014/main" id="{6B03A570-0B24-43E4-AB72-BEE5EF421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337" y="1339644"/>
              <a:ext cx="333375" cy="1538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T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T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T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T</a:t>
              </a:r>
            </a:p>
          </p:txBody>
        </p:sp>
        <p:sp>
          <p:nvSpPr>
            <p:cNvPr id="52361" name="Text Box 172">
              <a:extLst>
                <a:ext uri="{FF2B5EF4-FFF2-40B4-BE49-F238E27FC236}">
                  <a16:creationId xmlns:a16="http://schemas.microsoft.com/office/drawing/2014/main" id="{0F55F509-8B1C-C8A8-7455-B655745F51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386" y="2936048"/>
              <a:ext cx="333375" cy="1538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F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F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F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F</a:t>
              </a:r>
            </a:p>
          </p:txBody>
        </p:sp>
        <p:sp>
          <p:nvSpPr>
            <p:cNvPr id="52362" name="Text Box 174">
              <a:extLst>
                <a:ext uri="{FF2B5EF4-FFF2-40B4-BE49-F238E27FC236}">
                  <a16:creationId xmlns:a16="http://schemas.microsoft.com/office/drawing/2014/main" id="{06918F7E-8D6A-31BD-BA0D-B8E452D85C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33" y="909469"/>
              <a:ext cx="333375" cy="3046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</a:rPr>
                <a:t>a</a:t>
              </a:r>
            </a:p>
          </p:txBody>
        </p: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A0928199-D330-5B42-6B61-605737A7A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1296988"/>
            <a:ext cx="936625" cy="439737"/>
          </a:xfrm>
          <a:prstGeom prst="ellipse">
            <a:avLst/>
          </a:prstGeom>
          <a:noFill/>
          <a:ln w="38100" algn="ctr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en-US" altLang="en-US" sz="2000">
              <a:solidFill>
                <a:srgbClr val="FAFD00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BF4935A-2286-F91D-515E-18309FE35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688" y="2895600"/>
            <a:ext cx="938212" cy="439738"/>
          </a:xfrm>
          <a:prstGeom prst="ellipse">
            <a:avLst/>
          </a:prstGeom>
          <a:noFill/>
          <a:ln w="38100" algn="ctr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en-US" altLang="en-US" sz="2000">
              <a:solidFill>
                <a:srgbClr val="FAFD00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843869B-AE00-F547-C204-F6746FF85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1692275"/>
            <a:ext cx="936625" cy="439738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en-US" altLang="en-US" sz="2000">
              <a:solidFill>
                <a:srgbClr val="FAFD0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4B75F8A-6EC0-B6F8-A8B3-4F9F90D43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7088" y="3290888"/>
            <a:ext cx="936625" cy="439737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en-US" altLang="en-US" sz="2000">
              <a:solidFill>
                <a:srgbClr val="FAFD00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96E4130-B6DB-F171-AACF-E9DCCA61E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3275" y="2076450"/>
            <a:ext cx="938213" cy="439738"/>
          </a:xfrm>
          <a:prstGeom prst="ellipse">
            <a:avLst/>
          </a:prstGeom>
          <a:noFill/>
          <a:ln w="38100" algn="ctr">
            <a:solidFill>
              <a:srgbClr val="33CC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en-US" altLang="en-US" sz="2000">
              <a:solidFill>
                <a:srgbClr val="FAFD00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79D47AE-7F4D-64EC-BAAB-52854E7A1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450" y="3675063"/>
            <a:ext cx="936625" cy="439737"/>
          </a:xfrm>
          <a:prstGeom prst="ellipse">
            <a:avLst/>
          </a:prstGeom>
          <a:noFill/>
          <a:ln w="38100" algn="ctr">
            <a:solidFill>
              <a:srgbClr val="33CC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en-US" altLang="en-US" sz="2000">
              <a:solidFill>
                <a:srgbClr val="FAFD00"/>
              </a:solidFill>
            </a:endParaRPr>
          </a:p>
        </p:txBody>
      </p:sp>
      <p:grpSp>
        <p:nvGrpSpPr>
          <p:cNvPr id="11" name="Group 184">
            <a:extLst>
              <a:ext uri="{FF2B5EF4-FFF2-40B4-BE49-F238E27FC236}">
                <a16:creationId xmlns:a16="http://schemas.microsoft.com/office/drawing/2014/main" id="{9E03B827-23F0-BAF7-CEB1-A4AEB19CB2C6}"/>
              </a:ext>
            </a:extLst>
          </p:cNvPr>
          <p:cNvGrpSpPr>
            <a:grpSpLocks/>
          </p:cNvGrpSpPr>
          <p:nvPr/>
        </p:nvGrpSpPr>
        <p:grpSpPr bwMode="auto">
          <a:xfrm>
            <a:off x="5394325" y="4119563"/>
            <a:ext cx="3592513" cy="2220912"/>
            <a:chOff x="3281" y="2916"/>
            <a:chExt cx="2263" cy="1399"/>
          </a:xfrm>
        </p:grpSpPr>
        <p:sp>
          <p:nvSpPr>
            <p:cNvPr id="52355" name="Text Box 112">
              <a:extLst>
                <a:ext uri="{FF2B5EF4-FFF2-40B4-BE49-F238E27FC236}">
                  <a16:creationId xmlns:a16="http://schemas.microsoft.com/office/drawing/2014/main" id="{283DF4BE-E2D8-F4E9-2BC4-6F11DF560B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1" y="3578"/>
              <a:ext cx="2263" cy="737"/>
            </a:xfrm>
            <a:prstGeom prst="rect">
              <a:avLst/>
            </a:prstGeom>
            <a:solidFill>
              <a:srgbClr val="0033CC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rgbClr val="FAFD00"/>
                  </a:solidFill>
                </a:rPr>
                <a:t>RACC </a:t>
              </a:r>
              <a:r>
                <a:rPr lang="en-US" altLang="en-US" sz="2000">
                  <a:solidFill>
                    <a:schemeClr val="tx2"/>
                  </a:solidFill>
                </a:rPr>
                <a:t>can only be satisfied by row pairs (1, 5), (2, 6), or (3, 7)</a:t>
              </a:r>
            </a:p>
            <a:p>
              <a:pPr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</a:rPr>
                <a:t>Only three pairs</a:t>
              </a:r>
            </a:p>
          </p:txBody>
        </p:sp>
        <p:sp>
          <p:nvSpPr>
            <p:cNvPr id="52356" name="Line 113">
              <a:extLst>
                <a:ext uri="{FF2B5EF4-FFF2-40B4-BE49-F238E27FC236}">
                  <a16:creationId xmlns:a16="http://schemas.microsoft.com/office/drawing/2014/main" id="{048393E3-27BD-6CF6-FD91-4B61374E44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56" y="2916"/>
              <a:ext cx="139" cy="663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Date Placeholder 3">
            <a:extLst>
              <a:ext uri="{FF2B5EF4-FFF2-40B4-BE49-F238E27FC236}">
                <a16:creationId xmlns:a16="http://schemas.microsoft.com/office/drawing/2014/main" id="{4456A278-9DA8-7D47-9CA5-D217ECA1C13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53251" name="Footer Placeholder 4">
            <a:extLst>
              <a:ext uri="{FF2B5EF4-FFF2-40B4-BE49-F238E27FC236}">
                <a16:creationId xmlns:a16="http://schemas.microsoft.com/office/drawing/2014/main" id="{902F50A8-2ECB-10B2-6BE5-2E0899E13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53252" name="Slide Number Placeholder 5">
            <a:extLst>
              <a:ext uri="{FF2B5EF4-FFF2-40B4-BE49-F238E27FC236}">
                <a16:creationId xmlns:a16="http://schemas.microsoft.com/office/drawing/2014/main" id="{5C64CBAF-F46E-71AB-5420-264256B50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68C2B66E-CAE6-4DBD-A547-9DBF6D508C02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22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53253" name="Rectangle 2">
            <a:extLst>
              <a:ext uri="{FF2B5EF4-FFF2-40B4-BE49-F238E27FC236}">
                <a16:creationId xmlns:a16="http://schemas.microsoft.com/office/drawing/2014/main" id="{02E80478-4048-4B84-9272-5ADCCEA38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Inactive Clause Coverage</a:t>
            </a:r>
          </a:p>
        </p:txBody>
      </p:sp>
      <p:sp>
        <p:nvSpPr>
          <p:cNvPr id="53254" name="Rectangle 3">
            <a:extLst>
              <a:ext uri="{FF2B5EF4-FFF2-40B4-BE49-F238E27FC236}">
                <a16:creationId xmlns:a16="http://schemas.microsoft.com/office/drawing/2014/main" id="{0996C0BB-796E-D2E0-97B8-BDC0B0D3BA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63" y="860425"/>
            <a:ext cx="8956675" cy="1776413"/>
          </a:xfrm>
        </p:spPr>
        <p:txBody>
          <a:bodyPr/>
          <a:lstStyle/>
          <a:p>
            <a:r>
              <a:rPr lang="en-US" altLang="en-US"/>
              <a:t>The active clause coverage criteria ensure that “major” clauses </a:t>
            </a:r>
            <a:r>
              <a:rPr lang="en-US" altLang="en-US" u="sng"/>
              <a:t>do affect</a:t>
            </a:r>
            <a:r>
              <a:rPr lang="en-US" altLang="en-US"/>
              <a:t> the predicates</a:t>
            </a:r>
          </a:p>
          <a:p>
            <a:r>
              <a:rPr lang="en-US" altLang="en-US"/>
              <a:t>Inactive clause coverage takes the opposite approach – major clauses </a:t>
            </a:r>
            <a:r>
              <a:rPr lang="en-US" altLang="en-US" u="sng"/>
              <a:t>do not affect</a:t>
            </a:r>
            <a:r>
              <a:rPr lang="en-US" altLang="en-US"/>
              <a:t> the predicates</a:t>
            </a:r>
          </a:p>
        </p:txBody>
      </p:sp>
      <p:sp>
        <p:nvSpPr>
          <p:cNvPr id="220164" name="Text Box 4">
            <a:extLst>
              <a:ext uri="{FF2B5EF4-FFF2-40B4-BE49-F238E27FC236}">
                <a16:creationId xmlns:a16="http://schemas.microsoft.com/office/drawing/2014/main" id="{7369366B-3251-445B-93EE-C6B71774F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908300"/>
            <a:ext cx="8262938" cy="2301875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Inactive Clause Coverage (ICC)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For each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and each major clause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choose minor clauses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 != </a:t>
            </a:r>
            <a:r>
              <a:rPr lang="en-US" sz="240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so that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does not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determine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 TR has </a:t>
            </a: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four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requirements for each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 (1)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evaluates to true with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true, (2)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evaluates to false with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true, (3)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evaluates to true with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false, and (4)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evaluates to false with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false.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4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Date Placeholder 3">
            <a:extLst>
              <a:ext uri="{FF2B5EF4-FFF2-40B4-BE49-F238E27FC236}">
                <a16:creationId xmlns:a16="http://schemas.microsoft.com/office/drawing/2014/main" id="{491C176C-0E58-47DF-E5E8-1DE1ACA0528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55299" name="Footer Placeholder 4">
            <a:extLst>
              <a:ext uri="{FF2B5EF4-FFF2-40B4-BE49-F238E27FC236}">
                <a16:creationId xmlns:a16="http://schemas.microsoft.com/office/drawing/2014/main" id="{C36C52A6-14E3-24FA-0585-D49297C66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55300" name="Slide Number Placeholder 5">
            <a:extLst>
              <a:ext uri="{FF2B5EF4-FFF2-40B4-BE49-F238E27FC236}">
                <a16:creationId xmlns:a16="http://schemas.microsoft.com/office/drawing/2014/main" id="{78E40A3A-FB58-872D-5A2B-66452F881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906D0CB6-D372-4850-BFDF-E59580D7DD5F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23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55301" name="Rectangle 2">
            <a:extLst>
              <a:ext uri="{FF2B5EF4-FFF2-40B4-BE49-F238E27FC236}">
                <a16:creationId xmlns:a16="http://schemas.microsoft.com/office/drawing/2014/main" id="{87F03A2B-FE9E-2A7D-09F0-E12DCDC6A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General and Restricted ICC</a:t>
            </a:r>
          </a:p>
        </p:txBody>
      </p:sp>
      <p:sp>
        <p:nvSpPr>
          <p:cNvPr id="55302" name="Rectangle 3">
            <a:extLst>
              <a:ext uri="{FF2B5EF4-FFF2-40B4-BE49-F238E27FC236}">
                <a16:creationId xmlns:a16="http://schemas.microsoft.com/office/drawing/2014/main" id="{653DAD89-D438-AFB5-FB24-836CF6B3F6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914400"/>
            <a:ext cx="8794750" cy="1344613"/>
          </a:xfrm>
        </p:spPr>
        <p:txBody>
          <a:bodyPr/>
          <a:lstStyle/>
          <a:p>
            <a:r>
              <a:rPr lang="en-US" altLang="en-US"/>
              <a:t>Unlike ACC, the notion of correlation is not relevant</a:t>
            </a:r>
          </a:p>
          <a:p>
            <a:pPr lvl="1"/>
            <a:r>
              <a:rPr lang="en-US" altLang="en-US"/>
              <a:t>ci does not determine p, so cannot correlate with p</a:t>
            </a:r>
          </a:p>
          <a:p>
            <a:r>
              <a:rPr lang="en-US" altLang="en-US"/>
              <a:t>Predicate coverage is always guaranteed</a:t>
            </a:r>
          </a:p>
        </p:txBody>
      </p:sp>
      <p:sp>
        <p:nvSpPr>
          <p:cNvPr id="224260" name="Text Box 4">
            <a:extLst>
              <a:ext uri="{FF2B5EF4-FFF2-40B4-BE49-F238E27FC236}">
                <a16:creationId xmlns:a16="http://schemas.microsoft.com/office/drawing/2014/main" id="{61F75F06-8408-450D-B735-F616DCF81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38" y="2525713"/>
            <a:ext cx="8262937" cy="1754187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General Inactive Clause Coverage (GICC)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For each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and each major clause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choose minor clauses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 != </a:t>
            </a:r>
            <a:r>
              <a:rPr lang="en-US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so that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does not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determine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 The values chosen for the minor clauses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 </a:t>
            </a:r>
            <a:r>
              <a:rPr lang="en-US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 not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need to be the same when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is true as when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is false, that is,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 true) = 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 false)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for all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 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OR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 true) != 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 false)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for all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  <p:sp>
        <p:nvSpPr>
          <p:cNvPr id="224261" name="Text Box 5">
            <a:extLst>
              <a:ext uri="{FF2B5EF4-FFF2-40B4-BE49-F238E27FC236}">
                <a16:creationId xmlns:a16="http://schemas.microsoft.com/office/drawing/2014/main" id="{C121C6DA-E93B-4BAE-8605-1C13AD882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613" y="4651375"/>
            <a:ext cx="8262937" cy="1692275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Restricted Inactive Clause Coverage (RICC)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: For each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and each major clause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choose minor clauses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 != </a:t>
            </a:r>
            <a:r>
              <a:rPr lang="en-US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so that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does not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determine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 The values chosen for the minor clauses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cj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must be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the same when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is true as when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is false, that is, it is required that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= true) = 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= false)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for all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0" grpId="0" animBg="1" autoUpdateAnimBg="0"/>
      <p:bldP spid="224261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Date Placeholder 3">
            <a:extLst>
              <a:ext uri="{FF2B5EF4-FFF2-40B4-BE49-F238E27FC236}">
                <a16:creationId xmlns:a16="http://schemas.microsoft.com/office/drawing/2014/main" id="{251B4110-DAEB-C4D6-C7C7-03EE6BFFC08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57347" name="Footer Placeholder 4">
            <a:extLst>
              <a:ext uri="{FF2B5EF4-FFF2-40B4-BE49-F238E27FC236}">
                <a16:creationId xmlns:a16="http://schemas.microsoft.com/office/drawing/2014/main" id="{267A0DD2-DC30-C7D6-7A07-B63871584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57348" name="Slide Number Placeholder 5">
            <a:extLst>
              <a:ext uri="{FF2B5EF4-FFF2-40B4-BE49-F238E27FC236}">
                <a16:creationId xmlns:a16="http://schemas.microsoft.com/office/drawing/2014/main" id="{6ABBC38C-1D05-3D51-2E4E-8C0DF6835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BB05F2B2-5382-4D5D-A7F4-491415B7997C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24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57349" name="Rectangle 6">
            <a:extLst>
              <a:ext uri="{FF2B5EF4-FFF2-40B4-BE49-F238E27FC236}">
                <a16:creationId xmlns:a16="http://schemas.microsoft.com/office/drawing/2014/main" id="{10980463-B5B9-CE00-A695-B23732A11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5313" y="96838"/>
            <a:ext cx="7953375" cy="939800"/>
          </a:xfrm>
        </p:spPr>
        <p:txBody>
          <a:bodyPr/>
          <a:lstStyle/>
          <a:p>
            <a:r>
              <a:rPr lang="en-US" altLang="en-US"/>
              <a:t>Logic Coverage Criteria Subsumption </a:t>
            </a:r>
          </a:p>
        </p:txBody>
      </p:sp>
      <p:grpSp>
        <p:nvGrpSpPr>
          <p:cNvPr id="2" name="Group 68">
            <a:extLst>
              <a:ext uri="{FF2B5EF4-FFF2-40B4-BE49-F238E27FC236}">
                <a16:creationId xmlns:a16="http://schemas.microsoft.com/office/drawing/2014/main" id="{46068771-F86A-9FCA-295F-41DC957DCD6D}"/>
              </a:ext>
            </a:extLst>
          </p:cNvPr>
          <p:cNvGrpSpPr>
            <a:grpSpLocks/>
          </p:cNvGrpSpPr>
          <p:nvPr/>
        </p:nvGrpSpPr>
        <p:grpSpPr bwMode="auto">
          <a:xfrm>
            <a:off x="1350963" y="914400"/>
            <a:ext cx="6972300" cy="5454650"/>
            <a:chOff x="851" y="576"/>
            <a:chExt cx="4392" cy="3436"/>
          </a:xfrm>
        </p:grpSpPr>
        <p:sp>
          <p:nvSpPr>
            <p:cNvPr id="57351" name="Rectangle 4">
              <a:extLst>
                <a:ext uri="{FF2B5EF4-FFF2-40B4-BE49-F238E27FC236}">
                  <a16:creationId xmlns:a16="http://schemas.microsoft.com/office/drawing/2014/main" id="{943ED707-67CC-61E9-887B-BB684DF19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610"/>
              <a:ext cx="255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8500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en-US" altLang="en-US" sz="2000">
                <a:solidFill>
                  <a:srgbClr val="FAFD00"/>
                </a:solidFill>
              </a:endParaRPr>
            </a:p>
          </p:txBody>
        </p:sp>
        <p:grpSp>
          <p:nvGrpSpPr>
            <p:cNvPr id="57352" name="Group 10">
              <a:extLst>
                <a:ext uri="{FF2B5EF4-FFF2-40B4-BE49-F238E27FC236}">
                  <a16:creationId xmlns:a16="http://schemas.microsoft.com/office/drawing/2014/main" id="{81E297E7-4448-46F8-A262-694DDE77D0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2" y="3484"/>
              <a:ext cx="801" cy="526"/>
              <a:chOff x="2332" y="3448"/>
              <a:chExt cx="801" cy="526"/>
            </a:xfrm>
          </p:grpSpPr>
          <p:sp>
            <p:nvSpPr>
              <p:cNvPr id="57383" name="Text Box 11">
                <a:extLst>
                  <a:ext uri="{FF2B5EF4-FFF2-40B4-BE49-F238E27FC236}">
                    <a16:creationId xmlns:a16="http://schemas.microsoft.com/office/drawing/2014/main" id="{A9A659B8-F1E5-8351-03EB-BC8C068975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2" y="3448"/>
                <a:ext cx="801" cy="526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SzPct val="85000"/>
                  <a:buChar char="•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1800"/>
                  <a:t>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1800"/>
                  <a:t>CC</a:t>
                </a:r>
              </a:p>
            </p:txBody>
          </p:sp>
          <p:sp>
            <p:nvSpPr>
              <p:cNvPr id="57384" name="Line 12">
                <a:extLst>
                  <a:ext uri="{FF2B5EF4-FFF2-40B4-BE49-F238E27FC236}">
                    <a16:creationId xmlns:a16="http://schemas.microsoft.com/office/drawing/2014/main" id="{D52F107F-A3F5-1AE9-7354-0E542A100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0" y="3771"/>
                <a:ext cx="6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353" name="Group 13">
              <a:extLst>
                <a:ext uri="{FF2B5EF4-FFF2-40B4-BE49-F238E27FC236}">
                  <a16:creationId xmlns:a16="http://schemas.microsoft.com/office/drawing/2014/main" id="{B7235A8F-DF87-21DD-40AC-EB736F8FA5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2" y="3486"/>
              <a:ext cx="780" cy="526"/>
              <a:chOff x="2342" y="2730"/>
              <a:chExt cx="780" cy="526"/>
            </a:xfrm>
          </p:grpSpPr>
          <p:sp>
            <p:nvSpPr>
              <p:cNvPr id="57381" name="Text Box 14">
                <a:extLst>
                  <a:ext uri="{FF2B5EF4-FFF2-40B4-BE49-F238E27FC236}">
                    <a16:creationId xmlns:a16="http://schemas.microsoft.com/office/drawing/2014/main" id="{1106853A-0089-B834-4137-1778F39EFC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2" y="2730"/>
                <a:ext cx="780" cy="526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SzPct val="85000"/>
                  <a:buChar char="•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1800"/>
                  <a:t>Predicate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1800"/>
                  <a:t>PC</a:t>
                </a:r>
              </a:p>
            </p:txBody>
          </p:sp>
          <p:sp>
            <p:nvSpPr>
              <p:cNvPr id="57382" name="Line 15">
                <a:extLst>
                  <a:ext uri="{FF2B5EF4-FFF2-40B4-BE49-F238E27FC236}">
                    <a16:creationId xmlns:a16="http://schemas.microsoft.com/office/drawing/2014/main" id="{35E96855-19B4-EF4F-9F6D-4919E4957D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9" y="3053"/>
                <a:ext cx="66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354" name="Group 22">
              <a:extLst>
                <a:ext uri="{FF2B5EF4-FFF2-40B4-BE49-F238E27FC236}">
                  <a16:creationId xmlns:a16="http://schemas.microsoft.com/office/drawing/2014/main" id="{8D9E06EB-1BF2-DA6F-BE1F-57B8DD60EE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6" y="576"/>
              <a:ext cx="1229" cy="526"/>
              <a:chOff x="3145" y="576"/>
              <a:chExt cx="1099" cy="526"/>
            </a:xfrm>
          </p:grpSpPr>
          <p:sp>
            <p:nvSpPr>
              <p:cNvPr id="57379" name="Text Box 23">
                <a:extLst>
                  <a:ext uri="{FF2B5EF4-FFF2-40B4-BE49-F238E27FC236}">
                    <a16:creationId xmlns:a16="http://schemas.microsoft.com/office/drawing/2014/main" id="{0E5EFFF4-CC02-5DDD-8B1E-1DFC0CF084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5" y="576"/>
                <a:ext cx="1099" cy="526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SzPct val="85000"/>
                  <a:buChar char="•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1800"/>
                  <a:t>Combinatorial 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1800"/>
                  <a:t>COC</a:t>
                </a:r>
              </a:p>
            </p:txBody>
          </p:sp>
          <p:sp>
            <p:nvSpPr>
              <p:cNvPr id="57380" name="Line 24">
                <a:extLst>
                  <a:ext uri="{FF2B5EF4-FFF2-40B4-BE49-F238E27FC236}">
                    <a16:creationId xmlns:a16="http://schemas.microsoft.com/office/drawing/2014/main" id="{D368B974-EB4D-59B8-971E-6640852079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5" y="899"/>
                <a:ext cx="9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355" name="Line 37">
              <a:extLst>
                <a:ext uri="{FF2B5EF4-FFF2-40B4-BE49-F238E27FC236}">
                  <a16:creationId xmlns:a16="http://schemas.microsoft.com/office/drawing/2014/main" id="{59D0ACE9-9C89-698A-E985-0ACB4DFDE0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8" y="2591"/>
              <a:ext cx="626" cy="8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56" name="Line 38">
              <a:extLst>
                <a:ext uri="{FF2B5EF4-FFF2-40B4-BE49-F238E27FC236}">
                  <a16:creationId xmlns:a16="http://schemas.microsoft.com/office/drawing/2014/main" id="{62D15796-40C0-F014-730E-D0057C008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3289"/>
              <a:ext cx="180" cy="1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57" name="Line 39">
              <a:extLst>
                <a:ext uri="{FF2B5EF4-FFF2-40B4-BE49-F238E27FC236}">
                  <a16:creationId xmlns:a16="http://schemas.microsoft.com/office/drawing/2014/main" id="{E82EEEC9-4905-3C79-8665-3A02452F8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2" y="2531"/>
              <a:ext cx="1352" cy="9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58" name="Line 41">
              <a:extLst>
                <a:ext uri="{FF2B5EF4-FFF2-40B4-BE49-F238E27FC236}">
                  <a16:creationId xmlns:a16="http://schemas.microsoft.com/office/drawing/2014/main" id="{A5BD153D-636C-2F60-F18C-1D45022B1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3" y="1103"/>
              <a:ext cx="131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59" name="Line 46">
              <a:extLst>
                <a:ext uri="{FF2B5EF4-FFF2-40B4-BE49-F238E27FC236}">
                  <a16:creationId xmlns:a16="http://schemas.microsoft.com/office/drawing/2014/main" id="{988E7D55-1B47-406F-612D-1B82BA966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9" y="1813"/>
              <a:ext cx="183" cy="2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7360" name="Group 19">
              <a:extLst>
                <a:ext uri="{FF2B5EF4-FFF2-40B4-BE49-F238E27FC236}">
                  <a16:creationId xmlns:a16="http://schemas.microsoft.com/office/drawing/2014/main" id="{A582FFB1-591E-9078-181D-905D9EB64A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7" y="1291"/>
              <a:ext cx="1200" cy="526"/>
              <a:chOff x="3153" y="1294"/>
              <a:chExt cx="1092" cy="526"/>
            </a:xfrm>
          </p:grpSpPr>
          <p:sp>
            <p:nvSpPr>
              <p:cNvPr id="57377" name="Text Box 20">
                <a:extLst>
                  <a:ext uri="{FF2B5EF4-FFF2-40B4-BE49-F238E27FC236}">
                    <a16:creationId xmlns:a16="http://schemas.microsoft.com/office/drawing/2014/main" id="{F9E34051-2BBA-714D-5889-03648AAE04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3" y="1294"/>
                <a:ext cx="1092" cy="526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SzPct val="85000"/>
                  <a:buChar char="•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1800"/>
                  <a:t>Restricted Active 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1800"/>
                  <a:t>RACC</a:t>
                </a:r>
              </a:p>
            </p:txBody>
          </p:sp>
          <p:sp>
            <p:nvSpPr>
              <p:cNvPr id="57378" name="Line 21">
                <a:extLst>
                  <a:ext uri="{FF2B5EF4-FFF2-40B4-BE49-F238E27FC236}">
                    <a16:creationId xmlns:a16="http://schemas.microsoft.com/office/drawing/2014/main" id="{0CDC44D8-A314-D3F5-1D34-4685938F5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3" y="1617"/>
                <a:ext cx="93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361" name="Group 47">
              <a:extLst>
                <a:ext uri="{FF2B5EF4-FFF2-40B4-BE49-F238E27FC236}">
                  <a16:creationId xmlns:a16="http://schemas.microsoft.com/office/drawing/2014/main" id="{D3D48CA6-8E30-8D12-FFBA-E5E8E51233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7" y="1290"/>
              <a:ext cx="1336" cy="526"/>
              <a:chOff x="3153" y="1294"/>
              <a:chExt cx="1092" cy="526"/>
            </a:xfrm>
          </p:grpSpPr>
          <p:sp>
            <p:nvSpPr>
              <p:cNvPr id="57375" name="Text Box 48">
                <a:extLst>
                  <a:ext uri="{FF2B5EF4-FFF2-40B4-BE49-F238E27FC236}">
                    <a16:creationId xmlns:a16="http://schemas.microsoft.com/office/drawing/2014/main" id="{EBC5BB2B-9A15-2FE9-3B75-13BF496D8F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3" y="1294"/>
                <a:ext cx="1092" cy="526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SzPct val="85000"/>
                  <a:buChar char="•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1800"/>
                  <a:t>Restricted Inactive 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1800"/>
                  <a:t>RICC</a:t>
                </a:r>
              </a:p>
            </p:txBody>
          </p:sp>
          <p:sp>
            <p:nvSpPr>
              <p:cNvPr id="57376" name="Line 49">
                <a:extLst>
                  <a:ext uri="{FF2B5EF4-FFF2-40B4-BE49-F238E27FC236}">
                    <a16:creationId xmlns:a16="http://schemas.microsoft.com/office/drawing/2014/main" id="{8DC91631-1778-DB31-EB4D-498A967DDF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3" y="1617"/>
                <a:ext cx="93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362" name="Group 53">
              <a:extLst>
                <a:ext uri="{FF2B5EF4-FFF2-40B4-BE49-F238E27FC236}">
                  <a16:creationId xmlns:a16="http://schemas.microsoft.com/office/drawing/2014/main" id="{77F6B3CC-2DDE-2E44-5D82-5D8F011259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1" y="2769"/>
              <a:ext cx="1308" cy="526"/>
              <a:chOff x="3153" y="1294"/>
              <a:chExt cx="1092" cy="526"/>
            </a:xfrm>
          </p:grpSpPr>
          <p:sp>
            <p:nvSpPr>
              <p:cNvPr id="57373" name="Text Box 54">
                <a:extLst>
                  <a:ext uri="{FF2B5EF4-FFF2-40B4-BE49-F238E27FC236}">
                    <a16:creationId xmlns:a16="http://schemas.microsoft.com/office/drawing/2014/main" id="{0DE5C6C9-DD36-9B77-A840-021F2A49DC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3" y="1294"/>
                <a:ext cx="1092" cy="526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SzPct val="85000"/>
                  <a:buChar char="•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1800"/>
                  <a:t>General Active 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1800"/>
                  <a:t>GACC</a:t>
                </a:r>
              </a:p>
            </p:txBody>
          </p:sp>
          <p:sp>
            <p:nvSpPr>
              <p:cNvPr id="57374" name="Line 55">
                <a:extLst>
                  <a:ext uri="{FF2B5EF4-FFF2-40B4-BE49-F238E27FC236}">
                    <a16:creationId xmlns:a16="http://schemas.microsoft.com/office/drawing/2014/main" id="{D091D252-9EB6-C857-3789-A6A045F439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3" y="1617"/>
                <a:ext cx="93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363" name="Group 50">
              <a:extLst>
                <a:ext uri="{FF2B5EF4-FFF2-40B4-BE49-F238E27FC236}">
                  <a16:creationId xmlns:a16="http://schemas.microsoft.com/office/drawing/2014/main" id="{AFBFF58D-99D0-BC85-0681-BC9BB47BCB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9" y="2006"/>
              <a:ext cx="1308" cy="526"/>
              <a:chOff x="3153" y="1294"/>
              <a:chExt cx="1092" cy="526"/>
            </a:xfrm>
          </p:grpSpPr>
          <p:sp>
            <p:nvSpPr>
              <p:cNvPr id="57371" name="Text Box 51">
                <a:extLst>
                  <a:ext uri="{FF2B5EF4-FFF2-40B4-BE49-F238E27FC236}">
                    <a16:creationId xmlns:a16="http://schemas.microsoft.com/office/drawing/2014/main" id="{16B72438-AFBE-5865-DFA9-65E2AC8D58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3" y="1294"/>
                <a:ext cx="1092" cy="526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SzPct val="85000"/>
                  <a:buChar char="•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1800"/>
                  <a:t>Correlated Active 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1800"/>
                  <a:t>CACC</a:t>
                </a:r>
              </a:p>
            </p:txBody>
          </p:sp>
          <p:sp>
            <p:nvSpPr>
              <p:cNvPr id="57372" name="Line 52">
                <a:extLst>
                  <a:ext uri="{FF2B5EF4-FFF2-40B4-BE49-F238E27FC236}">
                    <a16:creationId xmlns:a16="http://schemas.microsoft.com/office/drawing/2014/main" id="{4DDB7724-3603-E394-013F-460B85EAD5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3" y="1617"/>
                <a:ext cx="93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364" name="Group 56">
              <a:extLst>
                <a:ext uri="{FF2B5EF4-FFF2-40B4-BE49-F238E27FC236}">
                  <a16:creationId xmlns:a16="http://schemas.microsoft.com/office/drawing/2014/main" id="{99A7FAF6-44CC-4B56-20E9-E0A6DBBE63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5" y="2054"/>
              <a:ext cx="1308" cy="526"/>
              <a:chOff x="3153" y="1294"/>
              <a:chExt cx="1092" cy="526"/>
            </a:xfrm>
          </p:grpSpPr>
          <p:sp>
            <p:nvSpPr>
              <p:cNvPr id="57369" name="Text Box 57">
                <a:extLst>
                  <a:ext uri="{FF2B5EF4-FFF2-40B4-BE49-F238E27FC236}">
                    <a16:creationId xmlns:a16="http://schemas.microsoft.com/office/drawing/2014/main" id="{34CF76DB-2802-1409-AE11-145D5A2D5B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3" y="1294"/>
                <a:ext cx="1092" cy="526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SzPct val="85000"/>
                  <a:buChar char="•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•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Ø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1800"/>
                  <a:t>General Inactive 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  <a:buSzTx/>
                  <a:buFontTx/>
                  <a:buNone/>
                </a:pPr>
                <a:r>
                  <a:rPr lang="en-US" altLang="en-US" sz="1800"/>
                  <a:t>GICC</a:t>
                </a:r>
              </a:p>
            </p:txBody>
          </p:sp>
          <p:sp>
            <p:nvSpPr>
              <p:cNvPr id="57370" name="Line 58">
                <a:extLst>
                  <a:ext uri="{FF2B5EF4-FFF2-40B4-BE49-F238E27FC236}">
                    <a16:creationId xmlns:a16="http://schemas.microsoft.com/office/drawing/2014/main" id="{F846174C-35A3-A67C-FD58-76E69122AB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3" y="1617"/>
                <a:ext cx="93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365" name="Line 63">
              <a:extLst>
                <a:ext uri="{FF2B5EF4-FFF2-40B4-BE49-F238E27FC236}">
                  <a16:creationId xmlns:a16="http://schemas.microsoft.com/office/drawing/2014/main" id="{3215541C-1AE2-A3F3-07DE-5AB3CA53A7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13" y="1106"/>
              <a:ext cx="188" cy="1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6" name="Line 65">
              <a:extLst>
                <a:ext uri="{FF2B5EF4-FFF2-40B4-BE49-F238E27FC236}">
                  <a16:creationId xmlns:a16="http://schemas.microsoft.com/office/drawing/2014/main" id="{157B4709-5BEB-F85B-981B-2F988DD1A1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11" y="1821"/>
              <a:ext cx="184" cy="1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7" name="Line 66">
              <a:extLst>
                <a:ext uri="{FF2B5EF4-FFF2-40B4-BE49-F238E27FC236}">
                  <a16:creationId xmlns:a16="http://schemas.microsoft.com/office/drawing/2014/main" id="{CDC49506-632F-49E8-5701-741A61C44B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8" y="2529"/>
              <a:ext cx="198" cy="22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8" name="Line 67">
              <a:extLst>
                <a:ext uri="{FF2B5EF4-FFF2-40B4-BE49-F238E27FC236}">
                  <a16:creationId xmlns:a16="http://schemas.microsoft.com/office/drawing/2014/main" id="{BF9FCDBA-360B-B91C-8496-00A27E1369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5" y="2580"/>
              <a:ext cx="1499" cy="89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Date Placeholder 3">
            <a:extLst>
              <a:ext uri="{FF2B5EF4-FFF2-40B4-BE49-F238E27FC236}">
                <a16:creationId xmlns:a16="http://schemas.microsoft.com/office/drawing/2014/main" id="{B2AEF2CF-6698-156A-9D25-7278B8F13AF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58371" name="Footer Placeholder 4">
            <a:extLst>
              <a:ext uri="{FF2B5EF4-FFF2-40B4-BE49-F238E27FC236}">
                <a16:creationId xmlns:a16="http://schemas.microsoft.com/office/drawing/2014/main" id="{208F27C9-34FE-565F-8C35-41247632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58372" name="Slide Number Placeholder 5">
            <a:extLst>
              <a:ext uri="{FF2B5EF4-FFF2-40B4-BE49-F238E27FC236}">
                <a16:creationId xmlns:a16="http://schemas.microsoft.com/office/drawing/2014/main" id="{88BDED84-9B60-F705-E011-48F41F04A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CA9C2E6E-2164-4142-8D4C-F73E6F6CD004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25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58373" name="Rectangle 2">
            <a:extLst>
              <a:ext uri="{FF2B5EF4-FFF2-40B4-BE49-F238E27FC236}">
                <a16:creationId xmlns:a16="http://schemas.microsoft.com/office/drawing/2014/main" id="{2E02E899-A52E-B894-F600-019D615FA1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7850" y="96838"/>
            <a:ext cx="7989888" cy="915987"/>
          </a:xfrm>
        </p:spPr>
        <p:txBody>
          <a:bodyPr/>
          <a:lstStyle/>
          <a:p>
            <a:r>
              <a:rPr lang="en-US" altLang="en-US"/>
              <a:t>Making Clauses Determine a Predicate</a:t>
            </a:r>
          </a:p>
        </p:txBody>
      </p:sp>
      <p:sp>
        <p:nvSpPr>
          <p:cNvPr id="58374" name="Rectangle 3">
            <a:extLst>
              <a:ext uri="{FF2B5EF4-FFF2-40B4-BE49-F238E27FC236}">
                <a16:creationId xmlns:a16="http://schemas.microsoft.com/office/drawing/2014/main" id="{05F2728B-1163-BC06-55E7-0A831F22D1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Finding values for minor clauses </a:t>
            </a:r>
            <a:r>
              <a:rPr lang="en-US" altLang="en-US" sz="2800" i="1">
                <a:solidFill>
                  <a:schemeClr val="tx2"/>
                </a:solidFill>
              </a:rPr>
              <a:t>c</a:t>
            </a:r>
            <a:r>
              <a:rPr lang="en-US" altLang="en-US" sz="2800" i="1" baseline="-25000">
                <a:solidFill>
                  <a:schemeClr val="tx2"/>
                </a:solidFill>
              </a:rPr>
              <a:t>j</a:t>
            </a:r>
            <a:r>
              <a:rPr lang="en-US" altLang="en-US"/>
              <a:t> is easy for simple predicates</a:t>
            </a:r>
          </a:p>
          <a:p>
            <a:r>
              <a:rPr lang="en-US" altLang="en-US"/>
              <a:t>But how to find values for more complicated predicates ?</a:t>
            </a:r>
          </a:p>
          <a:p>
            <a:r>
              <a:rPr lang="en-US" altLang="en-US"/>
              <a:t>Definitional approach:</a:t>
            </a:r>
          </a:p>
          <a:p>
            <a:pPr lvl="1"/>
            <a:r>
              <a:rPr lang="en-US" altLang="en-US" sz="2400" i="1">
                <a:solidFill>
                  <a:schemeClr val="tx2"/>
                </a:solidFill>
              </a:rPr>
              <a:t>p</a:t>
            </a:r>
            <a:r>
              <a:rPr lang="en-US" altLang="en-US" sz="2800" i="1" baseline="-25000">
                <a:solidFill>
                  <a:schemeClr val="tx2"/>
                </a:solidFill>
              </a:rPr>
              <a:t>c=true</a:t>
            </a:r>
            <a:r>
              <a:rPr lang="en-US" altLang="en-US"/>
              <a:t> is predicate </a:t>
            </a:r>
            <a:r>
              <a:rPr lang="en-US" altLang="en-US" i="1"/>
              <a:t>p</a:t>
            </a:r>
            <a:r>
              <a:rPr lang="en-US" altLang="en-US"/>
              <a:t> with every occurrence of </a:t>
            </a:r>
            <a:r>
              <a:rPr lang="en-US" altLang="en-US" i="1"/>
              <a:t>c</a:t>
            </a:r>
            <a:r>
              <a:rPr lang="en-US" altLang="en-US"/>
              <a:t> replaced by </a:t>
            </a:r>
            <a:r>
              <a:rPr lang="en-US" altLang="en-US" i="1">
                <a:solidFill>
                  <a:schemeClr val="tx2"/>
                </a:solidFill>
              </a:rPr>
              <a:t>true</a:t>
            </a:r>
          </a:p>
          <a:p>
            <a:pPr lvl="1"/>
            <a:r>
              <a:rPr lang="en-US" altLang="en-US" sz="2400" i="1">
                <a:solidFill>
                  <a:schemeClr val="tx2"/>
                </a:solidFill>
              </a:rPr>
              <a:t>p</a:t>
            </a:r>
            <a:r>
              <a:rPr lang="en-US" altLang="en-US" sz="2800" i="1" baseline="-25000">
                <a:solidFill>
                  <a:schemeClr val="tx2"/>
                </a:solidFill>
              </a:rPr>
              <a:t>c=false</a:t>
            </a:r>
            <a:r>
              <a:rPr lang="en-US" altLang="en-US"/>
              <a:t> is predicate </a:t>
            </a:r>
            <a:r>
              <a:rPr lang="en-US" altLang="en-US" i="1"/>
              <a:t>p</a:t>
            </a:r>
            <a:r>
              <a:rPr lang="en-US" altLang="en-US"/>
              <a:t> with every occurrence of </a:t>
            </a:r>
            <a:r>
              <a:rPr lang="en-US" altLang="en-US" i="1"/>
              <a:t>c</a:t>
            </a:r>
            <a:r>
              <a:rPr lang="en-US" altLang="en-US"/>
              <a:t> replaced by </a:t>
            </a:r>
            <a:r>
              <a:rPr lang="en-US" altLang="en-US" i="1">
                <a:solidFill>
                  <a:schemeClr val="tx2"/>
                </a:solidFill>
              </a:rPr>
              <a:t>false</a:t>
            </a:r>
          </a:p>
          <a:p>
            <a:r>
              <a:rPr lang="en-US" altLang="en-US"/>
              <a:t>To find values for the minor clauses, connect </a:t>
            </a:r>
            <a:r>
              <a:rPr lang="en-US" altLang="en-US" sz="2800" i="1">
                <a:solidFill>
                  <a:schemeClr val="tx2"/>
                </a:solidFill>
              </a:rPr>
              <a:t>p</a:t>
            </a:r>
            <a:r>
              <a:rPr lang="en-US" altLang="en-US" sz="3600" i="1" baseline="-25000">
                <a:solidFill>
                  <a:schemeClr val="tx2"/>
                </a:solidFill>
              </a:rPr>
              <a:t>c=true</a:t>
            </a:r>
            <a:r>
              <a:rPr lang="en-US" altLang="en-US"/>
              <a:t> and </a:t>
            </a:r>
            <a:r>
              <a:rPr lang="en-US" altLang="en-US" sz="2800" i="1">
                <a:solidFill>
                  <a:schemeClr val="tx2"/>
                </a:solidFill>
              </a:rPr>
              <a:t>p</a:t>
            </a:r>
            <a:r>
              <a:rPr lang="en-US" altLang="en-US" sz="3600" i="1" baseline="-25000">
                <a:solidFill>
                  <a:schemeClr val="tx2"/>
                </a:solidFill>
              </a:rPr>
              <a:t>c=false</a:t>
            </a:r>
            <a:r>
              <a:rPr lang="en-US" altLang="en-US"/>
              <a:t> with exclusive </a:t>
            </a:r>
            <a:r>
              <a:rPr lang="en-US" altLang="en-US" i="1"/>
              <a:t>OR</a:t>
            </a:r>
          </a:p>
          <a:p>
            <a:pPr algn="ctr">
              <a:buFontTx/>
              <a:buNone/>
            </a:pPr>
            <a:r>
              <a:rPr lang="en-US" altLang="en-US" sz="2800" i="1">
                <a:solidFill>
                  <a:srgbClr val="33CC33"/>
                </a:solidFill>
              </a:rPr>
              <a:t>p</a:t>
            </a:r>
            <a:r>
              <a:rPr lang="en-US" altLang="en-US" sz="3600" i="1" baseline="-25000">
                <a:solidFill>
                  <a:srgbClr val="33CC33"/>
                </a:solidFill>
              </a:rPr>
              <a:t>c</a:t>
            </a:r>
            <a:r>
              <a:rPr lang="en-US" altLang="en-US" sz="2800" i="1">
                <a:solidFill>
                  <a:srgbClr val="33CC33"/>
                </a:solidFill>
              </a:rPr>
              <a:t>  =  p</a:t>
            </a:r>
            <a:r>
              <a:rPr lang="en-US" altLang="en-US" sz="3600" i="1" baseline="-25000">
                <a:solidFill>
                  <a:srgbClr val="33CC33"/>
                </a:solidFill>
              </a:rPr>
              <a:t>c=true</a:t>
            </a:r>
            <a:r>
              <a:rPr lang="en-US" altLang="en-US" sz="2800" i="1">
                <a:solidFill>
                  <a:srgbClr val="33CC33"/>
                </a:solidFill>
              </a:rPr>
              <a:t> </a:t>
            </a:r>
            <a:r>
              <a:rPr lang="en-US" altLang="en-US" sz="2800">
                <a:solidFill>
                  <a:srgbClr val="33CC33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en-US" sz="2800" i="1">
                <a:solidFill>
                  <a:srgbClr val="33CC33"/>
                </a:solidFill>
              </a:rPr>
              <a:t> p</a:t>
            </a:r>
            <a:r>
              <a:rPr lang="en-US" altLang="en-US" sz="3600" i="1" baseline="-25000">
                <a:solidFill>
                  <a:srgbClr val="33CC33"/>
                </a:solidFill>
              </a:rPr>
              <a:t>c=false</a:t>
            </a:r>
          </a:p>
          <a:p>
            <a:r>
              <a:rPr lang="en-US" altLang="en-US"/>
              <a:t>After solving, </a:t>
            </a:r>
            <a:r>
              <a:rPr lang="en-US" altLang="en-US" i="1"/>
              <a:t> </a:t>
            </a:r>
            <a:r>
              <a:rPr lang="en-US" altLang="en-US" sz="2800" i="1">
                <a:solidFill>
                  <a:schemeClr val="tx2"/>
                </a:solidFill>
              </a:rPr>
              <a:t>p</a:t>
            </a:r>
            <a:r>
              <a:rPr lang="en-US" altLang="en-US" sz="3600" i="1" baseline="-25000">
                <a:solidFill>
                  <a:schemeClr val="tx2"/>
                </a:solidFill>
              </a:rPr>
              <a:t>c</a:t>
            </a:r>
            <a:r>
              <a:rPr lang="en-US" altLang="en-US"/>
              <a:t> describes exactly the values needed for </a:t>
            </a:r>
            <a:r>
              <a:rPr lang="en-US" altLang="en-US" sz="2800" i="1">
                <a:solidFill>
                  <a:schemeClr val="tx2"/>
                </a:solidFill>
              </a:rPr>
              <a:t>c</a:t>
            </a:r>
            <a:r>
              <a:rPr lang="en-US" altLang="en-US"/>
              <a:t> to determine </a:t>
            </a:r>
            <a:r>
              <a:rPr lang="en-US" altLang="en-US" sz="2800" i="1">
                <a:solidFill>
                  <a:schemeClr val="tx2"/>
                </a:solidFill>
              </a:rPr>
              <a:t>p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Date Placeholder 3">
            <a:extLst>
              <a:ext uri="{FF2B5EF4-FFF2-40B4-BE49-F238E27FC236}">
                <a16:creationId xmlns:a16="http://schemas.microsoft.com/office/drawing/2014/main" id="{B2FF8CEB-16D1-AEA4-B4F7-33DD2C734F6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60419" name="Footer Placeholder 4">
            <a:extLst>
              <a:ext uri="{FF2B5EF4-FFF2-40B4-BE49-F238E27FC236}">
                <a16:creationId xmlns:a16="http://schemas.microsoft.com/office/drawing/2014/main" id="{CB659B89-0669-8049-A32B-F47F2D82D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60420" name="Slide Number Placeholder 5">
            <a:extLst>
              <a:ext uri="{FF2B5EF4-FFF2-40B4-BE49-F238E27FC236}">
                <a16:creationId xmlns:a16="http://schemas.microsoft.com/office/drawing/2014/main" id="{BD88B74E-DDE8-A949-59A6-5B61A7F8E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2C9709A-3739-40B9-9E65-A97DABC29AC6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26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60421" name="Rectangle 2">
            <a:extLst>
              <a:ext uri="{FF2B5EF4-FFF2-40B4-BE49-F238E27FC236}">
                <a16:creationId xmlns:a16="http://schemas.microsoft.com/office/drawing/2014/main" id="{02E2162A-AB4B-CA1A-BFA7-B6C9DDD307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</a:t>
            </a:r>
          </a:p>
        </p:txBody>
      </p:sp>
      <p:sp>
        <p:nvSpPr>
          <p:cNvPr id="226309" name="Text Box 5">
            <a:extLst>
              <a:ext uri="{FF2B5EF4-FFF2-40B4-BE49-F238E27FC236}">
                <a16:creationId xmlns:a16="http://schemas.microsoft.com/office/drawing/2014/main" id="{7AC062DF-3B09-E6F3-D076-6D887237A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38" y="1095375"/>
            <a:ext cx="4032250" cy="1765300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 u="sng">
                <a:solidFill>
                  <a:srgbClr val="FAFD00"/>
                </a:solidFill>
              </a:rPr>
              <a:t>p = a </a:t>
            </a:r>
            <a:r>
              <a:rPr lang="en-US" altLang="en-US" sz="2000" u="sng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 u="sng">
                <a:solidFill>
                  <a:srgbClr val="FAFD00"/>
                </a:solidFill>
              </a:rPr>
              <a:t> b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p</a:t>
            </a:r>
            <a:r>
              <a:rPr lang="en-US" altLang="en-US" sz="2800" baseline="-25000"/>
              <a:t>a</a:t>
            </a:r>
            <a:r>
              <a:rPr lang="en-US" altLang="en-US" sz="2000"/>
              <a:t> = p</a:t>
            </a:r>
            <a:r>
              <a:rPr lang="en-US" altLang="en-US" sz="2800" baseline="-25000"/>
              <a:t>a=true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</a:t>
            </a:r>
            <a:r>
              <a:rPr lang="en-US" altLang="en-US" sz="2000">
                <a:solidFill>
                  <a:srgbClr val="FAFD00"/>
                </a:solidFill>
              </a:rPr>
              <a:t>  </a:t>
            </a:r>
            <a:r>
              <a:rPr lang="en-US" altLang="en-US" sz="2000"/>
              <a:t>p</a:t>
            </a:r>
            <a:r>
              <a:rPr lang="en-US" altLang="en-US" sz="2800" baseline="-25000"/>
              <a:t>a=false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(true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/>
              <a:t> b) </a:t>
            </a:r>
            <a:r>
              <a:rPr lang="en-US" altLang="en-US" sz="2000">
                <a:solidFill>
                  <a:schemeClr val="tx2"/>
                </a:solidFill>
              </a:rPr>
              <a:t>XOR</a:t>
            </a:r>
            <a:r>
              <a:rPr lang="en-US" altLang="en-US" sz="2000"/>
              <a:t> (false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/>
              <a:t> b)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true </a:t>
            </a:r>
            <a:r>
              <a:rPr lang="en-US" altLang="en-US" sz="2000">
                <a:solidFill>
                  <a:schemeClr val="tx2"/>
                </a:solidFill>
              </a:rPr>
              <a:t>XOR</a:t>
            </a:r>
            <a:r>
              <a:rPr lang="en-US" altLang="en-US" sz="2000"/>
              <a:t> b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</a:t>
            </a:r>
            <a:r>
              <a:rPr lang="en-US" altLang="en-US" sz="2000">
                <a:solidFill>
                  <a:schemeClr val="tx2"/>
                </a:solidFill>
              </a:rPr>
              <a:t>¬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b</a:t>
            </a:r>
          </a:p>
        </p:txBody>
      </p:sp>
      <p:sp>
        <p:nvSpPr>
          <p:cNvPr id="226311" name="Text Box 7">
            <a:extLst>
              <a:ext uri="{FF2B5EF4-FFF2-40B4-BE49-F238E27FC236}">
                <a16:creationId xmlns:a16="http://schemas.microsoft.com/office/drawing/2014/main" id="{5CE15088-1031-63A1-D8D7-D6E3BB9BA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2313" y="1095375"/>
            <a:ext cx="4362450" cy="1782763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 u="sng">
                <a:solidFill>
                  <a:srgbClr val="FAFD00"/>
                </a:solidFill>
              </a:rPr>
              <a:t>p = a </a:t>
            </a:r>
            <a:r>
              <a:rPr lang="en-US" altLang="en-US" sz="2000" u="sng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 u="sng">
                <a:solidFill>
                  <a:srgbClr val="FAFD00"/>
                </a:solidFill>
              </a:rPr>
              <a:t> b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p</a:t>
            </a:r>
            <a:r>
              <a:rPr lang="en-US" altLang="en-US" sz="3200" baseline="-25000"/>
              <a:t>a</a:t>
            </a:r>
            <a:r>
              <a:rPr lang="en-US" altLang="en-US" sz="2000"/>
              <a:t> = p</a:t>
            </a:r>
            <a:r>
              <a:rPr lang="en-US" altLang="en-US" sz="2800" baseline="-25000"/>
              <a:t>a=true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</a:t>
            </a:r>
            <a:r>
              <a:rPr lang="en-US" altLang="en-US" sz="2000">
                <a:solidFill>
                  <a:srgbClr val="FAFD00"/>
                </a:solidFill>
              </a:rPr>
              <a:t>  </a:t>
            </a:r>
            <a:r>
              <a:rPr lang="en-US" altLang="en-US" sz="2000"/>
              <a:t>p</a:t>
            </a:r>
            <a:r>
              <a:rPr lang="en-US" altLang="en-US" sz="2800" baseline="-25000"/>
              <a:t>a=false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(true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b)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 </a:t>
            </a:r>
            <a:r>
              <a:rPr lang="en-US" altLang="en-US" sz="2000"/>
              <a:t>(false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b)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b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</a:t>
            </a:r>
            <a:r>
              <a:rPr lang="en-US" altLang="en-US" sz="2000">
                <a:solidFill>
                  <a:srgbClr val="FAFD00"/>
                </a:solidFill>
              </a:rPr>
              <a:t>  </a:t>
            </a:r>
            <a:r>
              <a:rPr lang="en-US" altLang="en-US" sz="2000"/>
              <a:t>false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b</a:t>
            </a:r>
          </a:p>
        </p:txBody>
      </p:sp>
      <p:sp>
        <p:nvSpPr>
          <p:cNvPr id="226312" name="Text Box 8">
            <a:extLst>
              <a:ext uri="{FF2B5EF4-FFF2-40B4-BE49-F238E27FC236}">
                <a16:creationId xmlns:a16="http://schemas.microsoft.com/office/drawing/2014/main" id="{5E7FE47A-185A-058E-47BC-A4EF4DFC9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363" y="3163888"/>
            <a:ext cx="6135687" cy="2100262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 u="sng">
                <a:solidFill>
                  <a:srgbClr val="FAFD00"/>
                </a:solidFill>
              </a:rPr>
              <a:t>p = a </a:t>
            </a:r>
            <a:r>
              <a:rPr lang="en-US" altLang="en-US" sz="2000" u="sng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 u="sng">
                <a:solidFill>
                  <a:srgbClr val="FAFD00"/>
                </a:solidFill>
              </a:rPr>
              <a:t> (b </a:t>
            </a:r>
            <a:r>
              <a:rPr lang="en-US" altLang="en-US" sz="2000" u="sng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 u="sng">
                <a:solidFill>
                  <a:srgbClr val="FAFD00"/>
                </a:solidFill>
              </a:rPr>
              <a:t> c)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p</a:t>
            </a:r>
            <a:r>
              <a:rPr lang="en-US" altLang="en-US" sz="2800" baseline="-25000"/>
              <a:t>a</a:t>
            </a:r>
            <a:r>
              <a:rPr lang="en-US" altLang="en-US" sz="2000"/>
              <a:t> = p</a:t>
            </a:r>
            <a:r>
              <a:rPr lang="en-US" altLang="en-US" sz="2800" baseline="-25000"/>
              <a:t>a=true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</a:t>
            </a:r>
            <a:r>
              <a:rPr lang="en-US" altLang="en-US" sz="2000">
                <a:solidFill>
                  <a:srgbClr val="FAFD00"/>
                </a:solidFill>
              </a:rPr>
              <a:t>  </a:t>
            </a:r>
            <a:r>
              <a:rPr lang="en-US" altLang="en-US" sz="2000"/>
              <a:t>p</a:t>
            </a:r>
            <a:r>
              <a:rPr lang="en-US" altLang="en-US" sz="2800" baseline="-25000"/>
              <a:t>a=false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(true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/>
              <a:t> (b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c))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 </a:t>
            </a:r>
            <a:r>
              <a:rPr lang="en-US" altLang="en-US" sz="2000"/>
              <a:t>(false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 </a:t>
            </a:r>
            <a:r>
              <a:rPr lang="en-US" altLang="en-US" sz="2000"/>
              <a:t>(b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c))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true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 </a:t>
            </a:r>
            <a:r>
              <a:rPr lang="en-US" altLang="en-US" sz="2000"/>
              <a:t>(b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c)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</a:t>
            </a:r>
            <a:r>
              <a:rPr lang="en-US" altLang="en-US" sz="2000">
                <a:solidFill>
                  <a:schemeClr val="tx2"/>
                </a:solidFill>
              </a:rPr>
              <a:t>¬ </a:t>
            </a:r>
            <a:r>
              <a:rPr lang="en-US" altLang="en-US" sz="2000"/>
              <a:t>(b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c)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</a:t>
            </a:r>
            <a:r>
              <a:rPr lang="en-US" altLang="en-US" sz="2000">
                <a:solidFill>
                  <a:schemeClr val="tx2"/>
                </a:solidFill>
              </a:rPr>
              <a:t>¬</a:t>
            </a:r>
            <a:r>
              <a:rPr lang="en-US" altLang="en-US" sz="2000">
                <a:solidFill>
                  <a:srgbClr val="FAFD00"/>
                </a:solidFill>
              </a:rPr>
              <a:t>  </a:t>
            </a:r>
            <a:r>
              <a:rPr lang="en-US" altLang="en-US" sz="2000"/>
              <a:t>b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chemeClr val="tx2"/>
                </a:solidFill>
              </a:rPr>
              <a:t>¬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c</a:t>
            </a:r>
          </a:p>
        </p:txBody>
      </p:sp>
      <p:sp>
        <p:nvSpPr>
          <p:cNvPr id="226313" name="Text Box 9">
            <a:extLst>
              <a:ext uri="{FF2B5EF4-FFF2-40B4-BE49-F238E27FC236}">
                <a16:creationId xmlns:a16="http://schemas.microsoft.com/office/drawing/2014/main" id="{1B40056B-A39A-2D31-CB2E-B4E010B39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5522913"/>
            <a:ext cx="795655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SzTx/>
            </a:pPr>
            <a:r>
              <a:rPr lang="en-US" altLang="en-US" sz="2000"/>
              <a:t> “</a:t>
            </a:r>
            <a:r>
              <a:rPr lang="en-US" altLang="en-US" sz="2000" i="1">
                <a:solidFill>
                  <a:schemeClr val="tx2"/>
                </a:solidFill>
              </a:rPr>
              <a:t>NOT b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 i="1">
                <a:solidFill>
                  <a:schemeClr val="tx2"/>
                </a:solidFill>
              </a:rPr>
              <a:t>NOT c</a:t>
            </a:r>
            <a:r>
              <a:rPr lang="en-US" altLang="en-US" sz="2000"/>
              <a:t>” means either </a:t>
            </a:r>
            <a:r>
              <a:rPr lang="en-US" altLang="en-US" sz="2000" i="1"/>
              <a:t>b</a:t>
            </a:r>
            <a:r>
              <a:rPr lang="en-US" altLang="en-US" sz="2000"/>
              <a:t> or </a:t>
            </a:r>
            <a:r>
              <a:rPr lang="en-US" altLang="en-US" sz="2000" i="1"/>
              <a:t>c</a:t>
            </a:r>
            <a:r>
              <a:rPr lang="en-US" altLang="en-US" sz="2000"/>
              <a:t> can be false</a:t>
            </a:r>
          </a:p>
          <a:p>
            <a:pPr>
              <a:lnSpc>
                <a:spcPct val="100000"/>
              </a:lnSpc>
              <a:spcBef>
                <a:spcPct val="50000"/>
              </a:spcBef>
              <a:buSzTx/>
            </a:pPr>
            <a:r>
              <a:rPr lang="en-US" altLang="en-US" sz="2000"/>
              <a:t> RACC requires the same choice for both values of </a:t>
            </a:r>
            <a:r>
              <a:rPr lang="en-US" altLang="en-US" sz="2000" i="1"/>
              <a:t>a</a:t>
            </a:r>
            <a:r>
              <a:rPr lang="en-US" altLang="en-US" sz="2000"/>
              <a:t>,  CACC does not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9" grpId="0" build="p" animBg="1"/>
      <p:bldP spid="226311" grpId="0" build="p" animBg="1"/>
      <p:bldP spid="226312" grpId="0" build="p" animBg="1"/>
      <p:bldP spid="22631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Date Placeholder 3">
            <a:extLst>
              <a:ext uri="{FF2B5EF4-FFF2-40B4-BE49-F238E27FC236}">
                <a16:creationId xmlns:a16="http://schemas.microsoft.com/office/drawing/2014/main" id="{2F65699B-F1ED-6823-8CCD-A138538F1A4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62467" name="Footer Placeholder 4">
            <a:extLst>
              <a:ext uri="{FF2B5EF4-FFF2-40B4-BE49-F238E27FC236}">
                <a16:creationId xmlns:a16="http://schemas.microsoft.com/office/drawing/2014/main" id="{C9548FBD-3DCB-06F7-15C2-90C69A094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62468" name="Slide Number Placeholder 5">
            <a:extLst>
              <a:ext uri="{FF2B5EF4-FFF2-40B4-BE49-F238E27FC236}">
                <a16:creationId xmlns:a16="http://schemas.microsoft.com/office/drawing/2014/main" id="{460BCA2B-4947-987D-C2DB-82208D5BD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49B01BA7-B803-4B9D-B8CC-C256D8C2425F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27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62469" name="Rectangle 2">
            <a:extLst>
              <a:ext uri="{FF2B5EF4-FFF2-40B4-BE49-F238E27FC236}">
                <a16:creationId xmlns:a16="http://schemas.microsoft.com/office/drawing/2014/main" id="{3EE72503-5E0A-4C1F-E9D6-4AD069E838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Repeated Variables</a:t>
            </a:r>
          </a:p>
        </p:txBody>
      </p:sp>
      <p:sp>
        <p:nvSpPr>
          <p:cNvPr id="62470" name="Rectangle 3">
            <a:extLst>
              <a:ext uri="{FF2B5EF4-FFF2-40B4-BE49-F238E27FC236}">
                <a16:creationId xmlns:a16="http://schemas.microsoft.com/office/drawing/2014/main" id="{1940F84A-1934-28D0-DE73-D0EB0843C6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definitions in this chapter yield the same tests no matter how the predicate is expressed</a:t>
            </a:r>
          </a:p>
          <a:p>
            <a:pPr lvl="1"/>
            <a:endParaRPr lang="en-US" altLang="en-US"/>
          </a:p>
          <a:p>
            <a:r>
              <a:rPr lang="en-US" altLang="en-US"/>
              <a:t>(a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en-US"/>
              <a:t> b)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en-US"/>
              <a:t>(c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en-US"/>
              <a:t> b) == (a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en-US"/>
              <a:t> c)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en-US"/>
              <a:t> b</a:t>
            </a:r>
          </a:p>
          <a:p>
            <a:pPr lvl="1"/>
            <a:endParaRPr lang="en-US" altLang="en-US"/>
          </a:p>
          <a:p>
            <a:r>
              <a:rPr lang="en-US" altLang="en-US"/>
              <a:t>(a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en-US"/>
              <a:t> b)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/>
              <a:t>(b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en-US"/>
              <a:t> c)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/>
              <a:t>(a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en-US"/>
              <a:t> c)</a:t>
            </a:r>
          </a:p>
          <a:p>
            <a:pPr lvl="1"/>
            <a:r>
              <a:rPr lang="en-US" altLang="en-US"/>
              <a:t>Only has 8 possible tests, not 64</a:t>
            </a:r>
          </a:p>
          <a:p>
            <a:pPr lvl="1"/>
            <a:endParaRPr lang="en-US" altLang="en-US"/>
          </a:p>
          <a:p>
            <a:r>
              <a:rPr lang="en-US" altLang="en-US"/>
              <a:t>Use the simplest form of the predicate, and ignore contradictory truth table assignments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Date Placeholder 3">
            <a:extLst>
              <a:ext uri="{FF2B5EF4-FFF2-40B4-BE49-F238E27FC236}">
                <a16:creationId xmlns:a16="http://schemas.microsoft.com/office/drawing/2014/main" id="{AC5B60D2-4971-DC5C-329B-33FE9F62771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64515" name="Footer Placeholder 4">
            <a:extLst>
              <a:ext uri="{FF2B5EF4-FFF2-40B4-BE49-F238E27FC236}">
                <a16:creationId xmlns:a16="http://schemas.microsoft.com/office/drawing/2014/main" id="{AF202B6B-1DFA-3477-5E9A-F3C3C8448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64516" name="Slide Number Placeholder 5">
            <a:extLst>
              <a:ext uri="{FF2B5EF4-FFF2-40B4-BE49-F238E27FC236}">
                <a16:creationId xmlns:a16="http://schemas.microsoft.com/office/drawing/2014/main" id="{8DFC79A3-8A73-50B6-5131-604D478DB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EE8ED4FC-3FD2-441D-8FBD-E2F2DEF04C95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28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64517" name="Rectangle 2">
            <a:extLst>
              <a:ext uri="{FF2B5EF4-FFF2-40B4-BE49-F238E27FC236}">
                <a16:creationId xmlns:a16="http://schemas.microsoft.com/office/drawing/2014/main" id="{72A04F9D-FBA5-0F32-3F0F-5473E3104F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More Subtle Example</a:t>
            </a:r>
          </a:p>
        </p:txBody>
      </p:sp>
      <p:sp>
        <p:nvSpPr>
          <p:cNvPr id="249861" name="Text Box 5">
            <a:extLst>
              <a:ext uri="{FF2B5EF4-FFF2-40B4-BE49-F238E27FC236}">
                <a16:creationId xmlns:a16="http://schemas.microsoft.com/office/drawing/2014/main" id="{F4DBAF58-7293-BDE1-F750-8E4331A25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846138"/>
            <a:ext cx="7061200" cy="2432050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 u="sng">
                <a:solidFill>
                  <a:srgbClr val="FAFD00"/>
                </a:solidFill>
              </a:rPr>
              <a:t>p = ( a </a:t>
            </a:r>
            <a:r>
              <a:rPr lang="en-US" altLang="en-US" sz="2000" u="sng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 u="sng">
                <a:solidFill>
                  <a:srgbClr val="FAFD00"/>
                </a:solidFill>
              </a:rPr>
              <a:t> b ) </a:t>
            </a:r>
            <a:r>
              <a:rPr lang="en-US" altLang="en-US" sz="2000" u="sng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 u="sng">
                <a:solidFill>
                  <a:srgbClr val="FAFD00"/>
                </a:solidFill>
              </a:rPr>
              <a:t> ( a </a:t>
            </a:r>
            <a:r>
              <a:rPr lang="en-US" altLang="en-US" sz="2000" u="sng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 u="sng">
                <a:solidFill>
                  <a:srgbClr val="FAFD00"/>
                </a:solidFill>
              </a:rPr>
              <a:t> </a:t>
            </a:r>
            <a:r>
              <a:rPr lang="en-US" altLang="en-US" sz="2000" u="sng">
                <a:solidFill>
                  <a:schemeClr val="tx2"/>
                </a:solidFill>
              </a:rPr>
              <a:t>¬</a:t>
            </a:r>
            <a:r>
              <a:rPr lang="en-US" altLang="en-US" sz="2000" u="sng">
                <a:solidFill>
                  <a:srgbClr val="FAFD00"/>
                </a:solidFill>
              </a:rPr>
              <a:t> b)</a:t>
            </a:r>
          </a:p>
          <a:p>
            <a:pPr algn="ctr"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 u="sng">
                <a:solidFill>
                  <a:srgbClr val="FAFD00"/>
                </a:solidFill>
              </a:rPr>
              <a:t>Do your self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p</a:t>
            </a:r>
            <a:r>
              <a:rPr lang="en-US" altLang="en-US" sz="2800" baseline="-25000"/>
              <a:t>a</a:t>
            </a:r>
            <a:r>
              <a:rPr lang="en-US" altLang="en-US" sz="2000"/>
              <a:t> = p</a:t>
            </a:r>
            <a:r>
              <a:rPr lang="en-US" altLang="en-US" sz="2800" baseline="-25000"/>
              <a:t>a=true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</a:t>
            </a:r>
            <a:r>
              <a:rPr lang="en-US" altLang="en-US" sz="2000">
                <a:solidFill>
                  <a:srgbClr val="FAFD00"/>
                </a:solidFill>
              </a:rPr>
              <a:t>  </a:t>
            </a:r>
            <a:r>
              <a:rPr lang="en-US" altLang="en-US" sz="2000"/>
              <a:t>p</a:t>
            </a:r>
            <a:r>
              <a:rPr lang="en-US" altLang="en-US" sz="2800" baseline="-25000"/>
              <a:t>a=false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((true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b)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/>
              <a:t> (true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>
                <a:solidFill>
                  <a:schemeClr val="tx2"/>
                </a:solidFill>
              </a:rPr>
              <a:t>¬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b))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 </a:t>
            </a:r>
            <a:r>
              <a:rPr lang="en-US" altLang="en-US" sz="2000"/>
              <a:t>((false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b)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/>
              <a:t> (false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>
                <a:solidFill>
                  <a:schemeClr val="tx2"/>
                </a:solidFill>
              </a:rPr>
              <a:t>¬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b))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endParaRPr lang="en-US" altLang="en-US" sz="2000"/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(b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chemeClr val="tx2"/>
                </a:solidFill>
              </a:rPr>
              <a:t>¬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b)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 </a:t>
            </a:r>
            <a:r>
              <a:rPr lang="en-US" altLang="en-US" sz="2000"/>
              <a:t>false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true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 </a:t>
            </a:r>
            <a:r>
              <a:rPr lang="en-US" altLang="en-US" sz="2000"/>
              <a:t>false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</a:t>
            </a:r>
            <a:r>
              <a:rPr lang="en-US" altLang="en-US" sz="2000">
                <a:solidFill>
                  <a:schemeClr val="tx2"/>
                </a:solidFill>
              </a:rPr>
              <a:t>true</a:t>
            </a:r>
            <a:endParaRPr lang="en-US" altLang="en-US" sz="2000"/>
          </a:p>
        </p:txBody>
      </p:sp>
      <p:sp>
        <p:nvSpPr>
          <p:cNvPr id="249862" name="Text Box 6">
            <a:extLst>
              <a:ext uri="{FF2B5EF4-FFF2-40B4-BE49-F238E27FC236}">
                <a16:creationId xmlns:a16="http://schemas.microsoft.com/office/drawing/2014/main" id="{2C2C864F-4526-A653-9178-D3B3522F9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5627688"/>
            <a:ext cx="795655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SzTx/>
            </a:pPr>
            <a:r>
              <a:rPr lang="en-US" altLang="en-US" sz="2000"/>
              <a:t> </a:t>
            </a:r>
            <a:r>
              <a:rPr lang="en-US" altLang="en-US" sz="2000" i="1">
                <a:solidFill>
                  <a:schemeClr val="tx2"/>
                </a:solidFill>
              </a:rPr>
              <a:t>a</a:t>
            </a:r>
            <a:r>
              <a:rPr lang="en-US" altLang="en-US" sz="2000"/>
              <a:t> always determines the value of this predicate</a:t>
            </a:r>
          </a:p>
          <a:p>
            <a:pPr>
              <a:lnSpc>
                <a:spcPct val="100000"/>
              </a:lnSpc>
              <a:spcBef>
                <a:spcPct val="50000"/>
              </a:spcBef>
              <a:buSzTx/>
            </a:pPr>
            <a:r>
              <a:rPr lang="en-US" altLang="en-US" sz="2000"/>
              <a:t> </a:t>
            </a:r>
            <a:r>
              <a:rPr lang="en-US" altLang="en-US" sz="2000" i="1">
                <a:solidFill>
                  <a:schemeClr val="tx2"/>
                </a:solidFill>
              </a:rPr>
              <a:t>b</a:t>
            </a:r>
            <a:r>
              <a:rPr lang="en-US" altLang="en-US" sz="2000"/>
              <a:t> never determines the value – </a:t>
            </a:r>
            <a:r>
              <a:rPr lang="en-US" altLang="en-US" sz="2000" i="1">
                <a:solidFill>
                  <a:schemeClr val="tx2"/>
                </a:solidFill>
              </a:rPr>
              <a:t>b</a:t>
            </a:r>
            <a:r>
              <a:rPr lang="en-US" altLang="en-US" sz="2000"/>
              <a:t> is </a:t>
            </a:r>
            <a:r>
              <a:rPr lang="en-US" altLang="en-US" sz="2000">
                <a:solidFill>
                  <a:schemeClr val="tx2"/>
                </a:solidFill>
              </a:rPr>
              <a:t>irrelevant</a:t>
            </a:r>
            <a:r>
              <a:rPr lang="en-US" altLang="en-US" sz="2000"/>
              <a:t> !</a:t>
            </a:r>
          </a:p>
        </p:txBody>
      </p:sp>
      <p:sp>
        <p:nvSpPr>
          <p:cNvPr id="249863" name="Text Box 7">
            <a:extLst>
              <a:ext uri="{FF2B5EF4-FFF2-40B4-BE49-F238E27FC236}">
                <a16:creationId xmlns:a16="http://schemas.microsoft.com/office/drawing/2014/main" id="{E0DB4919-404C-D0F8-D381-DA3CC5433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3278188"/>
            <a:ext cx="7061200" cy="2430462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 u="sng">
                <a:solidFill>
                  <a:srgbClr val="FAFD00"/>
                </a:solidFill>
              </a:rPr>
              <a:t>p = ( a </a:t>
            </a:r>
            <a:r>
              <a:rPr lang="en-US" altLang="en-US" sz="2000" u="sng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 u="sng">
                <a:solidFill>
                  <a:srgbClr val="FAFD00"/>
                </a:solidFill>
              </a:rPr>
              <a:t> b ) </a:t>
            </a:r>
            <a:r>
              <a:rPr lang="en-US" altLang="en-US" sz="2000" u="sng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 u="sng">
                <a:solidFill>
                  <a:srgbClr val="FAFD00"/>
                </a:solidFill>
              </a:rPr>
              <a:t> ( a </a:t>
            </a:r>
            <a:r>
              <a:rPr lang="en-US" altLang="en-US" sz="2000" u="sng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 u="sng">
                <a:solidFill>
                  <a:srgbClr val="FAFD00"/>
                </a:solidFill>
              </a:rPr>
              <a:t> </a:t>
            </a:r>
            <a:r>
              <a:rPr lang="en-US" altLang="en-US" sz="2000" u="sng">
                <a:solidFill>
                  <a:schemeClr val="tx2"/>
                </a:solidFill>
              </a:rPr>
              <a:t>¬</a:t>
            </a:r>
            <a:r>
              <a:rPr lang="en-US" altLang="en-US" sz="2000" u="sng">
                <a:solidFill>
                  <a:srgbClr val="FAFD00"/>
                </a:solidFill>
              </a:rPr>
              <a:t> b)</a:t>
            </a:r>
          </a:p>
          <a:p>
            <a:pPr algn="ctr"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 u="sng">
                <a:solidFill>
                  <a:srgbClr val="FAFD00"/>
                </a:solidFill>
              </a:rPr>
              <a:t>Do your self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p</a:t>
            </a:r>
            <a:r>
              <a:rPr lang="en-US" altLang="en-US" sz="2800" baseline="-25000"/>
              <a:t>b</a:t>
            </a:r>
            <a:r>
              <a:rPr lang="en-US" altLang="en-US" sz="2000"/>
              <a:t> = p</a:t>
            </a:r>
            <a:r>
              <a:rPr lang="en-US" altLang="en-US" sz="2800" baseline="-25000"/>
              <a:t>b=true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</a:t>
            </a:r>
            <a:r>
              <a:rPr lang="en-US" altLang="en-US" sz="2000">
                <a:solidFill>
                  <a:srgbClr val="FAFD00"/>
                </a:solidFill>
              </a:rPr>
              <a:t>  </a:t>
            </a:r>
            <a:r>
              <a:rPr lang="en-US" altLang="en-US" sz="2000"/>
              <a:t>p</a:t>
            </a:r>
            <a:r>
              <a:rPr lang="en-US" altLang="en-US" sz="2800" baseline="-25000"/>
              <a:t>b=false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((a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true)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/>
              <a:t> (a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>
                <a:solidFill>
                  <a:schemeClr val="tx2"/>
                </a:solidFill>
              </a:rPr>
              <a:t>¬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true))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 </a:t>
            </a:r>
            <a:r>
              <a:rPr lang="en-US" altLang="en-US" sz="2000"/>
              <a:t>((a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false)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/>
              <a:t> (a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>
                <a:solidFill>
                  <a:schemeClr val="tx2"/>
                </a:solidFill>
              </a:rPr>
              <a:t>¬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r>
              <a:rPr lang="en-US" altLang="en-US" sz="2000"/>
              <a:t>false))</a:t>
            </a:r>
            <a:r>
              <a:rPr lang="en-US" altLang="en-US" sz="2000">
                <a:solidFill>
                  <a:srgbClr val="FAFD00"/>
                </a:solidFill>
              </a:rPr>
              <a:t> </a:t>
            </a:r>
            <a:endParaRPr lang="en-US" altLang="en-US" sz="2000"/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(a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/>
              <a:t> false)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 </a:t>
            </a:r>
            <a:r>
              <a:rPr lang="en-US" altLang="en-US" sz="2000"/>
              <a:t>(false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</a:t>
            </a:r>
            <a:r>
              <a:rPr lang="en-US" altLang="en-US" sz="2000"/>
              <a:t> a)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a </a:t>
            </a:r>
            <a:r>
              <a:rPr lang="en-US" altLang="en-US" sz="2000">
                <a:solidFill>
                  <a:schemeClr val="tx2"/>
                </a:solidFill>
                <a:sym typeface="Symbol" panose="05050102010706020507" pitchFamily="18" charset="2"/>
              </a:rPr>
              <a:t> </a:t>
            </a:r>
            <a:r>
              <a:rPr lang="en-US" altLang="en-US" sz="2000"/>
              <a:t>a</a:t>
            </a:r>
          </a:p>
          <a:p>
            <a:pPr>
              <a:lnSpc>
                <a:spcPct val="10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en-US" sz="2000"/>
              <a:t>     = false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1" grpId="0" build="p" animBg="1"/>
      <p:bldP spid="249862" grpId="0" build="p"/>
      <p:bldP spid="249863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Date Placeholder 3">
            <a:extLst>
              <a:ext uri="{FF2B5EF4-FFF2-40B4-BE49-F238E27FC236}">
                <a16:creationId xmlns:a16="http://schemas.microsoft.com/office/drawing/2014/main" id="{4E07AAF9-F407-9746-1E68-F5E93D03E2D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66563" name="Footer Placeholder 4">
            <a:extLst>
              <a:ext uri="{FF2B5EF4-FFF2-40B4-BE49-F238E27FC236}">
                <a16:creationId xmlns:a16="http://schemas.microsoft.com/office/drawing/2014/main" id="{469823EA-8556-5B3A-4FB4-595ED6F40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66FA3BA1-2541-CC27-59D1-B6B6D9A7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F5D74F9-93FF-4162-815C-78E48BD46940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29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66565" name="Rectangle 2">
            <a:extLst>
              <a:ext uri="{FF2B5EF4-FFF2-40B4-BE49-F238E27FC236}">
                <a16:creationId xmlns:a16="http://schemas.microsoft.com/office/drawing/2014/main" id="{5616C738-FC3E-45C8-0494-3C2E566F26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Infeasible Test Requirements</a:t>
            </a:r>
          </a:p>
        </p:txBody>
      </p:sp>
      <p:sp>
        <p:nvSpPr>
          <p:cNvPr id="66566" name="Rectangle 3">
            <a:extLst>
              <a:ext uri="{FF2B5EF4-FFF2-40B4-BE49-F238E27FC236}">
                <a16:creationId xmlns:a16="http://schemas.microsoft.com/office/drawing/2014/main" id="{34DFCD30-0CD3-A0B8-7ED4-F68B9125F4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Consider the predicate:</a:t>
            </a:r>
          </a:p>
          <a:p>
            <a:pPr algn="ctr">
              <a:buFontTx/>
              <a:buNone/>
            </a:pPr>
            <a:r>
              <a:rPr lang="en-US" altLang="en-US" i="1">
                <a:solidFill>
                  <a:schemeClr val="tx2"/>
                </a:solidFill>
              </a:rPr>
              <a:t>(a &gt; b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en-US" i="1">
                <a:solidFill>
                  <a:schemeClr val="tx2"/>
                </a:solidFill>
              </a:rPr>
              <a:t> b &gt; c) </a:t>
            </a: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en-US" i="1">
                <a:solidFill>
                  <a:schemeClr val="tx2"/>
                </a:solidFill>
              </a:rPr>
              <a:t> c &gt; a</a:t>
            </a:r>
          </a:p>
          <a:p>
            <a:r>
              <a:rPr lang="en-US" altLang="en-US" i="1">
                <a:solidFill>
                  <a:schemeClr val="tx2"/>
                </a:solidFill>
              </a:rPr>
              <a:t>(a &gt; b) = true, (b &gt; c) = true, (c &gt; a) = true</a:t>
            </a:r>
            <a:r>
              <a:rPr lang="en-US" altLang="en-US"/>
              <a:t> is </a:t>
            </a:r>
            <a:r>
              <a:rPr lang="en-US" altLang="en-US" u="sng">
                <a:solidFill>
                  <a:schemeClr val="hlink"/>
                </a:solidFill>
              </a:rPr>
              <a:t>infeasible</a:t>
            </a:r>
          </a:p>
          <a:p>
            <a:pPr lvl="1"/>
            <a:endParaRPr lang="en-US" altLang="en-US"/>
          </a:p>
          <a:p>
            <a:r>
              <a:rPr lang="en-US" altLang="en-US"/>
              <a:t>As with graph-based criteria, infeasible test requirements have to be </a:t>
            </a:r>
            <a:r>
              <a:rPr lang="en-US" altLang="en-US" u="sng">
                <a:solidFill>
                  <a:schemeClr val="tx2"/>
                </a:solidFill>
              </a:rPr>
              <a:t>recognized</a:t>
            </a:r>
            <a:r>
              <a:rPr lang="en-US" altLang="en-US"/>
              <a:t> and </a:t>
            </a:r>
            <a:r>
              <a:rPr lang="en-US" altLang="en-US" u="sng">
                <a:solidFill>
                  <a:schemeClr val="tx2"/>
                </a:solidFill>
              </a:rPr>
              <a:t>ignored</a:t>
            </a:r>
          </a:p>
          <a:p>
            <a:pPr lvl="1"/>
            <a:endParaRPr lang="en-US" altLang="en-US"/>
          </a:p>
          <a:p>
            <a:r>
              <a:rPr lang="en-US" altLang="en-US"/>
              <a:t>Recognizing infeasible test requirements is hard, and in general, </a:t>
            </a:r>
            <a:r>
              <a:rPr lang="en-US" altLang="en-US" u="sng">
                <a:solidFill>
                  <a:schemeClr val="tx2"/>
                </a:solidFill>
              </a:rPr>
              <a:t>undecidable</a:t>
            </a:r>
          </a:p>
          <a:p>
            <a:pPr lvl="1"/>
            <a:endParaRPr lang="en-US" altLang="en-US"/>
          </a:p>
          <a:p>
            <a:r>
              <a:rPr lang="en-US" altLang="en-US"/>
              <a:t>Software testing is </a:t>
            </a:r>
            <a:r>
              <a:rPr lang="en-US" altLang="en-US">
                <a:solidFill>
                  <a:schemeClr val="tx2"/>
                </a:solidFill>
              </a:rPr>
              <a:t>inexact</a:t>
            </a:r>
            <a:r>
              <a:rPr lang="en-US" altLang="en-US"/>
              <a:t> – engineering, not science</a:t>
            </a:r>
          </a:p>
          <a:p>
            <a:endParaRPr lang="en-US" altLang="en-US"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Date Placeholder 3">
            <a:extLst>
              <a:ext uri="{FF2B5EF4-FFF2-40B4-BE49-F238E27FC236}">
                <a16:creationId xmlns:a16="http://schemas.microsoft.com/office/drawing/2014/main" id="{FA59C9DA-916B-B137-DA21-E9F4CDACA3F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Introduction to Software Testing  (Ch 3)</a:t>
            </a:r>
          </a:p>
        </p:txBody>
      </p:sp>
      <p:sp>
        <p:nvSpPr>
          <p:cNvPr id="68611" name="Footer Placeholder 4">
            <a:extLst>
              <a:ext uri="{FF2B5EF4-FFF2-40B4-BE49-F238E27FC236}">
                <a16:creationId xmlns:a16="http://schemas.microsoft.com/office/drawing/2014/main" id="{B89828DC-CB68-7A65-34C2-86158BA2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en-US" sz="900" b="0"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68612" name="Slide Number Placeholder 5">
            <a:extLst>
              <a:ext uri="{FF2B5EF4-FFF2-40B4-BE49-F238E27FC236}">
                <a16:creationId xmlns:a16="http://schemas.microsoft.com/office/drawing/2014/main" id="{E475F2A0-10FD-3307-1092-C6B41274A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61AA76C0-5326-43C0-9CAD-B76B267E8125}" type="slidenum">
              <a:rPr lang="en-US" altLang="en-US" sz="900" b="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30</a:t>
            </a:fld>
            <a:endParaRPr lang="en-US" altLang="en-US" sz="900" b="0">
              <a:latin typeface="Arial" panose="020B0604020202020204" pitchFamily="34" charset="0"/>
            </a:endParaRPr>
          </a:p>
        </p:txBody>
      </p:sp>
      <p:sp>
        <p:nvSpPr>
          <p:cNvPr id="68613" name="Rectangle 2">
            <a:extLst>
              <a:ext uri="{FF2B5EF4-FFF2-40B4-BE49-F238E27FC236}">
                <a16:creationId xmlns:a16="http://schemas.microsoft.com/office/drawing/2014/main" id="{DD609714-7078-5C14-D5BA-1A907ED02F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Logic Coverage Summary</a:t>
            </a:r>
          </a:p>
        </p:txBody>
      </p:sp>
      <p:sp>
        <p:nvSpPr>
          <p:cNvPr id="239619" name="Rectangle 3">
            <a:extLst>
              <a:ext uri="{FF2B5EF4-FFF2-40B4-BE49-F238E27FC236}">
                <a16:creationId xmlns:a16="http://schemas.microsoft.com/office/drawing/2014/main" id="{566FDF0F-1100-B7F0-1C81-A128461373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63" y="1266825"/>
            <a:ext cx="8956675" cy="5186363"/>
          </a:xfrm>
        </p:spPr>
        <p:txBody>
          <a:bodyPr/>
          <a:lstStyle/>
          <a:p>
            <a:r>
              <a:rPr lang="en-US" altLang="en-US"/>
              <a:t>Predicates are often </a:t>
            </a:r>
            <a:r>
              <a:rPr lang="en-US" altLang="en-US">
                <a:solidFill>
                  <a:schemeClr val="tx2"/>
                </a:solidFill>
              </a:rPr>
              <a:t>very simple</a:t>
            </a:r>
            <a:r>
              <a:rPr lang="en-US" altLang="en-US"/>
              <a:t>—in practice, most have less than 3 clauses</a:t>
            </a:r>
          </a:p>
          <a:p>
            <a:pPr lvl="1"/>
            <a:r>
              <a:rPr lang="en-US" altLang="en-US"/>
              <a:t>In fact, most predicates only have one clause !</a:t>
            </a:r>
          </a:p>
          <a:p>
            <a:pPr lvl="1"/>
            <a:r>
              <a:rPr lang="en-US" altLang="en-US"/>
              <a:t>With only clause, PC is enough</a:t>
            </a:r>
          </a:p>
          <a:p>
            <a:pPr lvl="1"/>
            <a:r>
              <a:rPr lang="en-US" altLang="en-US"/>
              <a:t>With 2 or 3 clauses, CoC is practical</a:t>
            </a:r>
          </a:p>
          <a:p>
            <a:pPr lvl="1"/>
            <a:r>
              <a:rPr lang="en-US" altLang="en-US"/>
              <a:t>Advantages of ACC and ICC criteria significant for large predicates</a:t>
            </a:r>
          </a:p>
          <a:p>
            <a:pPr lvl="2"/>
            <a:r>
              <a:rPr lang="en-US" altLang="en-US"/>
              <a:t>CoC is impractical for predicates with many clauses</a:t>
            </a:r>
          </a:p>
          <a:p>
            <a:pPr lvl="2"/>
            <a:endParaRPr lang="en-US" altLang="en-US"/>
          </a:p>
          <a:p>
            <a:r>
              <a:rPr lang="en-US" altLang="en-US">
                <a:solidFill>
                  <a:schemeClr val="tx2"/>
                </a:solidFill>
              </a:rPr>
              <a:t>Control software</a:t>
            </a:r>
            <a:r>
              <a:rPr lang="en-US" altLang="en-US"/>
              <a:t> often has many complicated predicates, with lots of clauses</a:t>
            </a:r>
          </a:p>
          <a:p>
            <a:pPr lvl="1"/>
            <a:endParaRPr lang="en-US" altLang="en-US"/>
          </a:p>
          <a:p>
            <a:r>
              <a:rPr lang="en-US" altLang="en-US">
                <a:solidFill>
                  <a:schemeClr val="tx2"/>
                </a:solidFill>
              </a:rPr>
              <a:t>Question</a:t>
            </a:r>
            <a:r>
              <a:rPr lang="en-US" altLang="en-US"/>
              <a:t> … why don’t complexity metrics count the number of clauses in predicates?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build="p"/>
    </p:bldLst>
  </p:timing>
</p:sld>
</file>

<file path=ppt/theme/theme1.xml><?xml version="1.0" encoding="utf-8"?>
<a:theme xmlns:a="http://schemas.openxmlformats.org/drawingml/2006/main" name="intro">
  <a:themeElements>
    <a:clrScheme name="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0033"/>
      </a:hlink>
      <a:folHlink>
        <a:srgbClr val="969696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7525</TotalTime>
  <Pages>49</Pages>
  <Words>3597</Words>
  <Application>Microsoft Office PowerPoint</Application>
  <PresentationFormat>On-screen Show (4:3)</PresentationFormat>
  <Paragraphs>572</Paragraphs>
  <Slides>30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Times New Roman</vt:lpstr>
      <vt:lpstr>Arial</vt:lpstr>
      <vt:lpstr>Wingdings</vt:lpstr>
      <vt:lpstr>Comic Sans MS</vt:lpstr>
      <vt:lpstr>Symbol</vt:lpstr>
      <vt:lpstr>Sylfaen</vt:lpstr>
      <vt:lpstr>intro</vt:lpstr>
      <vt:lpstr>Introduction to Software Testing Chapter 3.1, 3.2  Logic Coverage</vt:lpstr>
      <vt:lpstr>Ch. 3 : Logic Coverage</vt:lpstr>
      <vt:lpstr>Covering Logic Expressions (3.1)</vt:lpstr>
      <vt:lpstr>Logic Predicates and Clauses</vt:lpstr>
      <vt:lpstr>Examples</vt:lpstr>
      <vt:lpstr>Translating from English</vt:lpstr>
      <vt:lpstr>Testing and Covering Predicates (3.2)</vt:lpstr>
      <vt:lpstr>Predicate and Clause Coverage</vt:lpstr>
      <vt:lpstr>Predicate Coverage Example</vt:lpstr>
      <vt:lpstr>Clause Coverage Example</vt:lpstr>
      <vt:lpstr>Problems with PC and CC</vt:lpstr>
      <vt:lpstr>Combinatorial Coverage</vt:lpstr>
      <vt:lpstr>Combinatorial Coverage</vt:lpstr>
      <vt:lpstr>Active Clauses</vt:lpstr>
      <vt:lpstr>Determining Predicates</vt:lpstr>
      <vt:lpstr>Active Clause Coverage</vt:lpstr>
      <vt:lpstr>Resolving the Ambiguity</vt:lpstr>
      <vt:lpstr>General Active Clause Coverage</vt:lpstr>
      <vt:lpstr>Restricted Active Clause Coverage</vt:lpstr>
      <vt:lpstr>Correlated Active Clause Coverage</vt:lpstr>
      <vt:lpstr>CACC and RACC</vt:lpstr>
      <vt:lpstr>Inactive Clause Coverage</vt:lpstr>
      <vt:lpstr>General and Restricted ICC</vt:lpstr>
      <vt:lpstr>Logic Coverage Criteria Subsumption </vt:lpstr>
      <vt:lpstr>Making Clauses Determine a Predicate</vt:lpstr>
      <vt:lpstr>Examples</vt:lpstr>
      <vt:lpstr>Repeated Variables</vt:lpstr>
      <vt:lpstr>A More Subtle Example</vt:lpstr>
      <vt:lpstr>Infeasible Test Requirements</vt:lpstr>
      <vt:lpstr>Logic Coverage Summary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Logic Coverage</dc:title>
  <dc:subject/>
  <dc:creator>Jeff Offutt</dc:creator>
  <cp:keywords/>
  <dc:description/>
  <cp:lastModifiedBy>Saqib Bedar</cp:lastModifiedBy>
  <cp:revision>236</cp:revision>
  <cp:lastPrinted>1996-04-04T10:27:56Z</cp:lastPrinted>
  <dcterms:created xsi:type="dcterms:W3CDTF">1996-06-15T03:21:08Z</dcterms:created>
  <dcterms:modified xsi:type="dcterms:W3CDTF">2026-05-13T16:27:32Z</dcterms:modified>
</cp:coreProperties>
</file>