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12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ResNet-50 (pretrained)</c:v>
                </c:pt>
              </c:strCache>
            </c:strRef>
          </c:tx>
          <c:spPr>
            <a:solidFill>
              <a:srgbClr val="6E7B5B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Ajwa</c:v>
                </c:pt>
                <c:pt idx="1">
                  <c:v>Aseel</c:v>
                </c:pt>
                <c:pt idx="2">
                  <c:v>Fasli-Toto</c:v>
                </c:pt>
                <c:pt idx="3">
                  <c:v>Galaxy</c:v>
                </c:pt>
                <c:pt idx="4">
                  <c:v>Medjool</c:v>
                </c:pt>
                <c:pt idx="5">
                  <c:v>Meneifi</c:v>
                </c:pt>
                <c:pt idx="6">
                  <c:v>Nabtat-Ali</c:v>
                </c:pt>
                <c:pt idx="7">
                  <c:v>Shaishe</c:v>
                </c:pt>
                <c:pt idx="8">
                  <c:v>Sokari</c:v>
                </c:pt>
                <c:pt idx="9">
                  <c:v>Sugaey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</c:v>
                </c:pt>
                <c:pt idx="1">
                  <c:v>0.99099999999999999</c:v>
                </c:pt>
                <c:pt idx="2">
                  <c:v>0.99099999999999999</c:v>
                </c:pt>
                <c:pt idx="3">
                  <c:v>0.88</c:v>
                </c:pt>
                <c:pt idx="4">
                  <c:v>0.91800000000000004</c:v>
                </c:pt>
                <c:pt idx="5">
                  <c:v>0.80400000000000005</c:v>
                </c:pt>
                <c:pt idx="6">
                  <c:v>0.97699999999999998</c:v>
                </c:pt>
                <c:pt idx="7">
                  <c:v>0.99099999999999999</c:v>
                </c:pt>
                <c:pt idx="8">
                  <c:v>0.93300000000000005</c:v>
                </c:pt>
                <c:pt idx="9">
                  <c:v>0.88900000000000001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2F-4281-875A-A45BD5C362B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CustomDateCNN (scratch)</c:v>
                </c:pt>
              </c:strCache>
            </c:strRef>
          </c:tx>
          <c:spPr>
            <a:solidFill>
              <a:srgbClr val="C8791E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Ajwa</c:v>
                </c:pt>
                <c:pt idx="1">
                  <c:v>Aseel</c:v>
                </c:pt>
                <c:pt idx="2">
                  <c:v>Fasli-Toto</c:v>
                </c:pt>
                <c:pt idx="3">
                  <c:v>Galaxy</c:v>
                </c:pt>
                <c:pt idx="4">
                  <c:v>Medjool</c:v>
                </c:pt>
                <c:pt idx="5">
                  <c:v>Meneifi</c:v>
                </c:pt>
                <c:pt idx="6">
                  <c:v>Nabtat-Ali</c:v>
                </c:pt>
                <c:pt idx="7">
                  <c:v>Shaishe</c:v>
                </c:pt>
                <c:pt idx="8">
                  <c:v>Sokari</c:v>
                </c:pt>
                <c:pt idx="9">
                  <c:v>Sugaey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</c:v>
                </c:pt>
                <c:pt idx="1">
                  <c:v>0.99099999999999999</c:v>
                </c:pt>
                <c:pt idx="2">
                  <c:v>0.99099999999999999</c:v>
                </c:pt>
                <c:pt idx="3">
                  <c:v>0.94299999999999995</c:v>
                </c:pt>
                <c:pt idx="4">
                  <c:v>0.95299999999999996</c:v>
                </c:pt>
                <c:pt idx="5">
                  <c:v>0.92800000000000005</c:v>
                </c:pt>
                <c:pt idx="6">
                  <c:v>0.97699999999999998</c:v>
                </c:pt>
                <c:pt idx="7">
                  <c:v>0.98599999999999999</c:v>
                </c:pt>
                <c:pt idx="8">
                  <c:v>0.98099999999999998</c:v>
                </c:pt>
                <c:pt idx="9">
                  <c:v>0.93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2F-4281-875A-A45BD5C362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241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7"/>
        </c:scaling>
        <c:delete val="0"/>
        <c:axPos val="l"/>
        <c:majorGridlines>
          <c:spPr>
            <a:ln w="6350" cap="flat">
              <a:solidFill>
                <a:srgbClr val="E8DEC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C7A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3A241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3T14:24:33.9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51 72 0 0,'3'-2'948'0'0,"7"-9"-167"0"0,-8 8-165 0 0,1 1-171 0 0,9-9-79 0 0,-9 8 352 0 0,-1 0-590 0 0,6-8-34 0 0,-6 7-2457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4332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6A725-6C78-BB05-E487-06F7B1C0A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8741DF-7C9F-8185-04B2-6D703B22A3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85EF6F-C959-3074-6FA8-D118137F7C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6D435-AC31-014D-ED1D-04D1F27479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3729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2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194560"/>
            <a:ext cx="4937760" cy="4937760"/>
          </a:xfrm>
          <a:prstGeom prst="ellipse">
            <a:avLst/>
          </a:prstGeom>
          <a:solidFill>
            <a:srgbClr val="9A5A12">
              <a:alpha val="3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332720" y="-1280160"/>
            <a:ext cx="3108960" cy="3108960"/>
          </a:xfrm>
          <a:prstGeom prst="ellipse">
            <a:avLst/>
          </a:prstGeom>
          <a:solidFill>
            <a:srgbClr val="C8791E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0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 ·  IMAGE CLASSIFICATION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Bookman Old Style" pitchFamily="34" charset="0"/>
              </a:rPr>
              <a:t>Date Fruit Classification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77240" y="23957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E4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classification of date-fruit varieties from photographs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77240" y="3200400"/>
            <a:ext cx="6903720" cy="2788920"/>
          </a:xfrm>
          <a:prstGeom prst="roundRect">
            <a:avLst>
              <a:gd name="adj" fmla="val 3934"/>
            </a:avLst>
          </a:prstGeom>
          <a:solidFill>
            <a:srgbClr val="3A2417"/>
          </a:solidFill>
          <a:ln w="12700">
            <a:solidFill>
              <a:srgbClr val="9A5A1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1097280" y="3493008"/>
            <a:ext cx="457200" cy="457200"/>
          </a:xfrm>
          <a:prstGeom prst="ellipse">
            <a:avLst/>
          </a:prstGeom>
          <a:solidFill>
            <a:srgbClr val="C879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3602736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91640" y="34930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0A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097280" y="4069080"/>
            <a:ext cx="6263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400" dirty="0">
                <a:solidFill>
                  <a:schemeClr val="bg1"/>
                </a:solidFill>
              </a:rPr>
              <a:t>This project solves a </a:t>
            </a:r>
            <a:r>
              <a:rPr lang="en-US" sz="1400" b="1" dirty="0">
                <a:solidFill>
                  <a:schemeClr val="bg1"/>
                </a:solidFill>
              </a:rPr>
              <a:t>visual classification problem</a:t>
            </a:r>
            <a:r>
              <a:rPr lang="en-US" sz="1400" dirty="0">
                <a:solidFill>
                  <a:schemeClr val="bg1"/>
                </a:solidFill>
              </a:rPr>
              <a:t>: identifying the variety of a date fruit from its image.</a:t>
            </a:r>
          </a:p>
          <a:p>
            <a:pPr>
              <a:lnSpc>
                <a:spcPct val="105000"/>
              </a:lnSpc>
            </a:pP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sorting is slow, inconsistent and needs an expert. The goal: a model that takes one photo of a single date and names its variety automatically.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2" name="Shape 9"/>
          <p:cNvSpPr/>
          <p:nvPr/>
        </p:nvSpPr>
        <p:spPr>
          <a:xfrm>
            <a:off x="7955280" y="3200400"/>
            <a:ext cx="3429000" cy="841248"/>
          </a:xfrm>
          <a:prstGeom prst="roundRect">
            <a:avLst>
              <a:gd name="adj" fmla="val 10870"/>
            </a:avLst>
          </a:prstGeom>
          <a:solidFill>
            <a:srgbClr val="3A2417"/>
          </a:solidFill>
          <a:ln w="12700">
            <a:solidFill>
              <a:srgbClr val="9A5A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183880" y="3255264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0A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9646920" y="3255264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4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varieties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955280" y="4178808"/>
            <a:ext cx="3429000" cy="841248"/>
          </a:xfrm>
          <a:prstGeom prst="roundRect">
            <a:avLst>
              <a:gd name="adj" fmla="val 10870"/>
            </a:avLst>
          </a:prstGeom>
          <a:solidFill>
            <a:srgbClr val="3A2417"/>
          </a:solidFill>
          <a:ln w="12700">
            <a:solidFill>
              <a:srgbClr val="9A5A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183880" y="4233672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0A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7,000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9646920" y="423367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4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photos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955280" y="5157216"/>
            <a:ext cx="3429000" cy="841248"/>
          </a:xfrm>
          <a:prstGeom prst="roundRect">
            <a:avLst>
              <a:gd name="adj" fmla="val 10870"/>
            </a:avLst>
          </a:prstGeom>
          <a:solidFill>
            <a:srgbClr val="3A2417"/>
          </a:solidFill>
          <a:ln w="12700">
            <a:solidFill>
              <a:srgbClr val="9A5A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183880" y="52120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0A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9646920" y="52120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4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per image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77240" y="6263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Hamza Khan Tariq and Muhammad Saqib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9EE72-B932-1EC9-4BF7-2372AC7DC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4373278-A043-E07B-1B82-B6CDB5D84903}"/>
              </a:ext>
            </a:extLst>
          </p:cNvPr>
          <p:cNvSpPr/>
          <p:nvPr/>
        </p:nvSpPr>
        <p:spPr>
          <a:xfrm>
            <a:off x="9509760" y="-2194560"/>
            <a:ext cx="4937760" cy="4937760"/>
          </a:xfrm>
          <a:prstGeom prst="ellipse">
            <a:avLst/>
          </a:prstGeom>
          <a:solidFill>
            <a:srgbClr val="9A5A12">
              <a:alpha val="3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19F3506-7B17-4265-48B1-0219A9EE8E22}"/>
              </a:ext>
            </a:extLst>
          </p:cNvPr>
          <p:cNvSpPr/>
          <p:nvPr/>
        </p:nvSpPr>
        <p:spPr>
          <a:xfrm>
            <a:off x="10332720" y="-1280160"/>
            <a:ext cx="3108960" cy="3108960"/>
          </a:xfrm>
          <a:prstGeom prst="ellipse">
            <a:avLst/>
          </a:prstGeom>
          <a:solidFill>
            <a:srgbClr val="C8791E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FF0AF82-0FCB-5D30-B473-DDC4E5AE3C45}"/>
              </a:ext>
            </a:extLst>
          </p:cNvPr>
          <p:cNvSpPr/>
          <p:nvPr/>
        </p:nvSpPr>
        <p:spPr>
          <a:xfrm>
            <a:off x="500699" y="246085"/>
            <a:ext cx="871432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>
                <a:latin typeface="Bookman Old Style" panose="02050604050505020204" pitchFamily="18" charset="0"/>
              </a:rPr>
              <a:t>Applications:</a:t>
            </a:r>
            <a:endParaRPr lang="en-US" sz="5200" b="1" dirty="0">
              <a:latin typeface="Bookman Old Style" panose="020506040505050202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E77E4AF-9C79-75D9-C812-7A95A7E2CC4C}"/>
              </a:ext>
            </a:extLst>
          </p:cNvPr>
          <p:cNvSpPr txBox="1"/>
          <p:nvPr/>
        </p:nvSpPr>
        <p:spPr>
          <a:xfrm>
            <a:off x="500699" y="1369825"/>
            <a:ext cx="900906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Farmers</a:t>
            </a:r>
          </a:p>
          <a:p>
            <a:r>
              <a:rPr lang="en-US" dirty="0"/>
              <a:t>   To identify or verify date varieties.</a:t>
            </a:r>
          </a:p>
          <a:p>
            <a:endParaRPr lang="en-US" dirty="0"/>
          </a:p>
          <a:p>
            <a:r>
              <a:rPr lang="en-US" dirty="0"/>
              <a:t>2. Sellers/exporters</a:t>
            </a:r>
          </a:p>
          <a:p>
            <a:r>
              <a:rPr lang="en-US" dirty="0"/>
              <a:t>   To classify date types before packaging or selling.</a:t>
            </a:r>
          </a:p>
          <a:p>
            <a:endParaRPr lang="en-US" dirty="0"/>
          </a:p>
          <a:p>
            <a:r>
              <a:rPr lang="en-US" dirty="0"/>
              <a:t>3. Food processing companies</a:t>
            </a:r>
          </a:p>
          <a:p>
            <a:r>
              <a:rPr lang="en-US" dirty="0"/>
              <a:t>   To automate sorting and labeling.</a:t>
            </a:r>
          </a:p>
          <a:p>
            <a:endParaRPr lang="en-US" dirty="0"/>
          </a:p>
          <a:p>
            <a:r>
              <a:rPr lang="en-US" dirty="0"/>
              <a:t>4. E-commerce platforms</a:t>
            </a:r>
          </a:p>
          <a:p>
            <a:r>
              <a:rPr lang="en-US" dirty="0"/>
              <a:t>   To help label product images correctly.</a:t>
            </a:r>
          </a:p>
          <a:p>
            <a:endParaRPr lang="en-US" dirty="0"/>
          </a:p>
          <a:p>
            <a:r>
              <a:rPr lang="en-US" dirty="0"/>
              <a:t>5. Students/researchers</a:t>
            </a:r>
          </a:p>
          <a:p>
            <a:r>
              <a:rPr lang="en-US" dirty="0"/>
              <a:t>   To study computer vision and agricultural AI.</a:t>
            </a:r>
          </a:p>
          <a:p>
            <a:endParaRPr lang="en-US" dirty="0"/>
          </a:p>
          <a:p>
            <a:r>
              <a:rPr lang="en-US" dirty="0"/>
              <a:t>6. Buyers/inspectors</a:t>
            </a:r>
          </a:p>
          <a:p>
            <a:r>
              <a:rPr lang="en-US" dirty="0"/>
              <a:t>   To check whether a product visually matches the claimed variety.</a:t>
            </a:r>
          </a:p>
        </p:txBody>
      </p:sp>
    </p:spTree>
    <p:extLst>
      <p:ext uri="{BB962C8B-B14F-4D97-AF65-F5344CB8AC3E}">
        <p14:creationId xmlns:p14="http://schemas.microsoft.com/office/powerpoint/2010/main" val="1664778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C8791E"/>
          </a:solidFill>
          <a:ln/>
          <a:effectLst>
            <a:outerShdw blurRad="101600" dist="38100" dir="162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448056"/>
            <a:ext cx="7315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Dataset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10789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7,000 studio photos · 700 per class · perfectly balanced · split 70 / 15 / 15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3796" y="1719072"/>
            <a:ext cx="1755648" cy="249631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" y="1783080"/>
            <a:ext cx="1627632" cy="16276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17804" y="3456432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A5A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Ajwa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99516" y="3758184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8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near-black, deeply wrinkled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473452" y="1719072"/>
            <a:ext cx="1755648" cy="249631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7460" y="1783080"/>
            <a:ext cx="1627632" cy="16276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37460" y="3456432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A5A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Medjool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519172" y="3758184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8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glossy, amber-brown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293108" y="1719072"/>
            <a:ext cx="1755648" cy="249631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7116" y="1783080"/>
            <a:ext cx="1627632" cy="16276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357116" y="3456432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A5A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Fasli-Toto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338828" y="3758184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8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&amp; plump, dark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112764" y="1719072"/>
            <a:ext cx="1755648" cy="249631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6772" y="1783080"/>
            <a:ext cx="1627632" cy="16276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176772" y="3456432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A5A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Sokari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158484" y="3758184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8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 gold, split skin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7932420" y="1719072"/>
            <a:ext cx="1755648" cy="249631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6428" y="1783080"/>
            <a:ext cx="1627632" cy="16276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996428" y="3456432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A5A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Galaxy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7978140" y="3758184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8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slender, reddish-brown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9752076" y="1719072"/>
            <a:ext cx="1755648" cy="249631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16084" y="1783080"/>
            <a:ext cx="1627632" cy="162763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816084" y="3456432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A5A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Sugaey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9797796" y="3758184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8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two-tone, matte</a:t>
            </a:r>
            <a:endParaRPr lang="en-US" sz="950" dirty="0"/>
          </a:p>
        </p:txBody>
      </p:sp>
      <p:sp>
        <p:nvSpPr>
          <p:cNvPr id="31" name="Shape 23"/>
          <p:cNvSpPr/>
          <p:nvPr/>
        </p:nvSpPr>
        <p:spPr>
          <a:xfrm>
            <a:off x="457200" y="544068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4"/>
          <p:cNvSpPr/>
          <p:nvPr/>
        </p:nvSpPr>
        <p:spPr>
          <a:xfrm>
            <a:off x="658368" y="5678424"/>
            <a:ext cx="384048" cy="384048"/>
          </a:xfrm>
          <a:prstGeom prst="ellipse">
            <a:avLst/>
          </a:prstGeom>
          <a:solidFill>
            <a:srgbClr val="C879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5"/>
          <p:cNvSpPr/>
          <p:nvPr/>
        </p:nvSpPr>
        <p:spPr>
          <a:xfrm>
            <a:off x="1188720" y="550468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700</a:t>
            </a:r>
            <a:endParaRPr lang="en-US" sz="2400" dirty="0"/>
          </a:p>
        </p:txBody>
      </p:sp>
      <p:sp>
        <p:nvSpPr>
          <p:cNvPr id="34" name="Text 26"/>
          <p:cNvSpPr/>
          <p:nvPr/>
        </p:nvSpPr>
        <p:spPr>
          <a:xfrm>
            <a:off x="1188720" y="594360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8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/ class</a:t>
            </a:r>
            <a:endParaRPr lang="en-US" sz="1150" dirty="0"/>
          </a:p>
        </p:txBody>
      </p:sp>
      <p:sp>
        <p:nvSpPr>
          <p:cNvPr id="35" name="Shape 27"/>
          <p:cNvSpPr/>
          <p:nvPr/>
        </p:nvSpPr>
        <p:spPr>
          <a:xfrm>
            <a:off x="3337560" y="544068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28"/>
          <p:cNvSpPr/>
          <p:nvPr/>
        </p:nvSpPr>
        <p:spPr>
          <a:xfrm>
            <a:off x="3538728" y="5678424"/>
            <a:ext cx="384048" cy="384048"/>
          </a:xfrm>
          <a:prstGeom prst="ellipse">
            <a:avLst/>
          </a:prstGeom>
          <a:solidFill>
            <a:srgbClr val="6E7B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29"/>
          <p:cNvSpPr/>
          <p:nvPr/>
        </p:nvSpPr>
        <p:spPr>
          <a:xfrm>
            <a:off x="4069080" y="550468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4,890</a:t>
            </a:r>
            <a:endParaRPr lang="en-US" sz="2400" dirty="0"/>
          </a:p>
        </p:txBody>
      </p:sp>
      <p:sp>
        <p:nvSpPr>
          <p:cNvPr id="38" name="Text 30"/>
          <p:cNvSpPr/>
          <p:nvPr/>
        </p:nvSpPr>
        <p:spPr>
          <a:xfrm>
            <a:off x="4069080" y="594360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8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50" dirty="0"/>
          </a:p>
        </p:txBody>
      </p:sp>
      <p:sp>
        <p:nvSpPr>
          <p:cNvPr id="39" name="Shape 31"/>
          <p:cNvSpPr/>
          <p:nvPr/>
        </p:nvSpPr>
        <p:spPr>
          <a:xfrm>
            <a:off x="6217920" y="544068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2"/>
          <p:cNvSpPr/>
          <p:nvPr/>
        </p:nvSpPr>
        <p:spPr>
          <a:xfrm>
            <a:off x="6419088" y="5678424"/>
            <a:ext cx="384048" cy="384048"/>
          </a:xfrm>
          <a:prstGeom prst="ellipse">
            <a:avLst/>
          </a:prstGeom>
          <a:solidFill>
            <a:srgbClr val="9A5A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3"/>
          <p:cNvSpPr/>
          <p:nvPr/>
        </p:nvSpPr>
        <p:spPr>
          <a:xfrm>
            <a:off x="6949440" y="550468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1,050</a:t>
            </a:r>
            <a:endParaRPr lang="en-US" sz="2400" dirty="0"/>
          </a:p>
        </p:txBody>
      </p:sp>
      <p:sp>
        <p:nvSpPr>
          <p:cNvPr id="42" name="Text 34"/>
          <p:cNvSpPr/>
          <p:nvPr/>
        </p:nvSpPr>
        <p:spPr>
          <a:xfrm>
            <a:off x="6949440" y="594360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8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50" dirty="0"/>
          </a:p>
        </p:txBody>
      </p:sp>
      <p:sp>
        <p:nvSpPr>
          <p:cNvPr id="43" name="Shape 35"/>
          <p:cNvSpPr/>
          <p:nvPr/>
        </p:nvSpPr>
        <p:spPr>
          <a:xfrm>
            <a:off x="9098280" y="544068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36"/>
          <p:cNvSpPr/>
          <p:nvPr/>
        </p:nvSpPr>
        <p:spPr>
          <a:xfrm>
            <a:off x="9299448" y="5678424"/>
            <a:ext cx="384048" cy="384048"/>
          </a:xfrm>
          <a:prstGeom prst="ellipse">
            <a:avLst/>
          </a:prstGeom>
          <a:solidFill>
            <a:srgbClr val="8A3A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37"/>
          <p:cNvSpPr/>
          <p:nvPr/>
        </p:nvSpPr>
        <p:spPr>
          <a:xfrm>
            <a:off x="9829800" y="550468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1,060</a:t>
            </a:r>
            <a:endParaRPr lang="en-US" sz="2400" dirty="0"/>
          </a:p>
        </p:txBody>
      </p:sp>
      <p:sp>
        <p:nvSpPr>
          <p:cNvPr id="46" name="Text 38"/>
          <p:cNvSpPr/>
          <p:nvPr/>
        </p:nvSpPr>
        <p:spPr>
          <a:xfrm>
            <a:off x="9829800" y="594360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8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(held out)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C8791E"/>
          </a:solidFill>
          <a:ln/>
          <a:effectLst>
            <a:outerShdw blurRad="101600" dist="38100" dir="162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448056"/>
            <a:ext cx="8229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Two Models, One Task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10789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and compared two very different approaches to the same 10-class problem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34924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5349240" cy="1051560"/>
          </a:xfrm>
          <a:prstGeom prst="roundRect">
            <a:avLst>
              <a:gd name="adj" fmla="val 10435"/>
            </a:avLst>
          </a:prstGeom>
          <a:solidFill>
            <a:srgbClr val="6E7B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2240280"/>
            <a:ext cx="5349240" cy="502920"/>
          </a:xfrm>
          <a:prstGeom prst="rect">
            <a:avLst/>
          </a:prstGeom>
          <a:solidFill>
            <a:srgbClr val="6E7B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32688" y="1947672"/>
            <a:ext cx="530352" cy="530352"/>
          </a:xfrm>
          <a:prstGeom prst="ellipse">
            <a:avLst/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2075688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45920" y="1856232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· TRANSFER LEARNING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645920" y="21488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ResNet-50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960120" y="289864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E7B5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23.5 M  </a:t>
            </a:r>
            <a:r>
              <a:rPr lang="en-US" sz="1200" dirty="0">
                <a:solidFill>
                  <a:srgbClr val="8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960120" y="335584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224 × 224 RGB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87552" y="3858768"/>
            <a:ext cx="146304" cy="146304"/>
          </a:xfrm>
          <a:prstGeom prst="ellipse">
            <a:avLst/>
          </a:prstGeom>
          <a:solidFill>
            <a:srgbClr val="6E7B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243584" y="3739896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Backbone  </a:t>
            </a:r>
            <a:r>
              <a:rPr lang="en-US" sz="1200" dirty="0">
                <a:solidFill>
                  <a:srgbClr val="8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weights, kept as feature extractor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987552" y="4297680"/>
            <a:ext cx="146304" cy="146304"/>
          </a:xfrm>
          <a:prstGeom prst="ellipse">
            <a:avLst/>
          </a:prstGeom>
          <a:solidFill>
            <a:srgbClr val="6E7B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243584" y="4178808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Stage 1  </a:t>
            </a:r>
            <a:r>
              <a:rPr lang="en-US" sz="1200" dirty="0">
                <a:solidFill>
                  <a:srgbClr val="8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backbone, train new head only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987552" y="4736592"/>
            <a:ext cx="146304" cy="146304"/>
          </a:xfrm>
          <a:prstGeom prst="ellipse">
            <a:avLst/>
          </a:prstGeom>
          <a:solidFill>
            <a:srgbClr val="6E7B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243584" y="461772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Stage 2  </a:t>
            </a:r>
            <a:r>
              <a:rPr lang="en-US" sz="1200" dirty="0">
                <a:solidFill>
                  <a:srgbClr val="8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unfreeze layer4 + head, fine-tune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987552" y="5175504"/>
            <a:ext cx="146304" cy="146304"/>
          </a:xfrm>
          <a:prstGeom prst="ellipse">
            <a:avLst/>
          </a:prstGeom>
          <a:solidFill>
            <a:srgbClr val="6E7B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243584" y="5056632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New head  </a:t>
            </a:r>
            <a:r>
              <a:rPr lang="en-US" sz="1200" dirty="0">
                <a:solidFill>
                  <a:srgbClr val="8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0.3 → Linear (2048 → 10)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987552" y="5614416"/>
            <a:ext cx="146304" cy="146304"/>
          </a:xfrm>
          <a:prstGeom prst="ellipse">
            <a:avLst/>
          </a:prstGeom>
          <a:solidFill>
            <a:srgbClr val="6E7B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1243584" y="549554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Tricks  </a:t>
            </a:r>
            <a:r>
              <a:rPr lang="en-US" sz="1200" dirty="0">
                <a:solidFill>
                  <a:srgbClr val="8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discriminative LRs, mixed precision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172200" y="1691640"/>
            <a:ext cx="534924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6172200" y="1691640"/>
            <a:ext cx="5349240" cy="1051560"/>
          </a:xfrm>
          <a:prstGeom prst="roundRect">
            <a:avLst>
              <a:gd name="adj" fmla="val 10435"/>
            </a:avLst>
          </a:prstGeom>
          <a:solidFill>
            <a:srgbClr val="C879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6172200" y="2240280"/>
            <a:ext cx="5349240" cy="502920"/>
          </a:xfrm>
          <a:prstGeom prst="rect">
            <a:avLst/>
          </a:prstGeom>
          <a:solidFill>
            <a:srgbClr val="C879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6464808" y="1947672"/>
            <a:ext cx="530352" cy="530352"/>
          </a:xfrm>
          <a:prstGeom prst="ellipse">
            <a:avLst/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4" y="2075688"/>
            <a:ext cx="274320" cy="27432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7178040" y="1856232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· BUILT FROM SCRATCH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7178040" y="21488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CustomDateCNN</a:t>
            </a:r>
            <a:endParaRPr lang="en-US" sz="2100" dirty="0"/>
          </a:p>
        </p:txBody>
      </p:sp>
      <p:sp>
        <p:nvSpPr>
          <p:cNvPr id="33" name="Text 29"/>
          <p:cNvSpPr/>
          <p:nvPr/>
        </p:nvSpPr>
        <p:spPr>
          <a:xfrm>
            <a:off x="6492240" y="289864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879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392 K  </a:t>
            </a:r>
            <a:r>
              <a:rPr lang="en-US" sz="1200" dirty="0">
                <a:solidFill>
                  <a:srgbClr val="8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2600" dirty="0"/>
          </a:p>
        </p:txBody>
      </p:sp>
      <p:sp>
        <p:nvSpPr>
          <p:cNvPr id="34" name="Text 30"/>
          <p:cNvSpPr/>
          <p:nvPr/>
        </p:nvSpPr>
        <p:spPr>
          <a:xfrm>
            <a:off x="6492240" y="335584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128 × 128 RGB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6519672" y="3858768"/>
            <a:ext cx="146304" cy="146304"/>
          </a:xfrm>
          <a:prstGeom prst="ellipse">
            <a:avLst/>
          </a:prstGeom>
          <a:solidFill>
            <a:srgbClr val="C879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/>
          <p:nvPr/>
        </p:nvSpPr>
        <p:spPr>
          <a:xfrm>
            <a:off x="6775704" y="3739896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Design  </a:t>
            </a:r>
            <a:r>
              <a:rPr lang="en-US" sz="1200" dirty="0">
                <a:solidFill>
                  <a:srgbClr val="8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conv blocks, 32 → 64 → 128 → 256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6519672" y="4297680"/>
            <a:ext cx="146304" cy="146304"/>
          </a:xfrm>
          <a:prstGeom prst="ellipse">
            <a:avLst/>
          </a:prstGeom>
          <a:solidFill>
            <a:srgbClr val="C879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6775704" y="4178808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Each block  </a:t>
            </a:r>
            <a:r>
              <a:rPr lang="en-US" sz="1200" dirty="0">
                <a:solidFill>
                  <a:srgbClr val="8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3×3 → BatchNorm → ReLU → MaxPool</a:t>
            </a:r>
            <a:endParaRPr lang="en-US" sz="1300" dirty="0"/>
          </a:p>
        </p:txBody>
      </p:sp>
      <p:sp>
        <p:nvSpPr>
          <p:cNvPr id="39" name="Shape 35"/>
          <p:cNvSpPr/>
          <p:nvPr/>
        </p:nvSpPr>
        <p:spPr>
          <a:xfrm>
            <a:off x="6519672" y="4736592"/>
            <a:ext cx="146304" cy="146304"/>
          </a:xfrm>
          <a:prstGeom prst="ellipse">
            <a:avLst/>
          </a:prstGeom>
          <a:solidFill>
            <a:srgbClr val="C879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6"/>
          <p:cNvSpPr/>
          <p:nvPr/>
        </p:nvSpPr>
        <p:spPr>
          <a:xfrm>
            <a:off x="6775704" y="461772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Head  </a:t>
            </a:r>
            <a:r>
              <a:rPr lang="en-US" sz="1200" dirty="0">
                <a:solidFill>
                  <a:srgbClr val="8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AdaptiveAvgPool → Flatten → Dropout → Linear</a:t>
            </a:r>
            <a:endParaRPr lang="en-US" sz="1300" dirty="0"/>
          </a:p>
        </p:txBody>
      </p:sp>
      <p:sp>
        <p:nvSpPr>
          <p:cNvPr id="41" name="Shape 37"/>
          <p:cNvSpPr/>
          <p:nvPr/>
        </p:nvSpPr>
        <p:spPr>
          <a:xfrm>
            <a:off x="6519672" y="5175504"/>
            <a:ext cx="146304" cy="146304"/>
          </a:xfrm>
          <a:prstGeom prst="ellipse">
            <a:avLst/>
          </a:prstGeom>
          <a:solidFill>
            <a:srgbClr val="C879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8"/>
          <p:cNvSpPr/>
          <p:nvPr/>
        </p:nvSpPr>
        <p:spPr>
          <a:xfrm>
            <a:off x="6775704" y="5056632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Weights  </a:t>
            </a:r>
            <a:r>
              <a:rPr lang="en-US" sz="1200" dirty="0">
                <a:solidFill>
                  <a:srgbClr val="8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init — no pretraining at all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6519672" y="5614416"/>
            <a:ext cx="146304" cy="146304"/>
          </a:xfrm>
          <a:prstGeom prst="ellipse">
            <a:avLst/>
          </a:prstGeom>
          <a:solidFill>
            <a:srgbClr val="C879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0"/>
          <p:cNvSpPr/>
          <p:nvPr/>
        </p:nvSpPr>
        <p:spPr>
          <a:xfrm>
            <a:off x="6775704" y="549554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Footprint  </a:t>
            </a:r>
            <a:r>
              <a:rPr lang="en-US" sz="1200" dirty="0">
                <a:solidFill>
                  <a:srgbClr val="8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~60× smaller than ResNet-50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1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206240"/>
            <a:ext cx="4572000" cy="4572000"/>
          </a:xfrm>
          <a:prstGeom prst="ellipse">
            <a:avLst/>
          </a:prstGeom>
          <a:solidFill>
            <a:srgbClr val="9A5A1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C879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448056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Pipeline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37160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4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training pipeline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8056" y="1874520"/>
            <a:ext cx="2121408" cy="3611880"/>
          </a:xfrm>
          <a:prstGeom prst="roundRect">
            <a:avLst>
              <a:gd name="adj" fmla="val 4310"/>
            </a:avLst>
          </a:prstGeom>
          <a:solidFill>
            <a:srgbClr val="3A2417"/>
          </a:solidFill>
          <a:ln w="12700">
            <a:solidFill>
              <a:srgbClr val="9A5A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207008" y="1572768"/>
            <a:ext cx="603504" cy="603504"/>
          </a:xfrm>
          <a:prstGeom prst="ellipse">
            <a:avLst/>
          </a:prstGeom>
          <a:solidFill>
            <a:srgbClr val="C8791E"/>
          </a:solidFill>
          <a:ln w="38100">
            <a:solidFill>
              <a:srgbClr val="2B1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07008" y="15727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2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872" y="2377440"/>
            <a:ext cx="493776" cy="49377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39496" y="3017520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E0A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Audit &amp; split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612648" y="3502152"/>
            <a:ext cx="179222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7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7,000 images for corruption (0 bad), confirmed class balance, split 70/15/15 with a fixed seed = 42.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551176" y="3534156"/>
            <a:ext cx="237744" cy="292608"/>
          </a:xfrm>
          <a:prstGeom prst="chevron">
            <a:avLst/>
          </a:prstGeom>
          <a:solidFill>
            <a:srgbClr val="C879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2734056" y="1874520"/>
            <a:ext cx="2121408" cy="3611880"/>
          </a:xfrm>
          <a:prstGeom prst="roundRect">
            <a:avLst>
              <a:gd name="adj" fmla="val 4310"/>
            </a:avLst>
          </a:prstGeom>
          <a:solidFill>
            <a:srgbClr val="3A2417"/>
          </a:solidFill>
          <a:ln w="12700">
            <a:solidFill>
              <a:srgbClr val="9A5A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493008" y="1572768"/>
            <a:ext cx="603504" cy="603504"/>
          </a:xfrm>
          <a:prstGeom prst="ellipse">
            <a:avLst/>
          </a:prstGeom>
          <a:solidFill>
            <a:srgbClr val="C8791E"/>
          </a:solidFill>
          <a:ln w="38100">
            <a:solidFill>
              <a:srgbClr val="2B1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493008" y="15727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2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7872" y="2377440"/>
            <a:ext cx="493776" cy="49377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825496" y="3017520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E0A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Preprocess</a:t>
            </a:r>
            <a:endParaRPr lang="en-US" sz="1550" dirty="0"/>
          </a:p>
        </p:txBody>
      </p:sp>
      <p:sp>
        <p:nvSpPr>
          <p:cNvPr id="20" name="Text 16"/>
          <p:cNvSpPr/>
          <p:nvPr/>
        </p:nvSpPr>
        <p:spPr>
          <a:xfrm>
            <a:off x="2898648" y="3502152"/>
            <a:ext cx="179222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7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Resize, ImageNet-style normalisation, and light augmentation — random crop, flip, rotation, colour jitter — train-only.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837176" y="3534156"/>
            <a:ext cx="237744" cy="292608"/>
          </a:xfrm>
          <a:prstGeom prst="chevron">
            <a:avLst/>
          </a:prstGeom>
          <a:solidFill>
            <a:srgbClr val="C879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5020056" y="1874520"/>
            <a:ext cx="2121408" cy="3611880"/>
          </a:xfrm>
          <a:prstGeom prst="roundRect">
            <a:avLst>
              <a:gd name="adj" fmla="val 4310"/>
            </a:avLst>
          </a:prstGeom>
          <a:solidFill>
            <a:srgbClr val="3A2417"/>
          </a:solidFill>
          <a:ln w="12700">
            <a:solidFill>
              <a:srgbClr val="9A5A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5779008" y="1572768"/>
            <a:ext cx="603504" cy="603504"/>
          </a:xfrm>
          <a:prstGeom prst="ellipse">
            <a:avLst/>
          </a:prstGeom>
          <a:solidFill>
            <a:srgbClr val="C8791E"/>
          </a:solidFill>
          <a:ln w="38100">
            <a:solidFill>
              <a:srgbClr val="2B1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5779008" y="15727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2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3872" y="2377440"/>
            <a:ext cx="493776" cy="49377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111496" y="3017520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E0A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Two-stage training</a:t>
            </a:r>
            <a:endParaRPr lang="en-US" sz="1550" dirty="0"/>
          </a:p>
        </p:txBody>
      </p:sp>
      <p:sp>
        <p:nvSpPr>
          <p:cNvPr id="27" name="Text 22"/>
          <p:cNvSpPr/>
          <p:nvPr/>
        </p:nvSpPr>
        <p:spPr>
          <a:xfrm>
            <a:off x="5184648" y="3502152"/>
            <a:ext cx="179222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7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 the ResNet backbone first for a stable baseline, then fine-tuned layer4 with smaller, separate learning rates.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7123176" y="3534156"/>
            <a:ext cx="237744" cy="292608"/>
          </a:xfrm>
          <a:prstGeom prst="chevron">
            <a:avLst/>
          </a:prstGeom>
          <a:solidFill>
            <a:srgbClr val="C879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7306056" y="1874520"/>
            <a:ext cx="2121408" cy="3611880"/>
          </a:xfrm>
          <a:prstGeom prst="roundRect">
            <a:avLst>
              <a:gd name="adj" fmla="val 4310"/>
            </a:avLst>
          </a:prstGeom>
          <a:solidFill>
            <a:srgbClr val="3A2417"/>
          </a:solidFill>
          <a:ln w="12700">
            <a:solidFill>
              <a:srgbClr val="9A5A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8065008" y="1572768"/>
            <a:ext cx="603504" cy="603504"/>
          </a:xfrm>
          <a:prstGeom prst="ellipse">
            <a:avLst/>
          </a:prstGeom>
          <a:solidFill>
            <a:srgbClr val="C8791E"/>
          </a:solidFill>
          <a:ln w="38100">
            <a:solidFill>
              <a:srgbClr val="2B1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8065008" y="15727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20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9872" y="2377440"/>
            <a:ext cx="493776" cy="493776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397496" y="3017520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E0A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Regularise &amp; tune</a:t>
            </a:r>
            <a:endParaRPr lang="en-US" sz="1550" dirty="0"/>
          </a:p>
        </p:txBody>
      </p:sp>
      <p:sp>
        <p:nvSpPr>
          <p:cNvPr id="34" name="Text 28"/>
          <p:cNvSpPr/>
          <p:nvPr/>
        </p:nvSpPr>
        <p:spPr>
          <a:xfrm>
            <a:off x="7470648" y="3502152"/>
            <a:ext cx="179222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7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Dropout, weight decay, AdamW, and a ReduceLROnPlateau scheduler chosen and hand-tuned per model.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9409176" y="3534156"/>
            <a:ext cx="237744" cy="292608"/>
          </a:xfrm>
          <a:prstGeom prst="chevron">
            <a:avLst/>
          </a:prstGeom>
          <a:solidFill>
            <a:srgbClr val="C879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0"/>
          <p:cNvSpPr/>
          <p:nvPr/>
        </p:nvSpPr>
        <p:spPr>
          <a:xfrm>
            <a:off x="9592056" y="1874520"/>
            <a:ext cx="2121408" cy="3611880"/>
          </a:xfrm>
          <a:prstGeom prst="roundRect">
            <a:avLst>
              <a:gd name="adj" fmla="val 4310"/>
            </a:avLst>
          </a:prstGeom>
          <a:solidFill>
            <a:srgbClr val="3A2417"/>
          </a:solidFill>
          <a:ln w="12700">
            <a:solidFill>
              <a:srgbClr val="9A5A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1"/>
          <p:cNvSpPr/>
          <p:nvPr/>
        </p:nvSpPr>
        <p:spPr>
          <a:xfrm>
            <a:off x="10351008" y="1572768"/>
            <a:ext cx="603504" cy="603504"/>
          </a:xfrm>
          <a:prstGeom prst="ellipse">
            <a:avLst/>
          </a:prstGeom>
          <a:solidFill>
            <a:srgbClr val="C8791E"/>
          </a:solidFill>
          <a:ln w="38100">
            <a:solidFill>
              <a:srgbClr val="2B1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2"/>
          <p:cNvSpPr/>
          <p:nvPr/>
        </p:nvSpPr>
        <p:spPr>
          <a:xfrm>
            <a:off x="10351008" y="15727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2200" dirty="0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05872" y="2377440"/>
            <a:ext cx="493776" cy="493776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9683496" y="3017520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E0A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Evaluate &amp; diagnose</a:t>
            </a:r>
            <a:endParaRPr lang="en-US" sz="1550" dirty="0"/>
          </a:p>
        </p:txBody>
      </p:sp>
      <p:sp>
        <p:nvSpPr>
          <p:cNvPr id="41" name="Text 34"/>
          <p:cNvSpPr/>
          <p:nvPr/>
        </p:nvSpPr>
        <p:spPr>
          <a:xfrm>
            <a:off x="9756648" y="3502152"/>
            <a:ext cx="179222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7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matrix, per-class precision / recall / F1, confidence analysis, and inspection of every misclassified date.</a:t>
            </a:r>
            <a:endParaRPr lang="en-US" sz="1100" dirty="0"/>
          </a:p>
        </p:txBody>
      </p:sp>
      <p:sp>
        <p:nvSpPr>
          <p:cNvPr id="42" name="Text 35"/>
          <p:cNvSpPr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8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by design — fixed seeds, deterministic evaluation transforms, and best-checkpoint saving on validation accuracy.</a:t>
            </a:r>
            <a:endParaRPr lang="en-US" sz="12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073631A9-5114-8755-A8EF-4FFCAAEC0837}"/>
                  </a:ext>
                </a:extLst>
              </p14:cNvPr>
              <p14:cNvContentPartPr/>
              <p14:nvPr/>
            </p14:nvContentPartPr>
            <p14:xfrm>
              <a:off x="6492614" y="1016070"/>
              <a:ext cx="16200" cy="1872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073631A9-5114-8755-A8EF-4FFCAAEC083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488294" y="1011750"/>
                <a:ext cx="24840" cy="27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C8791E"/>
          </a:solidFill>
          <a:ln/>
          <a:effectLst>
            <a:outerShdw blurRad="101600" dist="38100" dir="162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448056"/>
            <a:ext cx="8229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They Differ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10789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dataset, same 10 classes — opposite philosophies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66928"/>
          </a:xfrm>
          <a:prstGeom prst="roundRect">
            <a:avLst>
              <a:gd name="adj" fmla="val 9677"/>
            </a:avLst>
          </a:prstGeom>
          <a:solidFill>
            <a:srgbClr val="2B1B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74720" y="1783080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A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ResNet-50  ·  pretrained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543800" y="1783080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A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CustomDateCNN  ·  scratch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350008"/>
            <a:ext cx="10972800" cy="489204"/>
          </a:xfrm>
          <a:prstGeom prst="rect">
            <a:avLst/>
          </a:prstGeom>
          <a:solidFill>
            <a:srgbClr val="EFE6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350008"/>
            <a:ext cx="25603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Strategy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2350008"/>
            <a:ext cx="40690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543800" y="2350008"/>
            <a:ext cx="40690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from scratch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2839212"/>
            <a:ext cx="10972800" cy="4892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2839212"/>
            <a:ext cx="25603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Parameters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2839212"/>
            <a:ext cx="40690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23.5 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543800" y="2839212"/>
            <a:ext cx="40690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392 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328416"/>
            <a:ext cx="10972800" cy="489204"/>
          </a:xfrm>
          <a:prstGeom prst="rect">
            <a:avLst/>
          </a:prstGeom>
          <a:solidFill>
            <a:srgbClr val="EFE6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8680" y="3328416"/>
            <a:ext cx="25603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Input size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74720" y="3328416"/>
            <a:ext cx="40690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 × 224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43800" y="3328416"/>
            <a:ext cx="40690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× 128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3817620"/>
            <a:ext cx="10972800" cy="4892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68680" y="3817620"/>
            <a:ext cx="25603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Pretrained?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0" y="3817620"/>
            <a:ext cx="40690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ImageNet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543800" y="3817620"/>
            <a:ext cx="40690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4306824"/>
            <a:ext cx="10972800" cy="489204"/>
          </a:xfrm>
          <a:prstGeom prst="rect">
            <a:avLst/>
          </a:prstGeom>
          <a:solidFill>
            <a:srgbClr val="EFE6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68680" y="4306824"/>
            <a:ext cx="25603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Depth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474720" y="4306824"/>
            <a:ext cx="40690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layers (residual)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543800" y="4306824"/>
            <a:ext cx="40690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conv blocks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" y="4796028"/>
            <a:ext cx="10972800" cy="4892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68680" y="4796028"/>
            <a:ext cx="25603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Epochs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474720" y="4796028"/>
            <a:ext cx="40690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frozen + 8 fine-tune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543800" y="4796028"/>
            <a:ext cx="40690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40080" y="5285232"/>
            <a:ext cx="10972800" cy="489204"/>
          </a:xfrm>
          <a:prstGeom prst="rect">
            <a:avLst/>
          </a:prstGeom>
          <a:solidFill>
            <a:srgbClr val="EFE6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68680" y="5285232"/>
            <a:ext cx="25603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Epoch time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474720" y="5285232"/>
            <a:ext cx="40690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~42 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543800" y="5285232"/>
            <a:ext cx="40690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 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40080" y="1783080"/>
            <a:ext cx="10972800" cy="3991356"/>
          </a:xfrm>
          <a:prstGeom prst="rect">
            <a:avLst/>
          </a:prstGeom>
          <a:ln w="12700">
            <a:solidFill>
              <a:srgbClr val="E4D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474720" y="1783080"/>
            <a:ext cx="0" cy="3991356"/>
          </a:xfrm>
          <a:prstGeom prst="line">
            <a:avLst/>
          </a:prstGeom>
          <a:noFill/>
          <a:ln w="12700">
            <a:solidFill>
              <a:srgbClr val="E4D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543800" y="1783080"/>
            <a:ext cx="0" cy="3991356"/>
          </a:xfrm>
          <a:prstGeom prst="line">
            <a:avLst/>
          </a:prstGeom>
          <a:noFill/>
          <a:ln w="12700">
            <a:solidFill>
              <a:srgbClr val="E4D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deeper, pretrained network is far heavier — yet, as the results show, heavier did not mean better here.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C8791E"/>
          </a:solidFill>
          <a:ln/>
          <a:effectLst>
            <a:outerShdw blurRad="101600" dist="38100" dir="162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448056"/>
            <a:ext cx="8229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Result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10789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accuracy on the 1,060-image held-out test set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4617720" cy="2788920"/>
          </a:xfrm>
          <a:prstGeom prst="roundRect">
            <a:avLst>
              <a:gd name="adj" fmla="val 459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32688" y="2121408"/>
            <a:ext cx="1371600" cy="420624"/>
          </a:xfrm>
          <a:prstGeom prst="roundRect">
            <a:avLst>
              <a:gd name="adj" fmla="val 50000"/>
            </a:avLst>
          </a:prstGeom>
          <a:solidFill>
            <a:srgbClr val="6E7B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32688" y="212140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32688" y="26060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ResNet-50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3035808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6E7B5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93.87</a:t>
            </a:r>
            <a:r>
              <a:rPr lang="en-US" sz="2800" b="1" dirty="0">
                <a:solidFill>
                  <a:srgbClr val="6E7B5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%</a:t>
            </a:r>
            <a:endParaRPr lang="en-US" sz="6200" dirty="0"/>
          </a:p>
        </p:txBody>
      </p:sp>
      <p:sp>
        <p:nvSpPr>
          <p:cNvPr id="12" name="Text 10"/>
          <p:cNvSpPr/>
          <p:nvPr/>
        </p:nvSpPr>
        <p:spPr>
          <a:xfrm>
            <a:off x="950976" y="406908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  ·   loss 0.173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903720" y="1828800"/>
            <a:ext cx="4617720" cy="2788920"/>
          </a:xfrm>
          <a:prstGeom prst="roundRect">
            <a:avLst>
              <a:gd name="adj" fmla="val 459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196328" y="2121408"/>
            <a:ext cx="1371600" cy="420624"/>
          </a:xfrm>
          <a:prstGeom prst="roundRect">
            <a:avLst>
              <a:gd name="adj" fmla="val 50000"/>
            </a:avLst>
          </a:prstGeom>
          <a:solidFill>
            <a:srgbClr val="C879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96328" y="212140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SCRATCH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196328" y="26060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CustomDateCNN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178040" y="3035808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C879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96.79</a:t>
            </a:r>
            <a:r>
              <a:rPr lang="en-US" sz="2800" b="1" dirty="0">
                <a:solidFill>
                  <a:srgbClr val="C879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%</a:t>
            </a:r>
            <a:endParaRPr lang="en-US" sz="6200" dirty="0"/>
          </a:p>
        </p:txBody>
      </p:sp>
      <p:sp>
        <p:nvSpPr>
          <p:cNvPr id="18" name="Text 16"/>
          <p:cNvSpPr/>
          <p:nvPr/>
        </p:nvSpPr>
        <p:spPr>
          <a:xfrm>
            <a:off x="7214616" y="406908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  ·   loss 0.118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0680192" y="2103120"/>
            <a:ext cx="566928" cy="566928"/>
          </a:xfrm>
          <a:prstGeom prst="ellipse">
            <a:avLst/>
          </a:prstGeom>
          <a:solidFill>
            <a:srgbClr val="E0A94A"/>
          </a:solidFill>
          <a:ln/>
          <a:effectLst>
            <a:outerShdw blurRad="101600" dist="38100" dir="162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08" y="2231136"/>
            <a:ext cx="310896" cy="310896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5696712" y="2907792"/>
            <a:ext cx="768096" cy="768096"/>
          </a:xfrm>
          <a:prstGeom prst="ellipse">
            <a:avLst/>
          </a:prstGeom>
          <a:solidFill>
            <a:srgbClr val="2B1B12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696712" y="29077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0A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VS</a:t>
            </a:r>
            <a:endParaRPr lang="en-US" sz="1900" dirty="0"/>
          </a:p>
        </p:txBody>
      </p:sp>
      <p:sp>
        <p:nvSpPr>
          <p:cNvPr id="23" name="Shape 20"/>
          <p:cNvSpPr/>
          <p:nvPr/>
        </p:nvSpPr>
        <p:spPr>
          <a:xfrm>
            <a:off x="640080" y="4892040"/>
            <a:ext cx="10881360" cy="1417320"/>
          </a:xfrm>
          <a:prstGeom prst="roundRect">
            <a:avLst>
              <a:gd name="adj" fmla="val 7742"/>
            </a:avLst>
          </a:prstGeom>
          <a:solidFill>
            <a:srgbClr val="2B1B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960120" y="5230368"/>
            <a:ext cx="713232" cy="713232"/>
          </a:xfrm>
          <a:prstGeom prst="ellipse">
            <a:avLst/>
          </a:prstGeom>
          <a:solidFill>
            <a:srgbClr val="C879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288" y="5431536"/>
            <a:ext cx="310896" cy="310896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920240" y="5029200"/>
            <a:ext cx="9326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60× smaller model won.
</a:t>
            </a:r>
            <a:r>
              <a:rPr lang="en-US" sz="1350" dirty="0">
                <a:solidFill>
                  <a:srgbClr val="E4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from-scratch CNN beat the pretrained ResNet-50 by </a:t>
            </a:r>
            <a:r>
              <a:rPr lang="en-US" sz="1350" b="1" dirty="0">
                <a:solidFill>
                  <a:srgbClr val="E0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+2.9 points</a:t>
            </a:r>
            <a:r>
              <a:rPr lang="en-US" sz="1350" dirty="0">
                <a:solidFill>
                  <a:srgbClr val="E4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~1.7% of its parameters — because at 128px the simpler model fit this fine-grained, single-object task well and avoided over-capacity.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C8791E"/>
          </a:solidFill>
          <a:ln/>
          <a:effectLst>
            <a:outerShdw blurRad="101600" dist="38100" dir="162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448056"/>
            <a:ext cx="9144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Where They Get Confused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10789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matrices on the test set — the diagonal is correct, off-diagonal is error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783080"/>
            <a:ext cx="544068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E7B5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ResNet-50  ·  93.87%</a:t>
            </a:r>
            <a:endParaRPr lang="en-US" sz="17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2496312"/>
            <a:ext cx="4617720" cy="26974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309360" y="1783080"/>
            <a:ext cx="544068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583680" y="19659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879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CustomDateCNN  ·  96.79%</a:t>
            </a:r>
            <a:endParaRPr lang="en-US" sz="17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720840" y="2496312"/>
            <a:ext cx="4617720" cy="26974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11480" y="5669280"/>
            <a:ext cx="11338560" cy="868680"/>
          </a:xfrm>
          <a:prstGeom prst="roundRect">
            <a:avLst>
              <a:gd name="adj" fmla="val 10526"/>
            </a:avLst>
          </a:prstGeom>
          <a:solidFill>
            <a:srgbClr val="2B1B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713232" y="5897880"/>
            <a:ext cx="420624" cy="420624"/>
          </a:xfrm>
          <a:prstGeom prst="ellipse">
            <a:avLst/>
          </a:prstGeom>
          <a:solidFill>
            <a:srgbClr val="8A3A2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" y="5998464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566928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weak spot for both models — </a:t>
            </a:r>
            <a:r>
              <a:rPr lang="en-US" sz="1450" b="1" dirty="0">
                <a:solidFill>
                  <a:srgbClr val="E0A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Meneifi</a:t>
            </a:r>
            <a:r>
              <a:rPr lang="en-US" sz="1350" dirty="0">
                <a:solidFill>
                  <a:srgbClr val="E4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hardest class, most often mistaken for Sugaey and Medjool. The custom CNN still recovers more of it (97 vs 74 correct).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C8791E"/>
          </a:solidFill>
          <a:ln/>
          <a:effectLst>
            <a:outerShdw blurRad="101600" dist="38100" dir="162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448056"/>
            <a:ext cx="8229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Per-Class F1 Score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10789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nail the easy classes; the custom CNN is steadier on the hard ones</a:t>
            </a:r>
            <a:endParaRPr lang="en-US" sz="14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40080" y="1691640"/>
          <a:ext cx="1088136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balance of precision &amp; recall (1.0 is perfect). Axis starts at 0.70 to show the gaps.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C8791E"/>
          </a:solidFill>
          <a:ln/>
          <a:effectLst>
            <a:outerShdw blurRad="101600" dist="38100" dir="162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448056"/>
            <a:ext cx="8229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We Learned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10789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lightweight model came out ahead — and what it means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50976" y="2093976"/>
            <a:ext cx="676656" cy="676656"/>
          </a:xfrm>
          <a:prstGeom prst="ellipse">
            <a:avLst/>
          </a:prstGeom>
          <a:solidFill>
            <a:srgbClr val="C879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286000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28800" y="207568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Bigger isn't always better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828800" y="2624328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8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pretraining is built for complex, cluttered scenes. Our task is one centred date on a plain background — a custom 392K-parameter network had ample capacity and generalised better.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63640" y="178308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574536" y="2093976"/>
            <a:ext cx="676656" cy="676656"/>
          </a:xfrm>
          <a:prstGeom prst="ellipse">
            <a:avLst/>
          </a:prstGeom>
          <a:solidFill>
            <a:srgbClr val="C879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2286000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52360" y="207568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task is fine-grained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7452360" y="2624328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8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differ by skin texture and shade, not object type. A compact model trained end-to-end on exactly these images learned those cues directly.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40080" y="384048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950976" y="4151376"/>
            <a:ext cx="676656" cy="676656"/>
          </a:xfrm>
          <a:prstGeom prst="ellipse">
            <a:avLst/>
          </a:prstGeom>
          <a:solidFill>
            <a:srgbClr val="C879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4343400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828800" y="413308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Engineering moved the needle</a:t>
            </a:r>
            <a:endParaRPr lang="en-US" sz="1650" dirty="0"/>
          </a:p>
        </p:txBody>
      </p:sp>
      <p:sp>
        <p:nvSpPr>
          <p:cNvPr id="21" name="Text 16"/>
          <p:cNvSpPr/>
          <p:nvPr/>
        </p:nvSpPr>
        <p:spPr>
          <a:xfrm>
            <a:off x="1828800" y="4681728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8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data, careful augmentation, regularisation and a two-stage schedule mattered more than raw model size.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263640" y="384048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6574536" y="4151376"/>
            <a:ext cx="676656" cy="676656"/>
          </a:xfrm>
          <a:prstGeom prst="ellipse">
            <a:avLst/>
          </a:prstGeom>
          <a:solidFill>
            <a:srgbClr val="C879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4343400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52360" y="413308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Diagnosis guides next steps</a:t>
            </a:r>
            <a:endParaRPr lang="en-US" sz="1650" dirty="0"/>
          </a:p>
        </p:txBody>
      </p:sp>
      <p:sp>
        <p:nvSpPr>
          <p:cNvPr id="26" name="Text 20"/>
          <p:cNvSpPr/>
          <p:nvPr/>
        </p:nvSpPr>
        <p:spPr>
          <a:xfrm>
            <a:off x="7452360" y="4681728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8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analysis pinpoints Meneifi as the weak spot — the obvious target for more data or targeted augmentation.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1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023360"/>
            <a:ext cx="5120640" cy="5120640"/>
          </a:xfrm>
          <a:prstGeom prst="ellipse">
            <a:avLst/>
          </a:prstGeom>
          <a:solidFill>
            <a:srgbClr val="9A5A12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07040" y="4754880"/>
            <a:ext cx="3291840" cy="3291840"/>
          </a:xfrm>
          <a:prstGeom prst="ellipse">
            <a:avLst/>
          </a:prstGeom>
          <a:solidFill>
            <a:srgbClr val="C8791E">
              <a:alpha val="6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868680" cy="868680"/>
          </a:xfrm>
          <a:prstGeom prst="ellipse">
            <a:avLst/>
          </a:prstGeom>
          <a:solidFill>
            <a:srgbClr val="C879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1481328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33172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Ten dates, named from a photo — at 96.8% accuracy.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777240" y="384048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E4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from-scratch CNN that out-performed a pretrained ResNet-50 at a fraction of the size — the result of careful data handling, deliberate architecture choices, and honest evaluation.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77240" y="5257800"/>
            <a:ext cx="2542032" cy="868680"/>
          </a:xfrm>
          <a:prstGeom prst="roundRect">
            <a:avLst>
              <a:gd name="adj" fmla="val 10526"/>
            </a:avLst>
          </a:prstGeom>
          <a:solidFill>
            <a:srgbClr val="3A2417"/>
          </a:solidFill>
          <a:ln w="12700">
            <a:solidFill>
              <a:srgbClr val="9A5A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68680" y="5330952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A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96.79%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68680" y="5760720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4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520440" y="5257800"/>
            <a:ext cx="2542032" cy="868680"/>
          </a:xfrm>
          <a:prstGeom prst="roundRect">
            <a:avLst>
              <a:gd name="adj" fmla="val 10526"/>
            </a:avLst>
          </a:prstGeom>
          <a:solidFill>
            <a:srgbClr val="3A2417"/>
          </a:solidFill>
          <a:ln w="12700">
            <a:solidFill>
              <a:srgbClr val="9A5A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611880" y="5330952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A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392K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611880" y="5760720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4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params, winning model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63640" y="5257800"/>
            <a:ext cx="2542032" cy="868680"/>
          </a:xfrm>
          <a:prstGeom prst="roundRect">
            <a:avLst>
              <a:gd name="adj" fmla="val 10526"/>
            </a:avLst>
          </a:prstGeom>
          <a:solidFill>
            <a:srgbClr val="3A2417"/>
          </a:solidFill>
          <a:ln w="12700">
            <a:solidFill>
              <a:srgbClr val="9A5A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355080" y="5330952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A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355080" y="5760720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4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006840" y="5257800"/>
            <a:ext cx="2542032" cy="868680"/>
          </a:xfrm>
          <a:prstGeom prst="roundRect">
            <a:avLst>
              <a:gd name="adj" fmla="val 10526"/>
            </a:avLst>
          </a:prstGeom>
          <a:solidFill>
            <a:srgbClr val="3A2417"/>
          </a:solidFill>
          <a:ln w="12700">
            <a:solidFill>
              <a:srgbClr val="9A5A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9098280" y="5330952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A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+2.9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9098280" y="5760720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4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 over ResNet-50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969</Words>
  <Application>Microsoft Office PowerPoint</Application>
  <PresentationFormat>Widescreen</PresentationFormat>
  <Paragraphs>177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Date Fruit Classification</dc:title>
  <dc:subject>PptxGenJS Presentation</dc:subject>
  <dc:creator>Hamza Khan Tariq</dc:creator>
  <cp:lastModifiedBy>Saqib Bedar</cp:lastModifiedBy>
  <cp:revision>10</cp:revision>
  <dcterms:created xsi:type="dcterms:W3CDTF">2026-06-09T23:28:55Z</dcterms:created>
  <dcterms:modified xsi:type="dcterms:W3CDTF">2026-06-13T14:26:03Z</dcterms:modified>
</cp:coreProperties>
</file>