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5" r:id="rId1"/>
  </p:sldMasterIdLst>
  <p:notesMasterIdLst>
    <p:notesMasterId r:id="rId49"/>
  </p:notesMasterIdLst>
  <p:handoutMasterIdLst>
    <p:handoutMasterId r:id="rId50"/>
  </p:handoutMasterIdLst>
  <p:sldIdLst>
    <p:sldId id="256" r:id="rId2"/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30" r:id="rId11"/>
    <p:sldId id="311" r:id="rId12"/>
    <p:sldId id="258" r:id="rId13"/>
    <p:sldId id="259" r:id="rId14"/>
    <p:sldId id="260" r:id="rId15"/>
    <p:sldId id="262" r:id="rId16"/>
    <p:sldId id="263" r:id="rId17"/>
    <p:sldId id="265" r:id="rId18"/>
    <p:sldId id="312" r:id="rId19"/>
    <p:sldId id="269" r:id="rId20"/>
    <p:sldId id="270" r:id="rId21"/>
    <p:sldId id="329" r:id="rId22"/>
    <p:sldId id="272" r:id="rId23"/>
    <p:sldId id="273" r:id="rId24"/>
    <p:sldId id="274" r:id="rId25"/>
    <p:sldId id="275" r:id="rId26"/>
    <p:sldId id="276" r:id="rId27"/>
    <p:sldId id="277" r:id="rId28"/>
    <p:sldId id="279" r:id="rId29"/>
    <p:sldId id="280" r:id="rId30"/>
    <p:sldId id="281" r:id="rId31"/>
    <p:sldId id="313" r:id="rId32"/>
    <p:sldId id="314" r:id="rId33"/>
    <p:sldId id="315" r:id="rId34"/>
    <p:sldId id="316" r:id="rId35"/>
    <p:sldId id="284" r:id="rId36"/>
    <p:sldId id="317" r:id="rId37"/>
    <p:sldId id="318" r:id="rId38"/>
    <p:sldId id="320" r:id="rId39"/>
    <p:sldId id="321" r:id="rId40"/>
    <p:sldId id="322" r:id="rId41"/>
    <p:sldId id="323" r:id="rId42"/>
    <p:sldId id="326" r:id="rId43"/>
    <p:sldId id="327" r:id="rId44"/>
    <p:sldId id="328" r:id="rId45"/>
    <p:sldId id="324" r:id="rId46"/>
    <p:sldId id="325" r:id="rId47"/>
    <p:sldId id="299" r:id="rId4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9"/>
    <p:restoredTop sz="94262"/>
  </p:normalViewPr>
  <p:slideViewPr>
    <p:cSldViewPr>
      <p:cViewPr varScale="1">
        <p:scale>
          <a:sx n="117" d="100"/>
          <a:sy n="117" d="100"/>
        </p:scale>
        <p:origin x="153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B543F71-A5B6-734C-AF34-A4B41C6ED5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4E8462B-B69F-C849-ADFE-228031C526C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F5B36899-5991-0E43-93C1-9FD71A8E4F5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CFD6AC03-0CAC-0C4B-B719-E9AC1EE42D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8C38312-3356-47C2-9C05-D99D8000579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C950C346-3691-D34C-B9A6-4FCAE29719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477002C7-C8D7-AC49-8C89-E72EF75F55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6D09467-6650-EBC8-133B-0C3D3DD3B26C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5" name="Rectangle 5">
            <a:extLst>
              <a:ext uri="{FF2B5EF4-FFF2-40B4-BE49-F238E27FC236}">
                <a16:creationId xmlns:a16="http://schemas.microsoft.com/office/drawing/2014/main" id="{E47BFD43-7D84-BB4A-9F0B-7D82480F4B1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10DBDC47-31D1-7545-8A36-951252CF85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77D37EC8-8099-934A-B71B-FCD6F8A69C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85A81DB-DB10-40CD-8622-D0B8862FC1D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C0164469-667B-0560-E247-2C24319C45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EF5636-05B5-418B-9D87-54307B22EA54}" type="slidenum">
              <a:rPr lang="en-US" altLang="en-US" sz="1200">
                <a:latin typeface="Arial" panose="020B0604020202020204" pitchFamily="34" charset="0"/>
              </a:rPr>
              <a:pPr/>
              <a:t>31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46EDE0A-BFCB-7BB9-BF0C-47C4BE99BD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04E2A08C-AD96-54EC-7950-342523C67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62326F6B-8C53-DDB3-C283-F9882EF935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9EABDD-7CD5-43EF-AA21-6F9E911A0467}" type="slidenum">
              <a:rPr lang="en-US" altLang="en-US" sz="1200">
                <a:latin typeface="Arial" panose="020B0604020202020204" pitchFamily="34" charset="0"/>
              </a:rPr>
              <a:pPr/>
              <a:t>34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3FB33C9A-1D5C-B1E4-08D4-D23DAD8C2B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CB08D4-C781-7F06-CA88-914BEB1CF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B4F2525E-BB4D-6F1A-6AAC-BBF2F38630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E21DF8-E95F-460F-B7DE-16BA614D332E}" type="slidenum">
              <a:rPr lang="en-US" altLang="en-US" sz="1200">
                <a:latin typeface="Arial" panose="020B0604020202020204" pitchFamily="34" charset="0"/>
              </a:rPr>
              <a:pPr/>
              <a:t>36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74000916-BDAC-3C5C-6084-D50D33DBB4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0E06858-B8A7-09E0-1A09-139A267C0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8CB5DF90-D294-BBD0-8127-06C02A8753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1F62DB-F89E-4641-8F3A-C751FABFDA63}" type="slidenum">
              <a:rPr lang="en-US" altLang="en-US" sz="1200">
                <a:latin typeface="Arial" panose="020B0604020202020204" pitchFamily="34" charset="0"/>
              </a:rPr>
              <a:pPr/>
              <a:t>37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A7627C7B-364D-69D4-BC51-A785FA31D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9C2EDB4-0AEB-AA21-C1C2-2587347CC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86BC56D4-DF4B-590F-4318-CC115CB27E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14600"/>
            <a:ext cx="8153400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33400"/>
            <a:ext cx="77216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28950"/>
            <a:ext cx="6400800" cy="1771650"/>
          </a:xfrm>
        </p:spPr>
        <p:txBody>
          <a:bodyPr/>
          <a:lstStyle>
            <a:lvl1pPr marL="0" indent="0">
              <a:buFontTx/>
              <a:buNone/>
              <a:defRPr>
                <a:latin typeface="Arial Black" panose="020B0A04020102020204" pitchFamily="34" charset="0"/>
              </a:defRPr>
            </a:lvl1pPr>
          </a:lstStyle>
          <a:p>
            <a:pPr lvl="0"/>
            <a:r>
              <a:rPr lang="en-GB" noProof="0"/>
              <a:t>Click to edit Master subtitle style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6780DCB5-9B88-8A83-EB46-17A454C07C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BC277161-2521-DEE3-AFF8-6B0E762B62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4462D94-4AFA-E3A4-867D-8DBDECA97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2B7C8190-47BE-42D8-A81A-B86D2492988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834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393637-F2B8-9F58-6E26-391CFE08C5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A37C44-0226-80C0-062D-ED306B5571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8E58FE-AA7E-8138-2128-6AC0D52F87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EA31F-35F9-453D-86D0-930DCABE91E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3490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9F434B-D8AC-38CF-22B6-F219575688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C35322-6BFA-0308-F3EA-7C4F8AB68B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FF8D81-912E-BF96-4A62-D2AEFE2B5D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06B372-BAC2-41E6-8544-2D377845C94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779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1320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371600"/>
            <a:ext cx="401320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91678-DF14-C3FD-C7F4-ED6A3AEBD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43FED-4B7E-E57F-3A74-DC86CBA66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94C826-3720-F0E2-21A0-B1D6EBC5DC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BF2E89-C774-4CE1-8A2A-F383E883DCF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8768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DF76C42-662F-A520-5212-F6EA019C5F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E37CA7E-3545-6AF3-4799-C86DCA1178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8EDDB4D-25DA-771B-E55F-53606A1F70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4229C6-32D8-41BE-A0A4-E835E87C043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4085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DC04FBC-A5C8-CE15-0BA8-28B41F51EE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DD11CD-023B-1B0E-0F62-020FD07074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A518851-9A21-A3A2-0D90-2C53B24EA7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FBB878-A0BB-44A6-ABC0-3A6E1BA7AF2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5429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475A417-A1A9-F116-4FE7-56C56B4B6D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F2BFB1F-D597-B63B-FDC5-4D2B6A281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DC9ACF-71A8-673A-CDA6-772BC90719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7CC66-6C9A-4583-800E-D622E0B1CB9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4004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FE90BD-BEE5-D1F1-6C5E-54CDC8AB1D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669DD-76C3-4F0D-6F21-E740EE56CA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919C9F-8ADB-7A51-215B-41EE1AA886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60960-D765-4A89-8D94-5296EE3FF8B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7942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B83DD5-714B-F721-9E4A-99D0C6E989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7D07D1-3A99-A543-4C68-B1EC73F55C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D11AA-4FA0-B373-125D-E09117068C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F3472-AD15-4FA3-8F37-2BB80D46CFA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5108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513A18-1974-CB22-4F34-71BFA9B193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8D39D7-9447-A24A-E59E-77977C2BCE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C5C732-FCC2-AFF1-DBEE-7B7DAC97E6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ECA15F-218C-490B-8A8D-18669BAA764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5753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8600" y="152400"/>
            <a:ext cx="2057400" cy="5905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152400"/>
            <a:ext cx="6019800" cy="5905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483F62-DC6A-52D2-B483-8289887238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95946B-5148-D77A-F725-5421C73081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5154C5-88A5-F235-D127-446C92DA92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B02457-F88F-4CD6-834B-9D3451C2390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4471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8204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1320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371600"/>
            <a:ext cx="401320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178BB9-8E4F-A7B5-8651-EEAC47F649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5A72F3-9AAB-BEA3-3926-BBF5C77F0C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A3F777-13BE-C515-29C8-C564D33B4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92BAB0-296A-42A5-BDB8-3BAB000D6CD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43976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8204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1320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22800" y="1371600"/>
            <a:ext cx="4013200" cy="46863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A336B7-8394-7D1E-74BE-D197A1B0F4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22E970-950B-9F6A-CBFE-C8BAD66CE1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B7C662-AC7F-CA5D-0A15-70B326A1E7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EF7819-C6A7-4785-94B4-CA772F8910E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8143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32E16F0-BB7F-AEEE-E0F5-7015E07A5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152400"/>
            <a:ext cx="8204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3AF2AA-E3BE-391E-8B3A-71822A6ED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1788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5476" name="Rectangle 4">
            <a:extLst>
              <a:ext uri="{FF2B5EF4-FFF2-40B4-BE49-F238E27FC236}">
                <a16:creationId xmlns:a16="http://schemas.microsoft.com/office/drawing/2014/main" id="{75CF67BC-75CF-E941-92E9-5ADC475F001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5477" name="Rectangle 5">
            <a:extLst>
              <a:ext uri="{FF2B5EF4-FFF2-40B4-BE49-F238E27FC236}">
                <a16:creationId xmlns:a16="http://schemas.microsoft.com/office/drawing/2014/main" id="{8FDE9C17-DAE3-DD4A-B2C2-F14B4A11B8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5478" name="Rectangle 6">
            <a:extLst>
              <a:ext uri="{FF2B5EF4-FFF2-40B4-BE49-F238E27FC236}">
                <a16:creationId xmlns:a16="http://schemas.microsoft.com/office/drawing/2014/main" id="{9EF08048-3E9E-4C46-8944-CF40E2B2D6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1138B9EE-985D-4DF1-8E7F-5EC1F377B3B2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323553EF-1AA5-28B7-A0B1-41FB730D4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295400"/>
            <a:ext cx="8153400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—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39E78DBE-2ADC-533B-48CE-FAAFD445F6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Data Link Control Protocols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6AFEDBFD-7233-084C-A512-96BEFB3236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43400" y="5181600"/>
            <a:ext cx="4495800" cy="762000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Dr. Muazzam A.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B9023284-7967-C9DC-08EC-BB8F9E91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030797AF-AB47-4AE0-B936-0E86D66AE2B5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FB687291-4375-FE3A-11C6-070A79327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/>
              <a:t>Functions of Data Link Layer Protocols</a:t>
            </a:r>
          </a:p>
        </p:txBody>
      </p:sp>
      <p:sp>
        <p:nvSpPr>
          <p:cNvPr id="1843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7A97485-1F66-AB0D-F879-5D32F71B9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458200" cy="46863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A data link protocol provides three functions: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en-US" altLang="en-US"/>
              <a:t>Controls when computers transmit (</a:t>
            </a:r>
            <a:r>
              <a:rPr lang="en-US" altLang="en-US" u="sng"/>
              <a:t>media access control</a:t>
            </a:r>
            <a:r>
              <a:rPr lang="en-US" altLang="en-US"/>
              <a:t>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en-US" altLang="en-US"/>
              <a:t>Detects and corrects transmission errors (</a:t>
            </a:r>
            <a:r>
              <a:rPr lang="en-US" altLang="en-US" u="sng"/>
              <a:t>error control</a:t>
            </a:r>
            <a:r>
              <a:rPr lang="en-US" altLang="en-US"/>
              <a:t>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en-US" altLang="en-US"/>
              <a:t>Identifies the start and end of a message (</a:t>
            </a:r>
            <a:r>
              <a:rPr lang="en-US" altLang="en-US" u="sng"/>
              <a:t>message delineation</a:t>
            </a:r>
            <a:r>
              <a:rPr lang="en-US" altLang="en-US"/>
              <a:t>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5C3DFEDC-2BD0-4DED-A5EB-EFDB063E6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DDADE49B-CFC6-4D66-A45C-977E61E48A00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F69F09AD-C695-A3A9-E09E-6AC028D52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92138"/>
            <a:ext cx="7772400" cy="608012"/>
          </a:xfrm>
        </p:spPr>
        <p:txBody>
          <a:bodyPr/>
          <a:lstStyle/>
          <a:p>
            <a:pPr eaLnBrk="1" hangingPunct="1"/>
            <a:r>
              <a:rPr lang="en-US" altLang="en-US"/>
              <a:t>Media Access Control</a:t>
            </a:r>
          </a:p>
        </p:txBody>
      </p:sp>
      <p:sp>
        <p:nvSpPr>
          <p:cNvPr id="194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FEC3EEF-3794-3FA4-CC29-E8FEE2790C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Media access control (MAC) refers to the need to control circuits when devices transmit.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Two types of MAC: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Polling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Contention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D10EFF59-C7A0-C4C6-B10E-F9F6DB43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71EE096E-D142-4719-B974-62E080A281F1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22E7AEF-BE9B-849F-F1D8-F52126915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457200"/>
            <a:ext cx="8204200" cy="838200"/>
          </a:xfrm>
        </p:spPr>
        <p:txBody>
          <a:bodyPr/>
          <a:lstStyle/>
          <a:p>
            <a:pPr eaLnBrk="1" hangingPunct="1"/>
            <a:r>
              <a:rPr lang="en-US" altLang="en-US"/>
              <a:t>Transmission Error Control</a:t>
            </a:r>
          </a:p>
        </p:txBody>
      </p:sp>
      <p:sp>
        <p:nvSpPr>
          <p:cNvPr id="2048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01DB980-DF44-6E36-99DF-29F1C2BF4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95450"/>
            <a:ext cx="8686800" cy="46863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w"/>
            </a:pPr>
            <a:r>
              <a:rPr lang="en-US" altLang="en-US"/>
              <a:t>All transmission media have potential for introduction of errors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w"/>
            </a:pPr>
            <a:endParaRPr lang="en-US" altLang="en-US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w"/>
            </a:pPr>
            <a:r>
              <a:rPr lang="en-US" altLang="en-US"/>
              <a:t>All data link layer protocols must provide method for controlling errors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w"/>
            </a:pPr>
            <a:endParaRPr lang="en-US" altLang="en-US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w"/>
            </a:pPr>
            <a:r>
              <a:rPr lang="en-US" altLang="en-US"/>
              <a:t>Error control process has two components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Error detection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Error correction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>
            <a:extLst>
              <a:ext uri="{FF2B5EF4-FFF2-40B4-BE49-F238E27FC236}">
                <a16:creationId xmlns:a16="http://schemas.microsoft.com/office/drawing/2014/main" id="{16DF6EEA-E915-C352-CDA7-DFD3B5588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C0328F13-FB0D-49F1-B185-3A4D78A549FA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B1C82230-C48D-F675-CE89-86BFB9C4C7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Error Control in Networks</a:t>
            </a:r>
          </a:p>
        </p:txBody>
      </p:sp>
      <p:sp>
        <p:nvSpPr>
          <p:cNvPr id="2150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486E6CB-26F8-888E-973C-5864D4448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6400" y="1752600"/>
            <a:ext cx="8280400" cy="44767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There are two types of errors associated with networks.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	</a:t>
            </a:r>
            <a:r>
              <a:rPr lang="en-US" altLang="en-US" u="sng"/>
              <a:t>Human errors, </a:t>
            </a:r>
            <a:r>
              <a:rPr lang="en-US" altLang="en-US"/>
              <a:t>controlled by application</a:t>
            </a:r>
            <a:r>
              <a:rPr lang="en-US" altLang="en-US" u="sng"/>
              <a:t> </a:t>
            </a:r>
            <a:r>
              <a:rPr lang="en-US" altLang="en-US"/>
              <a:t>programs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	</a:t>
            </a:r>
            <a:r>
              <a:rPr lang="en-US" altLang="en-US" u="sng"/>
              <a:t>Network errors, </a:t>
            </a:r>
            <a:r>
              <a:rPr lang="en-US" altLang="en-US"/>
              <a:t>controlled by the network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There are two categories of network errors.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	</a:t>
            </a:r>
            <a:r>
              <a:rPr lang="en-US" altLang="en-US" u="sng"/>
              <a:t>Corrupted data</a:t>
            </a:r>
            <a:r>
              <a:rPr lang="en-US" altLang="en-US"/>
              <a:t> (that have been changed)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 u="sng"/>
              <a:t>	Lost data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5">
            <a:extLst>
              <a:ext uri="{FF2B5EF4-FFF2-40B4-BE49-F238E27FC236}">
                <a16:creationId xmlns:a16="http://schemas.microsoft.com/office/drawing/2014/main" id="{2DFBB4FE-6655-706D-0853-1C2D111A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CCBF2C78-2108-4133-BF7F-374C879A16F9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17C3BBBF-F945-CC94-7FDC-B95AE06274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152400"/>
            <a:ext cx="8204200" cy="1066800"/>
          </a:xfrm>
        </p:spPr>
        <p:txBody>
          <a:bodyPr/>
          <a:lstStyle/>
          <a:p>
            <a:pPr eaLnBrk="1" hangingPunct="1"/>
            <a:r>
              <a:rPr lang="en-US" altLang="en-US"/>
              <a:t>What are Network Errors?</a:t>
            </a:r>
          </a:p>
        </p:txBody>
      </p:sp>
      <p:sp>
        <p:nvSpPr>
          <p:cNvPr id="2253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B65F23E-DC4D-7C12-E878-BA0C80CDC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485900"/>
            <a:ext cx="8763000" cy="49149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Network errors are a fact of life in data communications networks.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Normally errors occur in bursts.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In a </a:t>
            </a:r>
            <a:r>
              <a:rPr lang="en-US" altLang="en-US" u="sng"/>
              <a:t>burst error</a:t>
            </a:r>
            <a:r>
              <a:rPr lang="en-US" altLang="en-US"/>
              <a:t>, more than one data bit is changed by the error-causing condition.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Errors are not uniformly distributed, regardless of </a:t>
            </a:r>
            <a:r>
              <a:rPr lang="en-US" altLang="en-US" u="sng"/>
              <a:t>error rate</a:t>
            </a:r>
            <a:r>
              <a:rPr lang="en-US" altLang="en-US"/>
              <a:t> statistics.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39535EBF-4856-4852-0907-3092EFFE1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ED9DF583-8457-49CB-A596-754B4FC20D1B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F0FC8D52-E4C7-A50F-37FE-3F68A6B475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Network Error</a:t>
            </a:r>
          </a:p>
        </p:txBody>
      </p:sp>
      <p:sp>
        <p:nvSpPr>
          <p:cNvPr id="23555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B072173-2CCF-829E-E92E-E6E68D5E4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407400" cy="46863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The fact that errors tend to be clustered in bursts rather than evenly dispersed is both good and bad: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/>
            <a:r>
              <a:rPr lang="en-US" altLang="en-US"/>
              <a:t>Good: long period error-free transmission</a:t>
            </a:r>
          </a:p>
          <a:p>
            <a:pPr lvl="1" eaLnBrk="1" hangingPunct="1"/>
            <a:r>
              <a:rPr lang="en-US" altLang="en-US"/>
              <a:t>Bad: it is more difficult to recover the data from the errors.</a:t>
            </a:r>
          </a:p>
          <a:p>
            <a:pPr lvl="1" eaLnBrk="1" hangingPunct="1"/>
            <a:endParaRPr lang="en-US" altLang="en-US"/>
          </a:p>
          <a:p>
            <a:pPr lvl="2" eaLnBrk="1" hangingPunct="1"/>
            <a:r>
              <a:rPr lang="en-US" altLang="en-US"/>
              <a:t>I h*ve a p*ncil in my p*cket</a:t>
            </a:r>
          </a:p>
          <a:p>
            <a:pPr lvl="2" eaLnBrk="1" hangingPunct="1"/>
            <a:r>
              <a:rPr lang="en-US" altLang="en-US"/>
              <a:t>I have a *e**il in my pocket </a:t>
            </a:r>
          </a:p>
          <a:p>
            <a:pPr lvl="2" eaLnBrk="1" hangingPunct="1"/>
            <a:r>
              <a:rPr lang="en-US" altLang="en-US"/>
              <a:t>Give me your *oney, or I</a:t>
            </a:r>
            <a:r>
              <a:rPr lang="ja-JP" altLang="en-US">
                <a:latin typeface="Arial" panose="020B0604020202020204" pitchFamily="34" charset="0"/>
                <a:ea typeface="MS PGothic" panose="020B0600070205080204" pitchFamily="34" charset="-128"/>
              </a:rPr>
              <a:t>’</a:t>
            </a:r>
            <a:r>
              <a:rPr lang="en-US" altLang="ja-JP">
                <a:ea typeface="MS PGothic" panose="020B0600070205080204" pitchFamily="34" charset="-128"/>
              </a:rPr>
              <a:t>ll ki** you.</a:t>
            </a:r>
          </a:p>
          <a:p>
            <a:pPr lvl="2" eaLnBrk="1" hangingPunct="1"/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FF85AD90-68C5-9E18-D9BA-CDA06CB6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4ADFE1AF-58E5-4306-B328-B0FE7BC094B9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7ED3909D-F81B-1C50-3F74-06C8A382C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Error Detection </a:t>
            </a:r>
          </a:p>
        </p:txBody>
      </p:sp>
      <p:sp>
        <p:nvSpPr>
          <p:cNvPr id="2457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03B761C-DF86-5227-2E23-0DD52C320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419225"/>
            <a:ext cx="8458200" cy="4686300"/>
          </a:xfrm>
        </p:spPr>
        <p:txBody>
          <a:bodyPr/>
          <a:lstStyle/>
          <a:p>
            <a:pPr eaLnBrk="1" hangingPunct="1"/>
            <a:r>
              <a:rPr lang="en-US" altLang="en-US"/>
              <a:t>It is possible to develop data transmission methodologies that give very high </a:t>
            </a:r>
            <a:r>
              <a:rPr lang="en-US" altLang="en-US" u="sng"/>
              <a:t>error detection and correction</a:t>
            </a:r>
            <a:r>
              <a:rPr lang="en-US" altLang="en-US"/>
              <a:t> performance.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The only way to do error detection and correction is to send extra data with each message.  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In general, the larger the amount of error detection data sent, the greater the ability to detect an 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20109987-5AE7-6113-F7EB-B2B79EAF7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03B0946A-A13E-4ACD-9F2E-F2394B377109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349EA2A6-E80D-3F8D-87AD-6F57F136E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Error Detection</a:t>
            </a:r>
          </a:p>
        </p:txBody>
      </p:sp>
      <p:sp>
        <p:nvSpPr>
          <p:cNvPr id="25603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8312788-63E2-2050-5C35-8E5185FDC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There are three common </a:t>
            </a:r>
            <a:r>
              <a:rPr lang="en-US" altLang="en-US" u="sng"/>
              <a:t>error detection  methods</a:t>
            </a:r>
            <a:r>
              <a:rPr lang="en-US" altLang="en-US"/>
              <a:t>.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Parity Checking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Longitudinal redundancy checking</a:t>
            </a:r>
          </a:p>
          <a:p>
            <a:pPr lvl="1" eaLnBrk="1" hangingPunct="1">
              <a:buFont typeface="Wingdings" panose="05000000000000000000" pitchFamily="2" charset="2"/>
              <a:buChar char="n"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Char char="n"/>
            </a:pPr>
            <a:r>
              <a:rPr lang="en-US" altLang="en-US"/>
              <a:t>Polynomial checking</a:t>
            </a:r>
          </a:p>
          <a:p>
            <a:pPr lvl="2" eaLnBrk="1" hangingPunct="1">
              <a:buFont typeface="Wingdings" panose="05000000000000000000" pitchFamily="2" charset="2"/>
              <a:buChar char="w"/>
            </a:pPr>
            <a:r>
              <a:rPr lang="en-US" altLang="en-US"/>
              <a:t>Checksum</a:t>
            </a:r>
          </a:p>
          <a:p>
            <a:pPr lvl="2" eaLnBrk="1" hangingPunct="1">
              <a:buFont typeface="Wingdings" panose="05000000000000000000" pitchFamily="2" charset="2"/>
              <a:buChar char="w"/>
            </a:pPr>
            <a:r>
              <a:rPr lang="en-US" altLang="en-US"/>
              <a:t>Cyclic Redundancy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86B3C0EB-2BFD-3DA2-ABE0-BEBDF050F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CC886BBD-339A-6E14-6F75-41B337279C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ABCDEFG 1 2 3 4 5 6 7</a:t>
            </a:r>
          </a:p>
          <a:p>
            <a:r>
              <a:rPr lang="en-US" altLang="en-US"/>
              <a:t>Sender</a:t>
            </a:r>
          </a:p>
          <a:p>
            <a:r>
              <a:rPr lang="en-US" altLang="en-US"/>
              <a:t>BAD 214 + 2 = 436 = DCF </a:t>
            </a:r>
          </a:p>
          <a:p>
            <a:r>
              <a:rPr lang="en-US" altLang="en-US"/>
              <a:t>Error ECF</a:t>
            </a:r>
          </a:p>
          <a:p>
            <a:endParaRPr lang="en-US" altLang="en-US"/>
          </a:p>
          <a:p>
            <a:r>
              <a:rPr lang="en-US" altLang="en-US"/>
              <a:t>Destination</a:t>
            </a:r>
          </a:p>
          <a:p>
            <a:r>
              <a:rPr lang="en-US" altLang="en-US"/>
              <a:t>436 – 2= 214 = BAD </a:t>
            </a:r>
          </a:p>
          <a:p>
            <a:r>
              <a:rPr lang="en-US" altLang="en-US"/>
              <a:t>ECF 635 – 2= 413 = DAC Detected n Error is this message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4CC9951D-0921-A88E-90CC-8F6F6844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8C61E715-8237-4E08-AB55-CC0FA962851D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04BE10D4-42DF-1329-AF48-5B776844E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 Control</a:t>
            </a:r>
          </a:p>
        </p:txBody>
      </p:sp>
      <p:sp>
        <p:nvSpPr>
          <p:cNvPr id="2765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EE95470-FF6A-EC0F-3795-FA9069C7E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991600" cy="46863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w"/>
            </a:pPr>
            <a:r>
              <a:rPr lang="en-US" altLang="en-US">
                <a:solidFill>
                  <a:schemeClr val="tx2"/>
                </a:solidFill>
              </a:rPr>
              <a:t>When data is being sent faster than it can be processed by receiver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w"/>
            </a:pPr>
            <a:endParaRPr lang="en-US" altLang="en-US">
              <a:solidFill>
                <a:schemeClr val="tx2"/>
              </a:solidFill>
            </a:endParaRPr>
          </a:p>
          <a:p>
            <a:r>
              <a:rPr lang="en-US" altLang="en-US"/>
              <a:t>Ensuring the sending entity does not overwhelm the receiving entity</a:t>
            </a:r>
          </a:p>
          <a:p>
            <a:pPr lvl="1"/>
            <a:r>
              <a:rPr lang="en-US" altLang="en-US"/>
              <a:t>Preventing buffer overflow</a:t>
            </a:r>
          </a:p>
          <a:p>
            <a:endParaRPr lang="en-US" altLang="en-US"/>
          </a:p>
          <a:p>
            <a:r>
              <a:rPr lang="en-US" altLang="en-US"/>
              <a:t>Transmission time</a:t>
            </a:r>
          </a:p>
          <a:p>
            <a:pPr lvl="1"/>
            <a:r>
              <a:rPr lang="en-US" altLang="en-US"/>
              <a:t>Time taken to emit all bits into medium</a:t>
            </a:r>
          </a:p>
          <a:p>
            <a:r>
              <a:rPr lang="en-US" altLang="en-US"/>
              <a:t>Propagation time</a:t>
            </a:r>
          </a:p>
          <a:p>
            <a:pPr lvl="1"/>
            <a:r>
              <a:rPr lang="en-US" altLang="en-US"/>
              <a:t>Time for a bit to traverse the link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w"/>
            </a:pPr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782CB8AC-91E0-DB54-31E2-92F6A984A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 of Frame Transmission</a:t>
            </a:r>
          </a:p>
        </p:txBody>
      </p:sp>
      <p:pic>
        <p:nvPicPr>
          <p:cNvPr id="28674" name="Picture 4">
            <a:extLst>
              <a:ext uri="{FF2B5EF4-FFF2-40B4-BE49-F238E27FC236}">
                <a16:creationId xmlns:a16="http://schemas.microsoft.com/office/drawing/2014/main" id="{A684A303-A4B8-28B8-D3A3-C2D8D1A46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02"/>
          <a:stretch>
            <a:fillRect/>
          </a:stretch>
        </p:blipFill>
        <p:spPr bwMode="auto">
          <a:xfrm>
            <a:off x="1524000" y="1354138"/>
            <a:ext cx="6172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7EA2CF08-D99B-C983-3D59-B76AFCFB6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Stop and Wait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79B91EB-4654-B8F4-1AE0-4B1E4782D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686300"/>
          </a:xfrm>
        </p:spPr>
        <p:txBody>
          <a:bodyPr/>
          <a:lstStyle/>
          <a:p>
            <a:r>
              <a:rPr lang="en-US" altLang="en-US"/>
              <a:t>Source transmits frame</a:t>
            </a:r>
          </a:p>
          <a:p>
            <a:r>
              <a:rPr lang="en-US" altLang="en-US"/>
              <a:t>Destination receives frame and replies with acknowledgement</a:t>
            </a:r>
          </a:p>
          <a:p>
            <a:r>
              <a:rPr lang="en-US" altLang="en-US"/>
              <a:t>Source waits for ACK before sending next frame</a:t>
            </a:r>
          </a:p>
          <a:p>
            <a:r>
              <a:rPr lang="en-US" altLang="en-US"/>
              <a:t>Destination can stop flow by not send ACK</a:t>
            </a:r>
          </a:p>
          <a:p>
            <a:r>
              <a:rPr lang="en-US" altLang="en-US"/>
              <a:t>Works well for few frames</a:t>
            </a:r>
          </a:p>
          <a:p>
            <a:r>
              <a:rPr lang="en-US" altLang="en-US"/>
              <a:t>Very inefficient, especially when a single message is broken into separate frames.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B2EED850-1040-B65C-D39B-532310BA0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Fragmentation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6204A544-E223-B7B5-B5EB-64249DC1D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en-US" altLang="en-US"/>
              <a:t>Large block of data may be split into small frames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Limited buffer size</a:t>
            </a:r>
          </a:p>
          <a:p>
            <a:pPr lvl="1"/>
            <a:r>
              <a:rPr lang="en-US" altLang="en-US"/>
              <a:t>Errors detected sooner (when whole frame received)</a:t>
            </a:r>
          </a:p>
          <a:p>
            <a:pPr lvl="1"/>
            <a:r>
              <a:rPr lang="en-US" altLang="en-US"/>
              <a:t>On error, retransmission of smaller frames is needed</a:t>
            </a:r>
          </a:p>
          <a:p>
            <a:pPr lvl="1"/>
            <a:r>
              <a:rPr lang="en-US" altLang="en-US"/>
              <a:t>Prevents one station occupying medium for long periods</a:t>
            </a:r>
          </a:p>
          <a:p>
            <a:endParaRPr lang="en-US" altLang="en-US"/>
          </a:p>
          <a:p>
            <a:r>
              <a:rPr lang="en-US" altLang="en-US"/>
              <a:t>Stop and wait becomes inadequate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741BEA76-BD80-C1F0-6C5F-A65D0A8ED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Sliding Windows Flow Control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575955C0-40FA-5064-0B6F-AC04CE3B4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4686300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Allow multiple frames to be in transit</a:t>
            </a:r>
          </a:p>
          <a:p>
            <a:endParaRPr lang="en-US" altLang="en-US"/>
          </a:p>
          <a:p>
            <a:r>
              <a:rPr lang="en-US" altLang="en-US"/>
              <a:t>Receiver has buffer W long</a:t>
            </a:r>
          </a:p>
          <a:p>
            <a:endParaRPr lang="en-US" altLang="en-US"/>
          </a:p>
          <a:p>
            <a:r>
              <a:rPr lang="en-US" altLang="en-US"/>
              <a:t>Transmitter can send up to W frames without ACK</a:t>
            </a:r>
          </a:p>
          <a:p>
            <a:endParaRPr lang="en-US" altLang="en-US"/>
          </a:p>
          <a:p>
            <a:r>
              <a:rPr lang="en-US" altLang="en-US"/>
              <a:t>Each frame is numbered</a:t>
            </a:r>
          </a:p>
          <a:p>
            <a:endParaRPr lang="en-US" altLang="en-US"/>
          </a:p>
          <a:p>
            <a:r>
              <a:rPr lang="en-US" altLang="en-US"/>
              <a:t>ACK includes number of next frame expected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A4B17F25-A9BF-44AF-D94C-AA90BD00C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Sliding Window Diagram</a:t>
            </a:r>
          </a:p>
        </p:txBody>
      </p:sp>
      <p:pic>
        <p:nvPicPr>
          <p:cNvPr id="32770" name="Picture 4">
            <a:extLst>
              <a:ext uri="{FF2B5EF4-FFF2-40B4-BE49-F238E27FC236}">
                <a16:creationId xmlns:a16="http://schemas.microsoft.com/office/drawing/2014/main" id="{43AA9900-A378-A657-DFC5-478356A4C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6"/>
          <a:stretch>
            <a:fillRect/>
          </a:stretch>
        </p:blipFill>
        <p:spPr bwMode="auto">
          <a:xfrm>
            <a:off x="1066800" y="1371600"/>
            <a:ext cx="723900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2F15CBFA-77C0-41DD-F613-CC9E587A0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Sliding Window Enhancements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30E50ABC-F6FA-385E-8C1B-3874CE0E64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" y="1600200"/>
            <a:ext cx="8839200" cy="5029200"/>
          </a:xfrm>
        </p:spPr>
        <p:txBody>
          <a:bodyPr/>
          <a:lstStyle/>
          <a:p>
            <a:r>
              <a:rPr lang="en-US" altLang="en-US"/>
              <a:t>Receiver can acknowledge frames without permitting further transmission (Receiver Not Ready)</a:t>
            </a:r>
          </a:p>
          <a:p>
            <a:endParaRPr lang="en-US" altLang="en-US"/>
          </a:p>
          <a:p>
            <a:r>
              <a:rPr lang="en-US" altLang="en-US"/>
              <a:t>Must send a normal acknowledge to resume</a:t>
            </a:r>
          </a:p>
          <a:p>
            <a:endParaRPr lang="en-US" altLang="en-US"/>
          </a:p>
          <a:p>
            <a:r>
              <a:rPr lang="en-US" altLang="en-US"/>
              <a:t>If duplex, use piggybacking</a:t>
            </a:r>
          </a:p>
          <a:p>
            <a:pPr lvl="1"/>
            <a:r>
              <a:rPr lang="en-US" altLang="en-US"/>
              <a:t>If no data to send, use acknowledgement frame</a:t>
            </a:r>
          </a:p>
          <a:p>
            <a:pPr lvl="1"/>
            <a:r>
              <a:rPr lang="en-US" altLang="en-US"/>
              <a:t>If data but no acknowledgement to send, send last acknowledgement number again.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>
            <a:extLst>
              <a:ext uri="{FF2B5EF4-FFF2-40B4-BE49-F238E27FC236}">
                <a16:creationId xmlns:a16="http://schemas.microsoft.com/office/drawing/2014/main" id="{2956436F-2525-ADF9-C253-B06B3061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F0C201B2-8C5C-43B6-BC43-B2313E0BD663}" type="slidenum">
              <a:rPr kumimoji="0" lang="en-US" altLang="en-US" sz="1400">
                <a:ea typeface="MS PGothic" panose="020B0600070205080204" pitchFamily="34" charset="-128"/>
              </a:rPr>
              <a:pPr>
                <a:spcBef>
                  <a:spcPct val="50000"/>
                </a:spcBef>
                <a:buClrTx/>
                <a:buFontTx/>
                <a:buNone/>
              </a:pPr>
              <a:t>18</a:t>
            </a:fld>
            <a:endParaRPr kumimoji="0" lang="en-US" altLang="en-US" sz="1400">
              <a:ea typeface="MS PGothic" panose="020B0600070205080204" pitchFamily="34" charset="-128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76A8D9A6-0E61-AA47-FD9D-7CB78C30C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Error Correction</a:t>
            </a:r>
          </a:p>
        </p:txBody>
      </p:sp>
      <p:sp>
        <p:nvSpPr>
          <p:cNvPr id="3481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9DAEBFC-DD30-AA4A-9A46-41E96797D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4686300"/>
          </a:xfrm>
        </p:spPr>
        <p:txBody>
          <a:bodyPr/>
          <a:lstStyle/>
          <a:p>
            <a:pPr eaLnBrk="1" hangingPunct="1">
              <a:buFont typeface="Wingdings" charset="0"/>
              <a:buChar char="w"/>
              <a:defRPr/>
            </a:pPr>
            <a:endParaRPr lang="en-US" sz="2400" dirty="0"/>
          </a:p>
          <a:p>
            <a:pPr eaLnBrk="1" hangingPunct="1">
              <a:buFont typeface="Wingdings" charset="0"/>
              <a:buChar char="w"/>
              <a:defRPr/>
            </a:pPr>
            <a:r>
              <a:rPr lang="en-US" sz="2400" dirty="0"/>
              <a:t>A receiver that detects an error simply asks the sender to retransmit the message until it is received without error. </a:t>
            </a:r>
          </a:p>
          <a:p>
            <a:pPr lvl="1" eaLnBrk="1" hangingPunct="1">
              <a:buFont typeface="Wingdings" charset="0"/>
              <a:buChar char="n"/>
              <a:defRPr/>
            </a:pPr>
            <a:r>
              <a:rPr lang="en-US" sz="2000" dirty="0"/>
              <a:t>Lost frame</a:t>
            </a:r>
          </a:p>
          <a:p>
            <a:pPr lvl="1" eaLnBrk="1" hangingPunct="1">
              <a:buFont typeface="Wingdings" charset="0"/>
              <a:buChar char="n"/>
              <a:defRPr/>
            </a:pPr>
            <a:r>
              <a:rPr lang="en-US" sz="2000" dirty="0"/>
              <a:t>Damaged frame</a:t>
            </a:r>
          </a:p>
          <a:p>
            <a:pPr marL="457200" lvl="1" indent="0" eaLnBrk="1" hangingPunct="1">
              <a:buFontTx/>
              <a:buNone/>
              <a:defRPr/>
            </a:pPr>
            <a:endParaRPr lang="en-US" sz="2000" dirty="0"/>
          </a:p>
          <a:p>
            <a:pPr eaLnBrk="1" hangingPunct="1">
              <a:buFont typeface="Wingdings" charset="0"/>
              <a:buChar char="w"/>
              <a:defRPr/>
            </a:pPr>
            <a:r>
              <a:rPr lang="en-US" sz="2400" dirty="0"/>
              <a:t>With </a:t>
            </a:r>
            <a:r>
              <a:rPr lang="en-US" sz="2400" u="sng" dirty="0"/>
              <a:t>Stop and Wait</a:t>
            </a:r>
            <a:r>
              <a:rPr lang="en-US" sz="2400" dirty="0"/>
              <a:t> the sender stops and waits for a response from the receiver after each message or data package.  </a:t>
            </a:r>
          </a:p>
          <a:p>
            <a:pPr eaLnBrk="1" hangingPunct="1">
              <a:buFont typeface="Wingdings" charset="0"/>
              <a:buChar char="w"/>
              <a:defRPr/>
            </a:pPr>
            <a:r>
              <a:rPr lang="en-US" sz="2400" dirty="0"/>
              <a:t>Responses are:</a:t>
            </a:r>
          </a:p>
          <a:p>
            <a:pPr lvl="1" eaLnBrk="1" hangingPunct="1">
              <a:buFont typeface="Wingdings" charset="0"/>
              <a:buChar char="n"/>
              <a:defRPr/>
            </a:pPr>
            <a:r>
              <a:rPr lang="en-US" sz="2000" dirty="0"/>
              <a:t>Error detection</a:t>
            </a:r>
          </a:p>
          <a:p>
            <a:pPr lvl="1" eaLnBrk="1" hangingPunct="1">
              <a:buFont typeface="Wingdings" charset="0"/>
              <a:buChar char="n"/>
              <a:defRPr/>
            </a:pPr>
            <a:r>
              <a:rPr lang="en-US" sz="2000" dirty="0"/>
              <a:t>Positive acknowledgment (ACK)</a:t>
            </a:r>
          </a:p>
          <a:p>
            <a:pPr lvl="1" eaLnBrk="1" hangingPunct="1">
              <a:buFont typeface="Wingdings" charset="0"/>
              <a:buChar char="n"/>
              <a:defRPr/>
            </a:pPr>
            <a:r>
              <a:rPr lang="en-US" sz="2000" dirty="0"/>
              <a:t>Negative acknowledgment and retransmission (NAK)</a:t>
            </a:r>
          </a:p>
          <a:p>
            <a:pPr lvl="1" eaLnBrk="1" hangingPunct="1">
              <a:buFont typeface="Wingdings" charset="0"/>
              <a:buChar char="n"/>
              <a:defRPr/>
            </a:pPr>
            <a:r>
              <a:rPr lang="en-US" sz="2000" dirty="0"/>
              <a:t>Retransmission after time-out</a:t>
            </a:r>
          </a:p>
          <a:p>
            <a:pPr lvl="1" eaLnBrk="1" hangingPunct="1">
              <a:buFont typeface="Wingdings" charset="0"/>
              <a:buChar char="n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293F7764-08A2-A0E8-8B80-4A0E591A94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915400" cy="1143000"/>
          </a:xfrm>
        </p:spPr>
        <p:txBody>
          <a:bodyPr/>
          <a:lstStyle/>
          <a:p>
            <a:r>
              <a:rPr lang="en-US" altLang="en-US"/>
              <a:t>Automatic Repeat Request (ARQ)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B397F4CD-AC15-4B68-CC12-308FF6D1A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en-US" altLang="en-US"/>
              <a:t>Stop and wait</a:t>
            </a:r>
          </a:p>
          <a:p>
            <a:endParaRPr lang="en-US" altLang="en-US"/>
          </a:p>
          <a:p>
            <a:r>
              <a:rPr lang="en-US" altLang="en-US"/>
              <a:t>Go back N</a:t>
            </a:r>
          </a:p>
          <a:p>
            <a:endParaRPr lang="en-US" altLang="en-US"/>
          </a:p>
          <a:p>
            <a:r>
              <a:rPr lang="en-US" altLang="en-US"/>
              <a:t>Selective reject (selective retransmission)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51F8A3BA-EF69-0B99-3235-E45DE0D115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Stop and Wait (ARQ)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C62965CE-372F-2FAE-7487-F5F73A9E5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4686300"/>
          </a:xfrm>
        </p:spPr>
        <p:txBody>
          <a:bodyPr/>
          <a:lstStyle/>
          <a:p>
            <a:r>
              <a:rPr lang="en-US" altLang="en-US"/>
              <a:t>Source transmits single frame</a:t>
            </a:r>
          </a:p>
          <a:p>
            <a:r>
              <a:rPr lang="en-US" altLang="en-US"/>
              <a:t>Wait for ACK</a:t>
            </a:r>
          </a:p>
          <a:p>
            <a:endParaRPr lang="en-US" altLang="en-US"/>
          </a:p>
          <a:p>
            <a:r>
              <a:rPr lang="en-US" altLang="en-US"/>
              <a:t>If received frame damaged, discard it</a:t>
            </a:r>
          </a:p>
          <a:p>
            <a:pPr lvl="1"/>
            <a:r>
              <a:rPr lang="en-US" altLang="en-US"/>
              <a:t>Transmitter has timeout</a:t>
            </a:r>
          </a:p>
          <a:p>
            <a:pPr lvl="1"/>
            <a:r>
              <a:rPr lang="en-US" altLang="en-US"/>
              <a:t>If no ACK within timeout, retransmit</a:t>
            </a:r>
          </a:p>
          <a:p>
            <a:endParaRPr lang="en-US" altLang="en-US"/>
          </a:p>
          <a:p>
            <a:r>
              <a:rPr lang="en-US" altLang="en-US"/>
              <a:t>If ACK damaged,transmitter will not recognize it</a:t>
            </a:r>
          </a:p>
          <a:p>
            <a:pPr lvl="1"/>
            <a:r>
              <a:rPr lang="en-US" altLang="en-US"/>
              <a:t>Transmitter will retransmit</a:t>
            </a:r>
          </a:p>
          <a:p>
            <a:pPr lvl="1"/>
            <a:r>
              <a:rPr lang="en-US" altLang="en-US"/>
              <a:t>Receive gets two copies of frame</a:t>
            </a:r>
          </a:p>
          <a:p>
            <a:pPr lvl="1"/>
            <a:r>
              <a:rPr lang="en-US" altLang="en-US"/>
              <a:t>Use ACK0 and ACK1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Text Box 2">
            <a:extLst>
              <a:ext uri="{FF2B5EF4-FFF2-40B4-BE49-F238E27FC236}">
                <a16:creationId xmlns:a16="http://schemas.microsoft.com/office/drawing/2014/main" id="{B69A3817-7626-F84C-9EF4-6338A9AA5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srgbClr val="0000FF"/>
                </a:solidFill>
                <a:latin typeface="Times New Roman" charset="0"/>
              </a:rPr>
              <a:t>11.13</a:t>
            </a:r>
            <a:r>
              <a:rPr lang="en-US" altLang="en-US">
                <a:solidFill>
                  <a:schemeClr val="accent2"/>
                </a:solidFill>
                <a:latin typeface="Times New Roman" charset="0"/>
              </a:rPr>
              <a:t>    </a:t>
            </a:r>
            <a:r>
              <a:rPr lang="en-US" altLang="en-US">
                <a:latin typeface="Times New Roman" charset="0"/>
              </a:rPr>
              <a:t>Selective Repeat ARQ, lost frame</a:t>
            </a:r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CC3C085D-6CEC-7241-817B-8E56A15DCF7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4244" name="Rectangle 4">
            <a:extLst>
              <a:ext uri="{FF2B5EF4-FFF2-40B4-BE49-F238E27FC236}">
                <a16:creationId xmlns:a16="http://schemas.microsoft.com/office/drawing/2014/main" id="{C3CE217B-D05E-AE49-9290-0996B6F3D8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4245" name="Rectangle 5">
            <a:extLst>
              <a:ext uri="{FF2B5EF4-FFF2-40B4-BE49-F238E27FC236}">
                <a16:creationId xmlns:a16="http://schemas.microsoft.com/office/drawing/2014/main" id="{17460885-CA8E-EA43-98DC-C6AECF237E7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4246" name="Rectangle 6">
            <a:extLst>
              <a:ext uri="{FF2B5EF4-FFF2-40B4-BE49-F238E27FC236}">
                <a16:creationId xmlns:a16="http://schemas.microsoft.com/office/drawing/2014/main" id="{C3296E0A-FD3C-D442-B7E1-C137E87D07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4247" name="Rectangle 7">
            <a:extLst>
              <a:ext uri="{FF2B5EF4-FFF2-40B4-BE49-F238E27FC236}">
                <a16:creationId xmlns:a16="http://schemas.microsoft.com/office/drawing/2014/main" id="{F0A0AA47-413F-4443-8DA3-DC91D92CB44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4248" name="Rectangle 8">
            <a:extLst>
              <a:ext uri="{FF2B5EF4-FFF2-40B4-BE49-F238E27FC236}">
                <a16:creationId xmlns:a16="http://schemas.microsoft.com/office/drawing/2014/main" id="{9B961766-3964-AB4B-8AB7-6189820FCC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4249" name="Rectangle 9">
            <a:extLst>
              <a:ext uri="{FF2B5EF4-FFF2-40B4-BE49-F238E27FC236}">
                <a16:creationId xmlns:a16="http://schemas.microsoft.com/office/drawing/2014/main" id="{BA1C21CA-7CF7-2C40-A1C2-ACF9D5AB42F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pic>
        <p:nvPicPr>
          <p:cNvPr id="394250" name="Picture 10">
            <a:extLst>
              <a:ext uri="{FF2B5EF4-FFF2-40B4-BE49-F238E27FC236}">
                <a16:creationId xmlns:a16="http://schemas.microsoft.com/office/drawing/2014/main" id="{3A53F24C-5020-CFBA-951A-C3C836FEA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138" y="730250"/>
            <a:ext cx="5859462" cy="567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4559484D-6275-3B8E-4EF5-59193654C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Stop and Wait - Pros and Cons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7CCECDF7-414C-86C0-065F-C2A38CB5E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en-US" altLang="en-US"/>
              <a:t>Simple</a:t>
            </a:r>
          </a:p>
          <a:p>
            <a:endParaRPr lang="en-US" altLang="en-US"/>
          </a:p>
          <a:p>
            <a:r>
              <a:rPr lang="en-US" altLang="en-US"/>
              <a:t>Inefficient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2BE197C5-055F-F548-BE6E-46E684262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 Back N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E26CDB1E-49FB-98F1-C35D-911703B9F7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4686300"/>
          </a:xfrm>
        </p:spPr>
        <p:txBody>
          <a:bodyPr/>
          <a:lstStyle/>
          <a:p>
            <a:r>
              <a:rPr lang="en-US" altLang="en-US"/>
              <a:t>Based on sliding window</a:t>
            </a:r>
          </a:p>
          <a:p>
            <a:r>
              <a:rPr lang="en-US" altLang="en-US"/>
              <a:t>If no error, ACK as usual with next frame expected</a:t>
            </a:r>
          </a:p>
          <a:p>
            <a:r>
              <a:rPr lang="en-US" altLang="en-US"/>
              <a:t>Use window size to control number of outstanding frames</a:t>
            </a:r>
          </a:p>
          <a:p>
            <a:endParaRPr lang="en-US" altLang="en-US"/>
          </a:p>
          <a:p>
            <a:r>
              <a:rPr lang="en-US" altLang="en-US"/>
              <a:t>If error, reply with rejection</a:t>
            </a:r>
          </a:p>
          <a:p>
            <a:pPr lvl="1"/>
            <a:r>
              <a:rPr lang="en-US" altLang="en-US"/>
              <a:t>Discard that frame and all future frames until error frame received correctly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Transmitter must go back and retransmit that frame and all subsequent frames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4BB3981C-CD98-E789-7827-DD9BF412C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 Back N - Damaged Frame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BA2BF379-2170-06A5-586C-6A932A448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534400" cy="4686300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Receiver detects error in frame </a:t>
            </a:r>
            <a:r>
              <a:rPr lang="en-US" altLang="en-US" i="1"/>
              <a:t>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Receiver sends rejection-</a:t>
            </a:r>
            <a:r>
              <a:rPr lang="en-US" altLang="en-US" i="1"/>
              <a:t>i</a:t>
            </a:r>
          </a:p>
          <a:p>
            <a:endParaRPr lang="en-US" altLang="en-US"/>
          </a:p>
          <a:p>
            <a:r>
              <a:rPr lang="en-US" altLang="en-US"/>
              <a:t>Transmitter gets rejection-</a:t>
            </a:r>
            <a:r>
              <a:rPr lang="en-US" altLang="en-US" i="1"/>
              <a:t>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Transmitter retransmits frame </a:t>
            </a:r>
            <a:r>
              <a:rPr lang="en-US" altLang="en-US" i="1"/>
              <a:t>i</a:t>
            </a:r>
            <a:r>
              <a:rPr lang="en-US" altLang="en-US"/>
              <a:t> and all subsequent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E4A09A9D-C263-4FBA-1C51-904B948E86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 Back N - Lost Frame (1)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87A55C49-D698-55FC-FC41-1FB5F2408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686300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Frame </a:t>
            </a:r>
            <a:r>
              <a:rPr lang="en-US" altLang="en-US" i="1"/>
              <a:t>i</a:t>
            </a:r>
            <a:r>
              <a:rPr lang="en-US" altLang="en-US"/>
              <a:t>  lost</a:t>
            </a:r>
          </a:p>
          <a:p>
            <a:endParaRPr lang="en-US" altLang="en-US"/>
          </a:p>
          <a:p>
            <a:r>
              <a:rPr lang="en-US" altLang="en-US"/>
              <a:t>Transmitter sends </a:t>
            </a:r>
            <a:r>
              <a:rPr lang="en-US" altLang="en-US" i="1"/>
              <a:t>i+1</a:t>
            </a:r>
          </a:p>
          <a:p>
            <a:endParaRPr lang="en-US" altLang="en-US"/>
          </a:p>
          <a:p>
            <a:r>
              <a:rPr lang="en-US" altLang="en-US"/>
              <a:t>Receiver gets frame </a:t>
            </a:r>
            <a:r>
              <a:rPr lang="en-US" altLang="en-US" i="1"/>
              <a:t>i+1</a:t>
            </a:r>
            <a:r>
              <a:rPr lang="en-US" altLang="en-US"/>
              <a:t> out of sequence</a:t>
            </a:r>
          </a:p>
          <a:p>
            <a:r>
              <a:rPr lang="en-US" altLang="en-US"/>
              <a:t>Receiver send reject </a:t>
            </a:r>
            <a:r>
              <a:rPr lang="en-US" altLang="en-US" i="1"/>
              <a:t>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Transmitter goes back to frame </a:t>
            </a:r>
            <a:r>
              <a:rPr lang="en-US" altLang="en-US" i="1"/>
              <a:t>i</a:t>
            </a:r>
            <a:r>
              <a:rPr lang="en-US" altLang="en-US"/>
              <a:t> and retransmits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8D32E9D7-738B-C823-24DA-9E89E6BCF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 Back N - Lost Frame (2)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212F8EEE-7FA5-0E57-47AE-7AB238A04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181600"/>
          </a:xfrm>
        </p:spPr>
        <p:txBody>
          <a:bodyPr/>
          <a:lstStyle/>
          <a:p>
            <a:r>
              <a:rPr lang="en-US" altLang="en-US"/>
              <a:t>Frame </a:t>
            </a:r>
            <a:r>
              <a:rPr kumimoji="0" lang="en-US" altLang="en-US" i="1"/>
              <a:t>i</a:t>
            </a:r>
            <a:r>
              <a:rPr kumimoji="0" lang="en-US" altLang="en-US"/>
              <a:t>  lost and no additional frame sent</a:t>
            </a:r>
          </a:p>
          <a:p>
            <a:endParaRPr kumimoji="0" lang="en-US" altLang="en-US"/>
          </a:p>
          <a:p>
            <a:r>
              <a:rPr kumimoji="0" lang="en-US" altLang="en-US"/>
              <a:t>Receiver gets nothing and returns neither acknowledgement nor rejection</a:t>
            </a:r>
          </a:p>
          <a:p>
            <a:endParaRPr lang="en-US" altLang="en-US"/>
          </a:p>
          <a:p>
            <a:r>
              <a:rPr lang="en-US" altLang="en-US"/>
              <a:t>Transmitter times out and sends acknowledgement frame with P bit set to 1</a:t>
            </a:r>
          </a:p>
          <a:p>
            <a:r>
              <a:rPr lang="en-US" altLang="en-US"/>
              <a:t>Receiver interprets this as command which it acknowledges with the number of the next frame it expects (frame </a:t>
            </a:r>
            <a:r>
              <a:rPr lang="en-US" altLang="en-US" i="1"/>
              <a:t>i </a:t>
            </a:r>
            <a:r>
              <a:rPr lang="en-US" altLang="en-US"/>
              <a:t>)</a:t>
            </a:r>
          </a:p>
          <a:p>
            <a:r>
              <a:rPr lang="en-US" altLang="en-US"/>
              <a:t>Transmitter then retransmits frame </a:t>
            </a:r>
            <a:r>
              <a:rPr lang="en-US" altLang="en-US" i="1"/>
              <a:t>i</a:t>
            </a: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C52D37E3-229A-645C-D2F4-BEDEFF27F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 Back N - Damaged Acknowledgement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B8F49007-95C4-6AF5-6E3E-FFC0E0C9F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915400" cy="5105400"/>
          </a:xfrm>
        </p:spPr>
        <p:txBody>
          <a:bodyPr/>
          <a:lstStyle/>
          <a:p>
            <a:r>
              <a:rPr lang="en-US" altLang="en-US"/>
              <a:t>Receiver gets frame </a:t>
            </a:r>
            <a:r>
              <a:rPr lang="en-US" altLang="en-US" i="1"/>
              <a:t>i</a:t>
            </a:r>
            <a:r>
              <a:rPr lang="en-US" altLang="en-US"/>
              <a:t> and send acknowledgement (</a:t>
            </a:r>
            <a:r>
              <a:rPr lang="en-US" altLang="en-US" i="1"/>
              <a:t>i+1</a:t>
            </a:r>
            <a:r>
              <a:rPr lang="en-US" altLang="en-US"/>
              <a:t>) which is lost</a:t>
            </a:r>
          </a:p>
          <a:p>
            <a:endParaRPr lang="en-US" altLang="en-US"/>
          </a:p>
          <a:p>
            <a:r>
              <a:rPr lang="en-US" altLang="en-US"/>
              <a:t>Acknowledgements are cumulative, so next acknowledgement (</a:t>
            </a:r>
            <a:r>
              <a:rPr lang="en-US" altLang="en-US" i="1"/>
              <a:t>i+n</a:t>
            </a:r>
            <a:r>
              <a:rPr lang="en-US" altLang="en-US"/>
              <a:t>) may arrive before transmitter times out on frame </a:t>
            </a:r>
            <a:r>
              <a:rPr lang="en-US" altLang="en-US" i="1"/>
              <a:t>i</a:t>
            </a:r>
          </a:p>
          <a:p>
            <a:endParaRPr lang="en-US" altLang="en-US"/>
          </a:p>
          <a:p>
            <a:r>
              <a:rPr lang="en-US" altLang="en-US"/>
              <a:t>If transmitter times out, it sends acknowledgement with P bit set as before</a:t>
            </a:r>
          </a:p>
          <a:p>
            <a:r>
              <a:rPr lang="en-US" altLang="en-US"/>
              <a:t>This can be repeated a number of times before a reset procedure is initiated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026">
            <a:extLst>
              <a:ext uri="{FF2B5EF4-FFF2-40B4-BE49-F238E27FC236}">
                <a16:creationId xmlns:a16="http://schemas.microsoft.com/office/drawing/2014/main" id="{FCA77D23-BDB7-D437-9619-07E756128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 Back N - </a:t>
            </a:r>
            <a:br>
              <a:rPr lang="en-US" altLang="en-US"/>
            </a:br>
            <a:r>
              <a:rPr lang="en-US" altLang="en-US"/>
              <a:t>Diagram</a:t>
            </a:r>
          </a:p>
        </p:txBody>
      </p:sp>
      <p:pic>
        <p:nvPicPr>
          <p:cNvPr id="45058" name="Picture 1028">
            <a:extLst>
              <a:ext uri="{FF2B5EF4-FFF2-40B4-BE49-F238E27FC236}">
                <a16:creationId xmlns:a16="http://schemas.microsoft.com/office/drawing/2014/main" id="{68E9701C-5EF6-4313-3167-E51E115A1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9550"/>
          <a:stretch>
            <a:fillRect/>
          </a:stretch>
        </p:blipFill>
        <p:spPr bwMode="auto">
          <a:xfrm>
            <a:off x="5665788" y="0"/>
            <a:ext cx="29448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BC061BC4-9B06-20E9-763A-D9738CB5E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Selective Reject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DEEABDD1-ADA8-BA74-D843-F486F853A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371600"/>
            <a:ext cx="9067800" cy="4686300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Also called selective retransmission</a:t>
            </a:r>
          </a:p>
          <a:p>
            <a:r>
              <a:rPr lang="en-US" altLang="en-US"/>
              <a:t>Only rejected frames are retransmitted</a:t>
            </a:r>
          </a:p>
          <a:p>
            <a:endParaRPr lang="en-US" altLang="en-US"/>
          </a:p>
          <a:p>
            <a:r>
              <a:rPr lang="en-US" altLang="en-US"/>
              <a:t>Subsequent frames are accepted by the receiver and buffered</a:t>
            </a:r>
          </a:p>
          <a:p>
            <a:endParaRPr lang="en-US" altLang="en-US"/>
          </a:p>
          <a:p>
            <a:r>
              <a:rPr lang="en-US" altLang="en-US"/>
              <a:t>Minimizes retransmission</a:t>
            </a:r>
          </a:p>
          <a:p>
            <a:r>
              <a:rPr lang="en-US" altLang="en-US"/>
              <a:t>Receiver must maintain large enough buffer</a:t>
            </a:r>
          </a:p>
          <a:p>
            <a:r>
              <a:rPr lang="en-US" altLang="en-US"/>
              <a:t>More complex login in transmitter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7B227408-CFC6-581C-789E-35ADC8EB6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Selective Reject -</a:t>
            </a:r>
            <a:br>
              <a:rPr lang="en-US" altLang="en-US"/>
            </a:br>
            <a:r>
              <a:rPr lang="en-US" altLang="en-US"/>
              <a:t>Diagram</a:t>
            </a:r>
          </a:p>
        </p:txBody>
      </p:sp>
      <p:pic>
        <p:nvPicPr>
          <p:cNvPr id="47106" name="Picture 4">
            <a:extLst>
              <a:ext uri="{FF2B5EF4-FFF2-40B4-BE49-F238E27FC236}">
                <a16:creationId xmlns:a16="http://schemas.microsoft.com/office/drawing/2014/main" id="{05B5E0FB-5A7B-14BD-747A-5C0426814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9550"/>
          <a:stretch>
            <a:fillRect/>
          </a:stretch>
        </p:blipFill>
        <p:spPr bwMode="auto">
          <a:xfrm>
            <a:off x="5667375" y="0"/>
            <a:ext cx="29432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F0551A7E-C6D8-BBBD-15EA-88AC262B2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915400" cy="1143000"/>
          </a:xfrm>
        </p:spPr>
        <p:txBody>
          <a:bodyPr/>
          <a:lstStyle/>
          <a:p>
            <a:r>
              <a:rPr lang="en-US" altLang="en-US"/>
              <a:t>High-Level Data Link Control </a:t>
            </a:r>
            <a:r>
              <a:rPr lang="en-US" altLang="en-US" sz="2800"/>
              <a:t>(HDLC)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EB76C715-5029-1B55-B14B-C76F50CEC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15400" cy="5257800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HDLC was defined by ISO for use on both point-to-point and multipoint data links.</a:t>
            </a:r>
          </a:p>
          <a:p>
            <a:r>
              <a:rPr lang="en-US" altLang="en-US"/>
              <a:t>It supports full-duplex communication</a:t>
            </a:r>
          </a:p>
          <a:p>
            <a:endParaRPr lang="en-US" altLang="en-US"/>
          </a:p>
          <a:p>
            <a:r>
              <a:rPr lang="en-US" altLang="en-US"/>
              <a:t>Other similar protocols are</a:t>
            </a:r>
          </a:p>
          <a:p>
            <a:pPr lvl="1"/>
            <a:r>
              <a:rPr lang="en-US" altLang="en-US"/>
              <a:t>Synchronous Data Link Control (SDLC) by IBM</a:t>
            </a:r>
          </a:p>
          <a:p>
            <a:pPr lvl="1"/>
            <a:r>
              <a:rPr lang="en-US" altLang="en-US"/>
              <a:t>Advanced Data Communication Control Procedure (ADCCP) by ANSI</a:t>
            </a:r>
          </a:p>
          <a:p>
            <a:pPr lvl="1"/>
            <a:r>
              <a:rPr lang="en-US" altLang="en-US"/>
              <a:t>Link Access Procedure, Balanced (LAP-B) by ITU.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62A5B5B3-F027-FFDD-C9BB-D3B6AE2A8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HDLC Overview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BE728C91-CB3E-4C7E-18E8-D791C62A7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100" y="1231900"/>
            <a:ext cx="8686800" cy="5257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altLang="en-US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/>
              <a:t>Broadly HDLC features are as follows:</a:t>
            </a:r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/>
              <a:t>Reliable protocol</a:t>
            </a:r>
            <a:r>
              <a:rPr lang="en-US" altLang="en-US" sz="2400"/>
              <a:t> (selective repeat or go-back-N)</a:t>
            </a:r>
          </a:p>
          <a:p>
            <a:pPr>
              <a:lnSpc>
                <a:spcPct val="80000"/>
              </a:lnSpc>
            </a:pPr>
            <a:r>
              <a:rPr lang="en-US" altLang="en-US"/>
              <a:t>Full-duplex communication</a:t>
            </a:r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/>
              <a:t>Bit-oriented protocol</a:t>
            </a:r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/>
              <a:t>Flow control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adjust window size based on receiver capability</a:t>
            </a:r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/>
              <a:t>Uses physical layer clocking and synchronization to send and receive frames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3BBF0D3C-61EF-98D3-FDD8-B17143E2D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HDLC Overview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B0E4613D-6A49-A278-0275-0E6C61EC2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600200"/>
            <a:ext cx="8178800" cy="46863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Defines three types of stations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Primary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Secondary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Combined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Defines three types of data transfer mode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Normal Response mode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Asynchronous Response mode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Asynchronous Balanced mode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Three types of frames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Unnumbered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information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Supervisory</a:t>
            </a:r>
          </a:p>
          <a:p>
            <a:pPr lvl="1">
              <a:lnSpc>
                <a:spcPct val="9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F1675825-09F4-92AF-D00C-F5DF892343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HDLC Station Types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27CB39D-B7D8-7645-8439-47AFB4ACD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1054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dirty="0"/>
              <a:t>The three stations are :</a:t>
            </a:r>
          </a:p>
          <a:p>
            <a:pPr>
              <a:lnSpc>
                <a:spcPct val="80000"/>
              </a:lnSpc>
              <a:defRPr/>
            </a:pPr>
            <a:endParaRPr lang="en-US" dirty="0"/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srgbClr val="0000FF"/>
                </a:solidFill>
              </a:rPr>
              <a:t>Primary station</a:t>
            </a:r>
            <a:r>
              <a:rPr lang="en-US" dirty="0"/>
              <a:t> </a:t>
            </a:r>
          </a:p>
          <a:p>
            <a:pPr lvl="2">
              <a:lnSpc>
                <a:spcPct val="80000"/>
              </a:lnSpc>
              <a:defRPr/>
            </a:pPr>
            <a:r>
              <a:rPr lang="en-US" dirty="0"/>
              <a:t>Has the responsibility of controlling the operation of data flow the link. </a:t>
            </a:r>
          </a:p>
          <a:p>
            <a:pPr lvl="2">
              <a:lnSpc>
                <a:spcPct val="80000"/>
              </a:lnSpc>
              <a:defRPr/>
            </a:pPr>
            <a:r>
              <a:rPr lang="en-US" dirty="0"/>
              <a:t>Handles error recovery</a:t>
            </a:r>
          </a:p>
          <a:p>
            <a:pPr lvl="2">
              <a:lnSpc>
                <a:spcPct val="80000"/>
              </a:lnSpc>
              <a:defRPr/>
            </a:pPr>
            <a:r>
              <a:rPr lang="en-US" dirty="0"/>
              <a:t>Frames issued by the primary station are called </a:t>
            </a:r>
            <a:r>
              <a:rPr lang="en-US" i="1" dirty="0">
                <a:solidFill>
                  <a:srgbClr val="0000FF"/>
                </a:solidFill>
              </a:rPr>
              <a:t>commands</a:t>
            </a:r>
            <a:r>
              <a:rPr lang="en-US" i="1" dirty="0"/>
              <a:t>.</a:t>
            </a:r>
            <a:endParaRPr lang="en-US" dirty="0"/>
          </a:p>
          <a:p>
            <a:pPr lvl="1">
              <a:lnSpc>
                <a:spcPct val="80000"/>
              </a:lnSpc>
              <a:defRPr/>
            </a:pPr>
            <a:endParaRPr lang="en-US" dirty="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srgbClr val="0000FF"/>
                </a:solidFill>
              </a:rPr>
              <a:t>Secondary station</a:t>
            </a:r>
            <a:r>
              <a:rPr lang="en-US" dirty="0"/>
              <a:t>, </a:t>
            </a:r>
          </a:p>
          <a:p>
            <a:pPr lvl="2">
              <a:lnSpc>
                <a:spcPct val="80000"/>
              </a:lnSpc>
              <a:defRPr/>
            </a:pPr>
            <a:r>
              <a:rPr lang="en-US" dirty="0"/>
              <a:t>Operates under the control of the primary station. </a:t>
            </a:r>
          </a:p>
          <a:p>
            <a:pPr lvl="2">
              <a:lnSpc>
                <a:spcPct val="80000"/>
              </a:lnSpc>
              <a:defRPr/>
            </a:pPr>
            <a:r>
              <a:rPr lang="en-US" dirty="0"/>
              <a:t>Frames issued by a secondary station are called </a:t>
            </a:r>
            <a:r>
              <a:rPr lang="en-US" i="1" dirty="0">
                <a:solidFill>
                  <a:srgbClr val="0000FF"/>
                </a:solidFill>
              </a:rPr>
              <a:t>responses</a:t>
            </a:r>
            <a:r>
              <a:rPr lang="en-US" dirty="0"/>
              <a:t>.</a:t>
            </a:r>
          </a:p>
          <a:p>
            <a:pPr lvl="2">
              <a:lnSpc>
                <a:spcPct val="80000"/>
              </a:lnSpc>
              <a:defRPr/>
            </a:pPr>
            <a:r>
              <a:rPr lang="en-US" dirty="0"/>
              <a:t>The primary station maintains a separate logical link with each secondary station.</a:t>
            </a:r>
          </a:p>
          <a:p>
            <a:pPr marL="457200" lvl="1" indent="0">
              <a:lnSpc>
                <a:spcPct val="80000"/>
              </a:lnSpc>
              <a:buFontTx/>
              <a:buNone/>
              <a:defRPr/>
            </a:pPr>
            <a:r>
              <a:rPr lang="en-US" dirty="0">
                <a:solidFill>
                  <a:srgbClr val="0000FF"/>
                </a:solidFill>
              </a:rPr>
              <a:t> 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srgbClr val="0000FF"/>
                </a:solidFill>
              </a:rPr>
              <a:t>Combined station</a:t>
            </a:r>
            <a:r>
              <a:rPr lang="en-US" dirty="0"/>
              <a:t>, </a:t>
            </a:r>
          </a:p>
          <a:p>
            <a:pPr lvl="2">
              <a:lnSpc>
                <a:spcPct val="80000"/>
              </a:lnSpc>
              <a:defRPr/>
            </a:pPr>
            <a:r>
              <a:rPr lang="en-US" dirty="0"/>
              <a:t>Acts as both as primary and secondary station.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F48C5552-BC33-03A0-A160-5D80F1FCB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HDLC Link Configurations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9D9825CF-0B71-1C02-19E9-1EFFE7ACE2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en-US" altLang="en-US"/>
              <a:t>Unbalanced</a:t>
            </a:r>
          </a:p>
          <a:p>
            <a:pPr lvl="1"/>
            <a:r>
              <a:rPr lang="en-US" altLang="en-US"/>
              <a:t>One primary and one or more secondary stations</a:t>
            </a:r>
          </a:p>
          <a:p>
            <a:pPr lvl="1"/>
            <a:r>
              <a:rPr lang="en-US" altLang="en-US"/>
              <a:t>Supports full duplex and half duplex</a:t>
            </a:r>
          </a:p>
          <a:p>
            <a:endParaRPr lang="en-US" altLang="en-US"/>
          </a:p>
          <a:p>
            <a:r>
              <a:rPr lang="en-US" altLang="en-US"/>
              <a:t>Balanced</a:t>
            </a:r>
          </a:p>
          <a:p>
            <a:pPr lvl="1"/>
            <a:r>
              <a:rPr lang="en-US" altLang="en-US"/>
              <a:t>Two combined stations</a:t>
            </a:r>
          </a:p>
          <a:p>
            <a:pPr lvl="1"/>
            <a:r>
              <a:rPr lang="en-US" altLang="en-US"/>
              <a:t>Supports full duplex and half duplex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294E3D67-4DC7-5F8A-126D-7944CF09A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HDLC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98DCEE4A-C187-8A61-7255-18264433A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133600"/>
            <a:ext cx="11430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Primary</a:t>
            </a:r>
          </a:p>
        </p:txBody>
      </p:sp>
      <p:sp>
        <p:nvSpPr>
          <p:cNvPr id="55299" name="Line 4">
            <a:extLst>
              <a:ext uri="{FF2B5EF4-FFF2-40B4-BE49-F238E27FC236}">
                <a16:creationId xmlns:a16="http://schemas.microsoft.com/office/drawing/2014/main" id="{3EE17305-612D-CDF5-E8DB-5FEE702EB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514600"/>
            <a:ext cx="548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0" name="Rectangle 5">
            <a:extLst>
              <a:ext uri="{FF2B5EF4-FFF2-40B4-BE49-F238E27FC236}">
                <a16:creationId xmlns:a16="http://schemas.microsoft.com/office/drawing/2014/main" id="{B857E20F-384D-A379-C3D4-E487CB4C7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048000"/>
            <a:ext cx="14478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Secondary</a:t>
            </a:r>
          </a:p>
        </p:txBody>
      </p:sp>
      <p:sp>
        <p:nvSpPr>
          <p:cNvPr id="55301" name="Rectangle 6">
            <a:extLst>
              <a:ext uri="{FF2B5EF4-FFF2-40B4-BE49-F238E27FC236}">
                <a16:creationId xmlns:a16="http://schemas.microsoft.com/office/drawing/2014/main" id="{C55FFB35-F544-4492-DF6C-B6AEEDEA5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048000"/>
            <a:ext cx="15240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Secondary</a:t>
            </a:r>
          </a:p>
        </p:txBody>
      </p:sp>
      <p:sp>
        <p:nvSpPr>
          <p:cNvPr id="55302" name="Line 7">
            <a:extLst>
              <a:ext uri="{FF2B5EF4-FFF2-40B4-BE49-F238E27FC236}">
                <a16:creationId xmlns:a16="http://schemas.microsoft.com/office/drawing/2014/main" id="{E971CB81-CC66-69A0-92BC-545195F27B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8125" y="2514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Line 8">
            <a:extLst>
              <a:ext uri="{FF2B5EF4-FFF2-40B4-BE49-F238E27FC236}">
                <a16:creationId xmlns:a16="http://schemas.microsoft.com/office/drawing/2014/main" id="{F8986002-05D2-4158-4137-7A8D07BDF9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00925" y="2514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Line 9">
            <a:extLst>
              <a:ext uri="{FF2B5EF4-FFF2-40B4-BE49-F238E27FC236}">
                <a16:creationId xmlns:a16="http://schemas.microsoft.com/office/drawing/2014/main" id="{BA2C12EC-7415-0CB2-0956-B01A016DB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2098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Text Box 10">
            <a:extLst>
              <a:ext uri="{FF2B5EF4-FFF2-40B4-BE49-F238E27FC236}">
                <a16:creationId xmlns:a16="http://schemas.microsoft.com/office/drawing/2014/main" id="{4A2A7104-5A6C-EC14-A720-9D35AF701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9812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Commands</a:t>
            </a:r>
          </a:p>
        </p:txBody>
      </p:sp>
      <p:sp>
        <p:nvSpPr>
          <p:cNvPr id="55306" name="Line 11">
            <a:extLst>
              <a:ext uri="{FF2B5EF4-FFF2-40B4-BE49-F238E27FC236}">
                <a16:creationId xmlns:a16="http://schemas.microsoft.com/office/drawing/2014/main" id="{62E9226C-9D61-44E3-48F9-1A61517422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2752725"/>
            <a:ext cx="251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7" name="Text Box 12">
            <a:extLst>
              <a:ext uri="{FF2B5EF4-FFF2-40B4-BE49-F238E27FC236}">
                <a16:creationId xmlns:a16="http://schemas.microsoft.com/office/drawing/2014/main" id="{86D3C106-2837-6170-1267-4113E676E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59080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Responses</a:t>
            </a:r>
          </a:p>
        </p:txBody>
      </p:sp>
      <p:sp>
        <p:nvSpPr>
          <p:cNvPr id="55308" name="Rectangle 13">
            <a:extLst>
              <a:ext uri="{FF2B5EF4-FFF2-40B4-BE49-F238E27FC236}">
                <a16:creationId xmlns:a16="http://schemas.microsoft.com/office/drawing/2014/main" id="{67FCCA15-EAE9-130E-2DCF-77596F9D7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181600"/>
            <a:ext cx="18288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Combined</a:t>
            </a:r>
          </a:p>
        </p:txBody>
      </p:sp>
      <p:sp>
        <p:nvSpPr>
          <p:cNvPr id="55309" name="Rectangle 14">
            <a:extLst>
              <a:ext uri="{FF2B5EF4-FFF2-40B4-BE49-F238E27FC236}">
                <a16:creationId xmlns:a16="http://schemas.microsoft.com/office/drawing/2014/main" id="{1FFF4BE1-2D93-6ACA-62B6-5B505B33B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181600"/>
            <a:ext cx="18288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Combined</a:t>
            </a:r>
          </a:p>
        </p:txBody>
      </p:sp>
      <p:sp>
        <p:nvSpPr>
          <p:cNvPr id="55310" name="Line 15">
            <a:extLst>
              <a:ext uri="{FF2B5EF4-FFF2-40B4-BE49-F238E27FC236}">
                <a16:creationId xmlns:a16="http://schemas.microsoft.com/office/drawing/2014/main" id="{1C8B54EF-FDEC-07A2-B1E0-D8E207D7D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4864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1" name="Text Box 16">
            <a:extLst>
              <a:ext uri="{FF2B5EF4-FFF2-40B4-BE49-F238E27FC236}">
                <a16:creationId xmlns:a16="http://schemas.microsoft.com/office/drawing/2014/main" id="{5C835D0C-DC6C-3DC6-3392-12D395F21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715000"/>
            <a:ext cx="281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commands/Responses</a:t>
            </a:r>
          </a:p>
        </p:txBody>
      </p:sp>
      <p:sp>
        <p:nvSpPr>
          <p:cNvPr id="55312" name="Text Box 17">
            <a:extLst>
              <a:ext uri="{FF2B5EF4-FFF2-40B4-BE49-F238E27FC236}">
                <a16:creationId xmlns:a16="http://schemas.microsoft.com/office/drawing/2014/main" id="{2774DED6-E87F-5942-9604-2F9478C8E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219200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0" lang="en-US" altLang="en-US" sz="2400">
                <a:latin typeface="Times New Roman" panose="02020603050405020304" pitchFamily="18" charset="0"/>
              </a:rPr>
              <a:t>Unbalanced Mode</a:t>
            </a:r>
          </a:p>
        </p:txBody>
      </p:sp>
      <p:sp>
        <p:nvSpPr>
          <p:cNvPr id="55313" name="Text Box 18">
            <a:extLst>
              <a:ext uri="{FF2B5EF4-FFF2-40B4-BE49-F238E27FC236}">
                <a16:creationId xmlns:a16="http://schemas.microsoft.com/office/drawing/2014/main" id="{F5459ABD-5998-9D65-3FBD-AD2629EA2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3434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0" lang="en-US" altLang="en-US" sz="2400">
                <a:latin typeface="Times New Roman" panose="02020603050405020304" pitchFamily="18" charset="0"/>
              </a:rPr>
              <a:t>Balanced mode</a:t>
            </a:r>
          </a:p>
        </p:txBody>
      </p:sp>
      <p:sp>
        <p:nvSpPr>
          <p:cNvPr id="55314" name="Line 19">
            <a:extLst>
              <a:ext uri="{FF2B5EF4-FFF2-40B4-BE49-F238E27FC236}">
                <a16:creationId xmlns:a16="http://schemas.microsoft.com/office/drawing/2014/main" id="{EB374AD4-DE01-489A-8F2C-6425A7650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1148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7ED34D91-9DB7-764F-7485-9F4C4CA3D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HDLC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942F726B-9282-52B7-8793-95CD756BEC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8991600" cy="46863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The three modes of data transfer operations are</a:t>
            </a:r>
          </a:p>
          <a:p>
            <a:pPr lvl="1">
              <a:lnSpc>
                <a:spcPct val="80000"/>
              </a:lnSpc>
            </a:pPr>
            <a:endParaRPr lang="en-US" altLang="en-US" sz="200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00FF"/>
                </a:solidFill>
              </a:rPr>
              <a:t>Normal Response Mode</a:t>
            </a:r>
            <a:r>
              <a:rPr lang="en-US" altLang="en-US" sz="2000"/>
              <a:t> (NRM) 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In this case, 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Secondaries (terminals) can only transmit when specifically instructed by the primary station.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Unbalanced configuration, good for multi-point links</a:t>
            </a:r>
          </a:p>
          <a:p>
            <a:pPr lvl="1">
              <a:lnSpc>
                <a:spcPct val="80000"/>
              </a:lnSpc>
            </a:pPr>
            <a:endParaRPr lang="en-US" altLang="en-US" sz="200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00FF"/>
                </a:solidFill>
              </a:rPr>
              <a:t>Asynchronous Response Mode</a:t>
            </a:r>
            <a:r>
              <a:rPr lang="en-US" altLang="en-US" sz="2000"/>
              <a:t> (ARM) 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Same as NRM except that the secondaries can initiate transmissions without instruction from the primary station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Reduces overhead as no frames need to be sent to allow secondary nodes to transmit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Transmission proceeds when channel is detected idle , used mostly in point-to-point-links</a:t>
            </a:r>
          </a:p>
          <a:p>
            <a:pPr lvl="1">
              <a:lnSpc>
                <a:spcPct val="80000"/>
              </a:lnSpc>
            </a:pPr>
            <a:endParaRPr lang="en-US" altLang="en-US" sz="200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00FF"/>
                </a:solidFill>
              </a:rPr>
              <a:t>Asynchronous Balanced Mode</a:t>
            </a:r>
            <a:r>
              <a:rPr lang="en-US" altLang="en-US" sz="2000"/>
              <a:t> (ABM) 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Mainly used in point-to-point links, for communication between combined stations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Text Box 2">
            <a:extLst>
              <a:ext uri="{FF2B5EF4-FFF2-40B4-BE49-F238E27FC236}">
                <a16:creationId xmlns:a16="http://schemas.microsoft.com/office/drawing/2014/main" id="{6614898B-5931-9C47-ACC9-6E9EB7165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dirty="0">
                <a:solidFill>
                  <a:schemeClr val="accent2"/>
                </a:solidFill>
                <a:latin typeface="Times New Roman" charset="0"/>
              </a:rPr>
              <a:t>  </a:t>
            </a:r>
            <a:r>
              <a:rPr lang="en-US" altLang="en-US" dirty="0">
                <a:latin typeface="Times New Roman" charset="0"/>
              </a:rPr>
              <a:t>NRM</a:t>
            </a:r>
          </a:p>
        </p:txBody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5193940B-8FFA-C54D-AAAE-96326A5835E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6292" name="Rectangle 4">
            <a:extLst>
              <a:ext uri="{FF2B5EF4-FFF2-40B4-BE49-F238E27FC236}">
                <a16:creationId xmlns:a16="http://schemas.microsoft.com/office/drawing/2014/main" id="{2FEE952E-4210-7B47-9691-2E722B0290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6293" name="Rectangle 5">
            <a:extLst>
              <a:ext uri="{FF2B5EF4-FFF2-40B4-BE49-F238E27FC236}">
                <a16:creationId xmlns:a16="http://schemas.microsoft.com/office/drawing/2014/main" id="{C4C50BA4-3CF5-E141-AD35-6C39A7FE35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6294" name="Rectangle 6">
            <a:extLst>
              <a:ext uri="{FF2B5EF4-FFF2-40B4-BE49-F238E27FC236}">
                <a16:creationId xmlns:a16="http://schemas.microsoft.com/office/drawing/2014/main" id="{7D7DD65F-BD21-A14E-8707-79192FD7F93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6295" name="Rectangle 7">
            <a:extLst>
              <a:ext uri="{FF2B5EF4-FFF2-40B4-BE49-F238E27FC236}">
                <a16:creationId xmlns:a16="http://schemas.microsoft.com/office/drawing/2014/main" id="{C5A36578-F50E-FB48-8774-EA949E9F43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6296" name="Rectangle 8">
            <a:extLst>
              <a:ext uri="{FF2B5EF4-FFF2-40B4-BE49-F238E27FC236}">
                <a16:creationId xmlns:a16="http://schemas.microsoft.com/office/drawing/2014/main" id="{0154986A-8B2B-184C-A85F-0CE7DCD8119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6297" name="Rectangle 9">
            <a:extLst>
              <a:ext uri="{FF2B5EF4-FFF2-40B4-BE49-F238E27FC236}">
                <a16:creationId xmlns:a16="http://schemas.microsoft.com/office/drawing/2014/main" id="{5999CBBD-0EA9-9242-B148-E489E342604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pic>
        <p:nvPicPr>
          <p:cNvPr id="396298" name="Picture 10">
            <a:extLst>
              <a:ext uri="{FF2B5EF4-FFF2-40B4-BE49-F238E27FC236}">
                <a16:creationId xmlns:a16="http://schemas.microsoft.com/office/drawing/2014/main" id="{322AF25B-4839-C76F-F2C5-C2E0689E3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928813"/>
            <a:ext cx="7980362" cy="363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Text Box 2">
            <a:extLst>
              <a:ext uri="{FF2B5EF4-FFF2-40B4-BE49-F238E27FC236}">
                <a16:creationId xmlns:a16="http://schemas.microsoft.com/office/drawing/2014/main" id="{47EFB30B-108B-FE43-A060-32B63757E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srgbClr val="0000FF"/>
                </a:solidFill>
                <a:latin typeface="Times New Roman" charset="0"/>
              </a:rPr>
              <a:t>11.16</a:t>
            </a:r>
            <a:r>
              <a:rPr lang="en-US" altLang="en-US">
                <a:solidFill>
                  <a:schemeClr val="accent2"/>
                </a:solidFill>
                <a:latin typeface="Times New Roman" charset="0"/>
              </a:rPr>
              <a:t>    </a:t>
            </a:r>
            <a:r>
              <a:rPr lang="en-US" altLang="en-US">
                <a:latin typeface="Times New Roman" charset="0"/>
              </a:rPr>
              <a:t>ABM</a:t>
            </a:r>
          </a:p>
        </p:txBody>
      </p:sp>
      <p:sp>
        <p:nvSpPr>
          <p:cNvPr id="397315" name="Rectangle 3">
            <a:extLst>
              <a:ext uri="{FF2B5EF4-FFF2-40B4-BE49-F238E27FC236}">
                <a16:creationId xmlns:a16="http://schemas.microsoft.com/office/drawing/2014/main" id="{008741B6-A7DD-A448-9D25-E7A40E24AD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7316" name="Rectangle 4">
            <a:extLst>
              <a:ext uri="{FF2B5EF4-FFF2-40B4-BE49-F238E27FC236}">
                <a16:creationId xmlns:a16="http://schemas.microsoft.com/office/drawing/2014/main" id="{2B833FC0-0F5E-484F-8301-34BEE4849F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7317" name="Rectangle 5">
            <a:extLst>
              <a:ext uri="{FF2B5EF4-FFF2-40B4-BE49-F238E27FC236}">
                <a16:creationId xmlns:a16="http://schemas.microsoft.com/office/drawing/2014/main" id="{A207A931-6670-404C-835F-EF5E46A2D8F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7318" name="Rectangle 6">
            <a:extLst>
              <a:ext uri="{FF2B5EF4-FFF2-40B4-BE49-F238E27FC236}">
                <a16:creationId xmlns:a16="http://schemas.microsoft.com/office/drawing/2014/main" id="{E378E43B-88B9-9F41-B5FA-7965A720F3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7319" name="Rectangle 7">
            <a:extLst>
              <a:ext uri="{FF2B5EF4-FFF2-40B4-BE49-F238E27FC236}">
                <a16:creationId xmlns:a16="http://schemas.microsoft.com/office/drawing/2014/main" id="{F06C82A3-54AC-CF4C-B2F3-23A3CF35D7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7320" name="Rectangle 8">
            <a:extLst>
              <a:ext uri="{FF2B5EF4-FFF2-40B4-BE49-F238E27FC236}">
                <a16:creationId xmlns:a16="http://schemas.microsoft.com/office/drawing/2014/main" id="{88FE5350-A119-7541-948F-65AE6C77C8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7321" name="Rectangle 9">
            <a:extLst>
              <a:ext uri="{FF2B5EF4-FFF2-40B4-BE49-F238E27FC236}">
                <a16:creationId xmlns:a16="http://schemas.microsoft.com/office/drawing/2014/main" id="{41D9E065-4435-7E4E-A912-598C2EAC79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pic>
        <p:nvPicPr>
          <p:cNvPr id="397322" name="Picture 10">
            <a:extLst>
              <a:ext uri="{FF2B5EF4-FFF2-40B4-BE49-F238E27FC236}">
                <a16:creationId xmlns:a16="http://schemas.microsoft.com/office/drawing/2014/main" id="{670BF944-94F9-2E4D-A097-914E8DB84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78188"/>
            <a:ext cx="8235950" cy="121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Text Box 2">
            <a:extLst>
              <a:ext uri="{FF2B5EF4-FFF2-40B4-BE49-F238E27FC236}">
                <a16:creationId xmlns:a16="http://schemas.microsoft.com/office/drawing/2014/main" id="{6C28501D-9EAF-1347-96A7-2F5B36F85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dirty="0">
                <a:solidFill>
                  <a:schemeClr val="accent2"/>
                </a:solidFill>
                <a:latin typeface="Times New Roman" charset="0"/>
              </a:rPr>
              <a:t>    </a:t>
            </a:r>
            <a:r>
              <a:rPr lang="en-US" altLang="en-US" dirty="0">
                <a:latin typeface="Times New Roman" charset="0"/>
              </a:rPr>
              <a:t>HDLC frame</a:t>
            </a:r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D7EF0C6D-53CE-4D4C-AB7C-C93E4A78AF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8340" name="Rectangle 4">
            <a:extLst>
              <a:ext uri="{FF2B5EF4-FFF2-40B4-BE49-F238E27FC236}">
                <a16:creationId xmlns:a16="http://schemas.microsoft.com/office/drawing/2014/main" id="{77BA5F41-DC7C-2B4F-AF49-5A64328694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8341" name="Rectangle 5">
            <a:extLst>
              <a:ext uri="{FF2B5EF4-FFF2-40B4-BE49-F238E27FC236}">
                <a16:creationId xmlns:a16="http://schemas.microsoft.com/office/drawing/2014/main" id="{4D1DD16A-5C75-8844-82FB-69167E8ADE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8342" name="Rectangle 6">
            <a:extLst>
              <a:ext uri="{FF2B5EF4-FFF2-40B4-BE49-F238E27FC236}">
                <a16:creationId xmlns:a16="http://schemas.microsoft.com/office/drawing/2014/main" id="{8AE456E6-63BC-544E-BCE2-F81FC585B4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8343" name="Rectangle 7">
            <a:extLst>
              <a:ext uri="{FF2B5EF4-FFF2-40B4-BE49-F238E27FC236}">
                <a16:creationId xmlns:a16="http://schemas.microsoft.com/office/drawing/2014/main" id="{759DAF0D-B078-8043-AC02-69B7472730D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8344" name="Rectangle 8">
            <a:extLst>
              <a:ext uri="{FF2B5EF4-FFF2-40B4-BE49-F238E27FC236}">
                <a16:creationId xmlns:a16="http://schemas.microsoft.com/office/drawing/2014/main" id="{FA022280-CE36-354F-BFFB-5B527BC9F2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8345" name="Rectangle 9">
            <a:extLst>
              <a:ext uri="{FF2B5EF4-FFF2-40B4-BE49-F238E27FC236}">
                <a16:creationId xmlns:a16="http://schemas.microsoft.com/office/drawing/2014/main" id="{D82ABA9E-2483-A74D-974B-9900B098B2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pic>
        <p:nvPicPr>
          <p:cNvPr id="398346" name="Picture 10">
            <a:extLst>
              <a:ext uri="{FF2B5EF4-FFF2-40B4-BE49-F238E27FC236}">
                <a16:creationId xmlns:a16="http://schemas.microsoft.com/office/drawing/2014/main" id="{DAC3E952-0F07-FE4E-8A1A-BC02E4816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324100"/>
            <a:ext cx="7304088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Text Box 2">
            <a:extLst>
              <a:ext uri="{FF2B5EF4-FFF2-40B4-BE49-F238E27FC236}">
                <a16:creationId xmlns:a16="http://schemas.microsoft.com/office/drawing/2014/main" id="{CFA098BE-C0B3-B342-9C9D-E7E800B29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srgbClr val="0000FF"/>
                </a:solidFill>
                <a:latin typeface="Times New Roman" charset="0"/>
              </a:rPr>
              <a:t>11.18</a:t>
            </a:r>
            <a:r>
              <a:rPr lang="en-US" altLang="en-US">
                <a:solidFill>
                  <a:schemeClr val="accent2"/>
                </a:solidFill>
                <a:latin typeface="Times New Roman" charset="0"/>
              </a:rPr>
              <a:t>    </a:t>
            </a:r>
            <a:r>
              <a:rPr lang="en-US" altLang="en-US">
                <a:latin typeface="Times New Roman" charset="0"/>
              </a:rPr>
              <a:t>HDLC frame types</a:t>
            </a:r>
          </a:p>
        </p:txBody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3D8EAFE6-0F5F-D540-B575-4E880D91B21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9364" name="Rectangle 4">
            <a:extLst>
              <a:ext uri="{FF2B5EF4-FFF2-40B4-BE49-F238E27FC236}">
                <a16:creationId xmlns:a16="http://schemas.microsoft.com/office/drawing/2014/main" id="{3E130398-E73A-EB4E-8670-F175AE31253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9365" name="Rectangle 5">
            <a:extLst>
              <a:ext uri="{FF2B5EF4-FFF2-40B4-BE49-F238E27FC236}">
                <a16:creationId xmlns:a16="http://schemas.microsoft.com/office/drawing/2014/main" id="{103F9A2A-414F-F741-99B0-2C3AEC543C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9366" name="Rectangle 6">
            <a:extLst>
              <a:ext uri="{FF2B5EF4-FFF2-40B4-BE49-F238E27FC236}">
                <a16:creationId xmlns:a16="http://schemas.microsoft.com/office/drawing/2014/main" id="{B9F67C4B-EBE5-F044-A7D8-0E76EF50CB9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9367" name="Rectangle 7">
            <a:extLst>
              <a:ext uri="{FF2B5EF4-FFF2-40B4-BE49-F238E27FC236}">
                <a16:creationId xmlns:a16="http://schemas.microsoft.com/office/drawing/2014/main" id="{8C120E1E-60D2-0647-8084-C581FD297D9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9368" name="Rectangle 8">
            <a:extLst>
              <a:ext uri="{FF2B5EF4-FFF2-40B4-BE49-F238E27FC236}">
                <a16:creationId xmlns:a16="http://schemas.microsoft.com/office/drawing/2014/main" id="{40564CE5-0201-2F43-96CC-133BA0359D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399369" name="Rectangle 9">
            <a:extLst>
              <a:ext uri="{FF2B5EF4-FFF2-40B4-BE49-F238E27FC236}">
                <a16:creationId xmlns:a16="http://schemas.microsoft.com/office/drawing/2014/main" id="{78788CF3-E705-C445-924F-1A28FD4041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pic>
        <p:nvPicPr>
          <p:cNvPr id="399370" name="Picture 10">
            <a:extLst>
              <a:ext uri="{FF2B5EF4-FFF2-40B4-BE49-F238E27FC236}">
                <a16:creationId xmlns:a16="http://schemas.microsoft.com/office/drawing/2014/main" id="{C318E469-A8F8-8E4B-BBFB-F396BB655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76438"/>
            <a:ext cx="8255000" cy="328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Text Box 2">
            <a:extLst>
              <a:ext uri="{FF2B5EF4-FFF2-40B4-BE49-F238E27FC236}">
                <a16:creationId xmlns:a16="http://schemas.microsoft.com/office/drawing/2014/main" id="{64DF4C4F-0998-B648-A5EC-0756E181F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srgbClr val="0000FF"/>
                </a:solidFill>
                <a:latin typeface="Times New Roman" charset="0"/>
              </a:rPr>
              <a:t>11.21</a:t>
            </a:r>
            <a:r>
              <a:rPr lang="en-US" altLang="en-US">
                <a:solidFill>
                  <a:schemeClr val="accent2"/>
                </a:solidFill>
                <a:latin typeface="Times New Roman" charset="0"/>
              </a:rPr>
              <a:t>    </a:t>
            </a:r>
            <a:r>
              <a:rPr lang="en-US" altLang="en-US">
                <a:latin typeface="Times New Roman" charset="0"/>
              </a:rPr>
              <a:t>U-frame control field in HDLC</a:t>
            </a: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37E88B13-9BBE-A94E-8067-B122D632EB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2436" name="Rectangle 4">
            <a:extLst>
              <a:ext uri="{FF2B5EF4-FFF2-40B4-BE49-F238E27FC236}">
                <a16:creationId xmlns:a16="http://schemas.microsoft.com/office/drawing/2014/main" id="{318A12AB-7B48-B04A-88A2-DB57CD7C70A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2437" name="Rectangle 5">
            <a:extLst>
              <a:ext uri="{FF2B5EF4-FFF2-40B4-BE49-F238E27FC236}">
                <a16:creationId xmlns:a16="http://schemas.microsoft.com/office/drawing/2014/main" id="{ABD34866-A454-E74D-A44E-50AF0FC24A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2438" name="Rectangle 6">
            <a:extLst>
              <a:ext uri="{FF2B5EF4-FFF2-40B4-BE49-F238E27FC236}">
                <a16:creationId xmlns:a16="http://schemas.microsoft.com/office/drawing/2014/main" id="{55C787BC-6064-8048-92FB-2B132DBB5F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2439" name="Rectangle 7">
            <a:extLst>
              <a:ext uri="{FF2B5EF4-FFF2-40B4-BE49-F238E27FC236}">
                <a16:creationId xmlns:a16="http://schemas.microsoft.com/office/drawing/2014/main" id="{BF99A408-B04B-594E-9D00-04284F0507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2440" name="Rectangle 8">
            <a:extLst>
              <a:ext uri="{FF2B5EF4-FFF2-40B4-BE49-F238E27FC236}">
                <a16:creationId xmlns:a16="http://schemas.microsoft.com/office/drawing/2014/main" id="{3F93BBE5-CA5F-D140-91CB-91CFDDB267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2441" name="Rectangle 9">
            <a:extLst>
              <a:ext uri="{FF2B5EF4-FFF2-40B4-BE49-F238E27FC236}">
                <a16:creationId xmlns:a16="http://schemas.microsoft.com/office/drawing/2014/main" id="{C9363F41-06C9-4F40-B0D3-BE90D9AA79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pic>
        <p:nvPicPr>
          <p:cNvPr id="402442" name="Picture 10">
            <a:extLst>
              <a:ext uri="{FF2B5EF4-FFF2-40B4-BE49-F238E27FC236}">
                <a16:creationId xmlns:a16="http://schemas.microsoft.com/office/drawing/2014/main" id="{F53834E0-B139-4F44-AF1F-9788B8DEC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19200"/>
            <a:ext cx="6846888" cy="517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Text Box 2">
            <a:extLst>
              <a:ext uri="{FF2B5EF4-FFF2-40B4-BE49-F238E27FC236}">
                <a16:creationId xmlns:a16="http://schemas.microsoft.com/office/drawing/2014/main" id="{9A09B0B0-A206-E049-B3B7-D927B4D39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381000"/>
            <a:ext cx="673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i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Table 11.1  U-frame control command and response</a:t>
            </a:r>
          </a:p>
        </p:txBody>
      </p:sp>
      <p:graphicFrame>
        <p:nvGraphicFramePr>
          <p:cNvPr id="408863" name="Group 287">
            <a:extLst>
              <a:ext uri="{FF2B5EF4-FFF2-40B4-BE49-F238E27FC236}">
                <a16:creationId xmlns:a16="http://schemas.microsoft.com/office/drawing/2014/main" id="{B5039D03-0502-C042-B944-0C40BF677532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858838"/>
          <a:ext cx="6934200" cy="5394325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Command/response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Meaning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SNRM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Set normal response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SNRME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Set normal response mode (extended)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SABM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Set asynchronous balanced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SABME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Set asynchronous balanced mode (extended)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Unnumbered poll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UI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Unnumbered information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UA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Unnumbered acknowledgment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RD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Request disconnect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DISC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Disconnect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DM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Disconnect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RIM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Request information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SIM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Set initialization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RSET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Reset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XID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Exchange 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charset="0"/>
                        </a:rPr>
                        <a:t>FRMR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Frame reject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Text Box 2">
            <a:extLst>
              <a:ext uri="{FF2B5EF4-FFF2-40B4-BE49-F238E27FC236}">
                <a16:creationId xmlns:a16="http://schemas.microsoft.com/office/drawing/2014/main" id="{C974AE48-7CE7-3846-9A12-5F03D397F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srgbClr val="0000FF"/>
                </a:solidFill>
                <a:latin typeface="Times New Roman" charset="0"/>
              </a:rPr>
              <a:t>11.25</a:t>
            </a:r>
            <a:r>
              <a:rPr lang="en-US" altLang="en-US">
                <a:solidFill>
                  <a:schemeClr val="accent2"/>
                </a:solidFill>
                <a:latin typeface="Times New Roman" charset="0"/>
              </a:rPr>
              <a:t>    </a:t>
            </a:r>
            <a:r>
              <a:rPr lang="en-US" altLang="en-US">
                <a:latin typeface="Times New Roman" charset="0"/>
              </a:rPr>
              <a:t>Bit stuffing in HDLC</a:t>
            </a:r>
          </a:p>
        </p:txBody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66758991-B076-9046-A4CB-394E8DF0785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6532" name="Rectangle 4">
            <a:extLst>
              <a:ext uri="{FF2B5EF4-FFF2-40B4-BE49-F238E27FC236}">
                <a16:creationId xmlns:a16="http://schemas.microsoft.com/office/drawing/2014/main" id="{86695F2E-91E0-8344-BD5A-FD3E8D05FE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6533" name="Rectangle 5">
            <a:extLst>
              <a:ext uri="{FF2B5EF4-FFF2-40B4-BE49-F238E27FC236}">
                <a16:creationId xmlns:a16="http://schemas.microsoft.com/office/drawing/2014/main" id="{DAFFF5EA-5C3C-714E-8D59-21F9389D6C5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6534" name="Rectangle 6">
            <a:extLst>
              <a:ext uri="{FF2B5EF4-FFF2-40B4-BE49-F238E27FC236}">
                <a16:creationId xmlns:a16="http://schemas.microsoft.com/office/drawing/2014/main" id="{BF7AD107-343E-9642-BC3A-6DF4A2662C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6535" name="Rectangle 7">
            <a:extLst>
              <a:ext uri="{FF2B5EF4-FFF2-40B4-BE49-F238E27FC236}">
                <a16:creationId xmlns:a16="http://schemas.microsoft.com/office/drawing/2014/main" id="{7DC3819F-FE65-C34C-8321-406985F603E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6536" name="Rectangle 8">
            <a:extLst>
              <a:ext uri="{FF2B5EF4-FFF2-40B4-BE49-F238E27FC236}">
                <a16:creationId xmlns:a16="http://schemas.microsoft.com/office/drawing/2014/main" id="{F0AA09D3-94C7-7D4D-8723-61F688A4A59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6537" name="Rectangle 9">
            <a:extLst>
              <a:ext uri="{FF2B5EF4-FFF2-40B4-BE49-F238E27FC236}">
                <a16:creationId xmlns:a16="http://schemas.microsoft.com/office/drawing/2014/main" id="{A3BD147C-93F2-094E-8597-17D60412F82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pic>
        <p:nvPicPr>
          <p:cNvPr id="406538" name="Picture 10">
            <a:extLst>
              <a:ext uri="{FF2B5EF4-FFF2-40B4-BE49-F238E27FC236}">
                <a16:creationId xmlns:a16="http://schemas.microsoft.com/office/drawing/2014/main" id="{35F200E7-9D12-4F06-B1C3-A50DB88FD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975" y="838200"/>
            <a:ext cx="6956425" cy="562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Text Box 2">
            <a:extLst>
              <a:ext uri="{FF2B5EF4-FFF2-40B4-BE49-F238E27FC236}">
                <a16:creationId xmlns:a16="http://schemas.microsoft.com/office/drawing/2014/main" id="{4E4CC75D-83E7-D244-A6D8-EC1F5752D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srgbClr val="0000FF"/>
                </a:solidFill>
                <a:latin typeface="Times New Roman" charset="0"/>
              </a:rPr>
              <a:t>11.19</a:t>
            </a:r>
            <a:r>
              <a:rPr lang="en-US" altLang="en-US">
                <a:solidFill>
                  <a:schemeClr val="accent2"/>
                </a:solidFill>
                <a:latin typeface="Times New Roman" charset="0"/>
              </a:rPr>
              <a:t>    </a:t>
            </a:r>
            <a:r>
              <a:rPr lang="en-US" altLang="en-US">
                <a:latin typeface="Times New Roman" charset="0"/>
              </a:rPr>
              <a:t>I-frame</a:t>
            </a:r>
          </a:p>
        </p:txBody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A0A10057-3804-664D-B988-4F15ADEB38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0388" name="Rectangle 4">
            <a:extLst>
              <a:ext uri="{FF2B5EF4-FFF2-40B4-BE49-F238E27FC236}">
                <a16:creationId xmlns:a16="http://schemas.microsoft.com/office/drawing/2014/main" id="{36D92445-4996-C349-B727-6EF9F7C8C4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0389" name="Rectangle 5">
            <a:extLst>
              <a:ext uri="{FF2B5EF4-FFF2-40B4-BE49-F238E27FC236}">
                <a16:creationId xmlns:a16="http://schemas.microsoft.com/office/drawing/2014/main" id="{DE27AF8B-50DC-3041-B01F-AA6FBE3871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0390" name="Rectangle 6">
            <a:extLst>
              <a:ext uri="{FF2B5EF4-FFF2-40B4-BE49-F238E27FC236}">
                <a16:creationId xmlns:a16="http://schemas.microsoft.com/office/drawing/2014/main" id="{A468F3EC-4EC7-6D40-ABBA-77AAA197B3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0391" name="Rectangle 7">
            <a:extLst>
              <a:ext uri="{FF2B5EF4-FFF2-40B4-BE49-F238E27FC236}">
                <a16:creationId xmlns:a16="http://schemas.microsoft.com/office/drawing/2014/main" id="{B289559F-B392-DE48-AC51-DF0237C7601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0392" name="Rectangle 8">
            <a:extLst>
              <a:ext uri="{FF2B5EF4-FFF2-40B4-BE49-F238E27FC236}">
                <a16:creationId xmlns:a16="http://schemas.microsoft.com/office/drawing/2014/main" id="{681CD16E-44D9-834B-8DC2-4886C0A2EAD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0393" name="Rectangle 9">
            <a:extLst>
              <a:ext uri="{FF2B5EF4-FFF2-40B4-BE49-F238E27FC236}">
                <a16:creationId xmlns:a16="http://schemas.microsoft.com/office/drawing/2014/main" id="{8886C6FE-6E13-624C-A47F-AB61E37B1CB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pic>
        <p:nvPicPr>
          <p:cNvPr id="400394" name="Picture 10">
            <a:extLst>
              <a:ext uri="{FF2B5EF4-FFF2-40B4-BE49-F238E27FC236}">
                <a16:creationId xmlns:a16="http://schemas.microsoft.com/office/drawing/2014/main" id="{4F0AA3E1-B5CB-BE47-883C-EB059DA9D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3" y="2827338"/>
            <a:ext cx="7304087" cy="166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Text Box 2">
            <a:extLst>
              <a:ext uri="{FF2B5EF4-FFF2-40B4-BE49-F238E27FC236}">
                <a16:creationId xmlns:a16="http://schemas.microsoft.com/office/drawing/2014/main" id="{FF0AA939-7E94-C845-BAB3-90D44A4E7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srgbClr val="0000FF"/>
                </a:solidFill>
                <a:latin typeface="Times New Roman" charset="0"/>
              </a:rPr>
              <a:t>11.20</a:t>
            </a:r>
            <a:r>
              <a:rPr lang="en-US" altLang="en-US">
                <a:solidFill>
                  <a:schemeClr val="accent2"/>
                </a:solidFill>
                <a:latin typeface="Times New Roman" charset="0"/>
              </a:rPr>
              <a:t>    </a:t>
            </a:r>
            <a:r>
              <a:rPr lang="en-US" altLang="en-US">
                <a:latin typeface="Times New Roman" charset="0"/>
              </a:rPr>
              <a:t>S-frame control field in HDLC</a:t>
            </a:r>
          </a:p>
        </p:txBody>
      </p:sp>
      <p:sp>
        <p:nvSpPr>
          <p:cNvPr id="401411" name="Rectangle 3">
            <a:extLst>
              <a:ext uri="{FF2B5EF4-FFF2-40B4-BE49-F238E27FC236}">
                <a16:creationId xmlns:a16="http://schemas.microsoft.com/office/drawing/2014/main" id="{A457953C-2267-3A43-BDCD-D8EF97B455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1412" name="Rectangle 4">
            <a:extLst>
              <a:ext uri="{FF2B5EF4-FFF2-40B4-BE49-F238E27FC236}">
                <a16:creationId xmlns:a16="http://schemas.microsoft.com/office/drawing/2014/main" id="{1A7BDAD8-9055-3741-8C9A-0A79123B28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1413" name="Rectangle 5">
            <a:extLst>
              <a:ext uri="{FF2B5EF4-FFF2-40B4-BE49-F238E27FC236}">
                <a16:creationId xmlns:a16="http://schemas.microsoft.com/office/drawing/2014/main" id="{E56F5508-C6BD-154C-ABC6-C4799F72DCF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1414" name="Rectangle 6">
            <a:extLst>
              <a:ext uri="{FF2B5EF4-FFF2-40B4-BE49-F238E27FC236}">
                <a16:creationId xmlns:a16="http://schemas.microsoft.com/office/drawing/2014/main" id="{75BFD4AC-924A-604F-B4EB-0DCB4039679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1415" name="Rectangle 7">
            <a:extLst>
              <a:ext uri="{FF2B5EF4-FFF2-40B4-BE49-F238E27FC236}">
                <a16:creationId xmlns:a16="http://schemas.microsoft.com/office/drawing/2014/main" id="{DED8DF36-E09E-4F4B-9692-17C2278C5D2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1416" name="Rectangle 8">
            <a:extLst>
              <a:ext uri="{FF2B5EF4-FFF2-40B4-BE49-F238E27FC236}">
                <a16:creationId xmlns:a16="http://schemas.microsoft.com/office/drawing/2014/main" id="{8A684407-2D5F-E840-898C-71DC33475F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sp>
        <p:nvSpPr>
          <p:cNvPr id="401417" name="Rectangle 9">
            <a:extLst>
              <a:ext uri="{FF2B5EF4-FFF2-40B4-BE49-F238E27FC236}">
                <a16:creationId xmlns:a16="http://schemas.microsoft.com/office/drawing/2014/main" id="{6C04CBCA-BECF-4046-AD43-C6A3E8116A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altLang="en-US">
              <a:latin typeface="Times New Roman" charset="0"/>
            </a:endParaRPr>
          </a:p>
        </p:txBody>
      </p:sp>
      <p:pic>
        <p:nvPicPr>
          <p:cNvPr id="401418" name="Picture 10">
            <a:extLst>
              <a:ext uri="{FF2B5EF4-FFF2-40B4-BE49-F238E27FC236}">
                <a16:creationId xmlns:a16="http://schemas.microsoft.com/office/drawing/2014/main" id="{9F009B34-B29A-CA4F-AF77-F21653E50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2390775"/>
            <a:ext cx="6164263" cy="207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52D48E5A-3014-E60A-1F88-0F7630786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HDLC Operation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C852D20A-B184-3F98-E911-B9A6543A8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Exchange of information, supervisory and unnumbered frames</a:t>
            </a:r>
          </a:p>
          <a:p>
            <a:endParaRPr lang="en-US" altLang="en-US"/>
          </a:p>
          <a:p>
            <a:r>
              <a:rPr lang="en-US" altLang="en-US"/>
              <a:t>Three phases</a:t>
            </a:r>
          </a:p>
          <a:p>
            <a:pPr lvl="1"/>
            <a:r>
              <a:rPr lang="en-US" altLang="en-US"/>
              <a:t>Initialization</a:t>
            </a:r>
          </a:p>
          <a:p>
            <a:pPr lvl="1"/>
            <a:r>
              <a:rPr lang="en-US" altLang="en-US"/>
              <a:t>Data transfer</a:t>
            </a:r>
          </a:p>
          <a:p>
            <a:pPr lvl="1"/>
            <a:r>
              <a:rPr lang="en-US" altLang="en-US"/>
              <a:t>Disconnect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llings">
  <a:themeElements>
    <a:clrScheme name="Stallings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Stallings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Stallings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llings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llings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Settings\pullina\Application Data\Microsoft\Templates\Stallings.pot</Template>
  <TotalTime>4792</TotalTime>
  <Words>1604</Words>
  <Application>Microsoft Office PowerPoint</Application>
  <PresentationFormat>On-screen Show (4:3)</PresentationFormat>
  <Paragraphs>365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Times New Roman</vt:lpstr>
      <vt:lpstr>Arial</vt:lpstr>
      <vt:lpstr>Arial Black</vt:lpstr>
      <vt:lpstr>Tahoma</vt:lpstr>
      <vt:lpstr>MS PGothic</vt:lpstr>
      <vt:lpstr>Wingdings</vt:lpstr>
      <vt:lpstr>Stallings</vt:lpstr>
      <vt:lpstr>Data Link Control Protocols </vt:lpstr>
      <vt:lpstr>Functions of Data Link Layer Protocols</vt:lpstr>
      <vt:lpstr>Media Access Control</vt:lpstr>
      <vt:lpstr>Transmission Error Control</vt:lpstr>
      <vt:lpstr>Error Control in Networks</vt:lpstr>
      <vt:lpstr>What are Network Errors?</vt:lpstr>
      <vt:lpstr>Network Error</vt:lpstr>
      <vt:lpstr>Error Detection </vt:lpstr>
      <vt:lpstr>Error Detection</vt:lpstr>
      <vt:lpstr>PowerPoint Presentation</vt:lpstr>
      <vt:lpstr>Flow Control</vt:lpstr>
      <vt:lpstr>Model of Frame Transmission</vt:lpstr>
      <vt:lpstr>Stop and Wait</vt:lpstr>
      <vt:lpstr>Fragmentation</vt:lpstr>
      <vt:lpstr>Sliding Windows Flow Control</vt:lpstr>
      <vt:lpstr>Sliding Window Diagram</vt:lpstr>
      <vt:lpstr>Sliding Window Enhancements</vt:lpstr>
      <vt:lpstr>Error Correction</vt:lpstr>
      <vt:lpstr>Automatic Repeat Request (ARQ)</vt:lpstr>
      <vt:lpstr>Stop and Wait (ARQ)</vt:lpstr>
      <vt:lpstr>PowerPoint Presentation</vt:lpstr>
      <vt:lpstr>Stop and Wait - Pros and Cons</vt:lpstr>
      <vt:lpstr>Go Back N</vt:lpstr>
      <vt:lpstr>Go Back N - Damaged Frame</vt:lpstr>
      <vt:lpstr>Go Back N - Lost Frame (1)</vt:lpstr>
      <vt:lpstr>Go Back N - Lost Frame (2)</vt:lpstr>
      <vt:lpstr>Go Back N - Damaged Acknowledgement</vt:lpstr>
      <vt:lpstr>Go Back N -  Diagram</vt:lpstr>
      <vt:lpstr>Selective Reject</vt:lpstr>
      <vt:lpstr>Selective Reject - Diagram</vt:lpstr>
      <vt:lpstr>High-Level Data Link Control (HDLC)</vt:lpstr>
      <vt:lpstr>HDLC Overview</vt:lpstr>
      <vt:lpstr>HDLC Overview</vt:lpstr>
      <vt:lpstr>HDLC Station Types</vt:lpstr>
      <vt:lpstr>HDLC Link Configurations</vt:lpstr>
      <vt:lpstr>HDLC</vt:lpstr>
      <vt:lpstr>HDLC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HDLC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Link Control Protocols</dc:title>
  <dc:creator>Microsoft Office User</dc:creator>
  <cp:lastModifiedBy>Saqib Bedar</cp:lastModifiedBy>
  <cp:revision>12</cp:revision>
  <dcterms:created xsi:type="dcterms:W3CDTF">2018-04-19T10:48:12Z</dcterms:created>
  <dcterms:modified xsi:type="dcterms:W3CDTF">2026-04-28T06:08:35Z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a.j.pullin@newi.ac.uk</vt:lpwstr>
  </property>
  <property fmtid="{D5CDD505-2E9C-101B-9397-08002B2CF9AE}" pid="8" name="HomePage">
    <vt:lpwstr>http://www.newi.ac.uk/pullina/default.htm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H:\Data\Networks\Notes\HTML</vt:lpwstr>
  </property>
</Properties>
</file>